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Intro" id="{200d1b99-d9f2-0702-94e1-c257bde67af5}">
          <p14:sldIdLst>
            <p14:sldId id="256"/>
            <p14:sldId id="257"/>
            <p14:sldId id="258"/>
          </p14:sldIdLst>
        </p14:section>
        <p14:section name="Junk Food" id="{fd2d940f-a89d-6571-514f-63dfcbca7236}">
          <p14:sldIdLst>
            <p14:sldId id="259"/>
            <p14:sldId id="260"/>
            <p14:sldId id="261"/>
          </p14:sldIdLst>
        </p14:section>
        <p14:section name="Build" id="{c896d122-3a2f-9263-28a7-413c335b514b}">
          <p14:sldIdLst>
            <p14:sldId id="262"/>
            <p14:sldId id="263"/>
            <p14:sldId id="264"/>
            <p14:sldId id="265"/>
          </p14:sldIdLst>
        </p14:section>
        <p14:section name="Results" id="{d9f02851-aea0-77e9-f738-03a1f16fb73c}">
          <p14:sldIdLst>
            <p14:sldId id="266"/>
            <p14:sldId id="267"/>
            <p14:sldId id="268"/>
          </p14:sldIdLst>
        </p14:section>
        <p14:section name="End" id="{13dffb81-ea03-241d-6851-2c696b5b8fe9}">
          <p14:sldIdLst>
            <p14:sldId id="269"/>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9" d="100"/>
          <a:sy n="99" d="100"/>
        </p:scale>
        <p:origin x="-316" y="-64"/>
      </p:cViewPr>
      <p:guideLst>
        <p:guide orient="horz" pos="162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Namaste! Main Abhay Singh, aur mera project hai Indian Street Food Body Damage Predictor. Ye ek simple Machine Learning project hai jo Linear Regression use karta hai. Ye sirf education aur health awareness ke liye hai.</a:t>
            </a:r>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ye hai ki log roz street food khate hain, par unhe pata nahi hota ki lambe time me body ko kitna nuksan hota hai. Aisa koi simple tool nahi hai jo samosa, momo, pani puri ka yearly impact bataye. Isliye ek easy aur explainable ML model chahiye.</a:t>
            </a:r>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batata hai ki last 30 din me usne har food kitni baar khaya. Model Linear Regression ke coefficients se damage calculate karta hai. Output me Annual Damage percent, Risk Level aur sabse bada culprit food dikhta hai.</a:t>
            </a:r>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Junk food ya street food ek baar khane se kuch nahi hota, par roz khane se body pe asar padta hai. Heart: zyada tel aur trans fat se bad cholesterol badhta hai. Weight: calories zyada, fibre kam. Sugar: maida aur meetha blood sugar tezi se badhate hain. BP: zyada namak se blood pressure badhta hai. Isi roz ki aadat ko hamara model measure karta hai.</a:t>
            </a:r>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 dekhte hain ki khane ke andar kya kharab hota hai. Pehla maida: fibre nikal diya jata hai, isliye blood sugar jaldi badhta hai. Dusra baar baar garam kiya hua tel, isse trans fat bante hain jo dil ke liye kharab hain. Teesra zyada namak, jo BP badhata hai. Chautha meethi chutney aur sauces, jo khali calories hain. Ye cheezein samosa, momo, chowmein me aam hain.</a:t>
            </a:r>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Do-char examples lete hain. Samosa: maida ka cover, aloo ki filling, aur deep fry hota hai, isliye tel aur trans fat zyada. Momo: maida ka wrapper aur namkeen teekhi chutney. Chowmein: refined noodles, bahut tel aur sauces ka namak. Pani puri: fried puri aur meethi chutney, upar se ganda paani infection kar sakta hai. Coefficient jitna bada, model ke hisaab se utna zyada damage. Samosa sabse upar, pani puri sabse neeche.</a:t>
            </a:r>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main language hai. Pandas aur NumPy data handle karne ke liye. Scikit-learn se Linear Regression model banaya. Streamlit se interactive web app. Training ke liye 50,000 samples ka dataset.</a:t>
            </a:r>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3 phases me hai. Phase 1 Data Prep: dataset banana, saaf karna, duplicates check. Phase 2 Training: features aur target define, 80/20 split, model fit, coefficients aur R-squared. Phase 3: Streamlit app jisme sliders, calculate button aur results hain.</a:t>
            </a:r>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yaani inputs: 10 street foods. Har value batati hai ki last 30 din me kitni baar khaya (0 se 30). Target hai Annual Body Damage Percentage, 0 se 100. Jitna zyada, utna zyada damage.</a:t>
            </a:r>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ka formula: Damage percent = Intercept + har food ka coefficient guna kitni baar khaya. Coefficient jitna bada, food utna zyada harmful. Samosa 0.755 sabse upar, phir Momo 0.736 aur Chowmein 0.694. Pani Puri 0.475 ke saath sabse kam hai.</a:t>
            </a:r>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kitna accha hai ye check karne ke liye 4 metrics use hote hain. MAE: actual aur predicted damage me average kitna fark hai, jitna kam utna accha. MSE: har error ka square karke average, isse bade errors ko zyada saza milti hai. RMSE: MSE ka square root, taaki wapas damage percent ki unit me aa jaye. R-squared: model kitna damage percent explain karta hai, 1 ke jitna paas utna accha. Ye sab test data par nikaale jate hain, jo model ne training me dekha nahi.</a:t>
            </a:r>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R-squared 0.96 hai, matlab model 96 percent variance explain karta hai. MAE lagbhag 1.6, yaani average error kam hai. 50,000 samples par train hua. Linear Regression isliye kyunki damage percent continuous value hai aur model explainable hai.</a:t>
            </a:r>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 ka flow 4 steps me hai. Streamlit app browser me khulti hai. Har food ke liye slider se last 30 din ki frequency set karte hain. Calculate dabate hain, aur Damage percent, Risk Level, contribution bars aur tip dikhti hai.</a:t>
            </a:r>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Itna hi tha mera project. Dhanyavaad! Ab aap koi bhi sawaal pooch sakte hain.</a:t>
            </a:r>
          </a:p>
        </p:txBody>
      </p:sp>
      <p:sp>
        <p:nvSpPr>
          <p:cNvPr id="4" name="Slide Number Placeholder 3"/>
          <p:cNvSpPr>
            <a:spLocks noGrp="1"/>
          </p:cNvSpPr>
          <p:nvPr>
            <p:ph type="sldNum" sz="quarter" idx="10"/>
          </p:nvPr>
        </p:nvSpPr>
        <p:spPr/>
        <p:txBody>
          <a:bodyPr/>
          <a:lstStyle/>
          <a:p>
            <a:fld id="{F7021451-1387-4CA6-816F-3879F97B5CBC}" type="slidenum">
              <a:rPr lang="en-US"/>
              <a:pPr/>
              <a:t>14</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spd="med">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B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spd="med">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65760" y="201168"/>
            <a:ext cx="8412480" cy="548640"/>
          </a:xfrm>
          <a:prstGeom prst="rect">
            <a:avLst/>
          </a:prstGeom>
          <a:noFill/>
          <a:ln/>
        </p:spPr>
        <p:txBody>
          <a:bodyPr wrap="square" rtlCol="0"/>
          <a:lstStyle>
            <a:lvl1pPr marL="0" indent="0" algn="l">
              <a:buNone/>
              <a:defRPr lang="en-US" sz="2400" b="1" dirty="0">
                <a:solidFill>
                  <a:srgbClr val="1E3A6B"/>
                </a:solidFill>
                <a:latin typeface="Calibri" pitchFamily="34" charset="0"/>
                <a:ea typeface="Calibri" pitchFamily="34" charset="-122"/>
                <a:cs typeface="Calibri" pitchFamily="34" charset="-120"/>
              </a:defRPr>
            </a:lvl1pPr>
          </a:lstStyle>
          <a:p>
            <a:pPr marL="0" indent="0" algn="l">
              <a:buNone/>
            </a:pPr>
            <a:endParaRPr lang="en-US" sz="2400" dirty="0"/>
          </a:p>
        </p:txBody>
      </p:sp>
      <p:sp>
        <p:nvSpPr>
          <p:cNvPr id="3" name="Shape 0"/>
          <p:cNvSpPr/>
          <p:nvPr/>
        </p:nvSpPr>
        <p:spPr>
          <a:xfrm>
            <a:off x="365760" y="786384"/>
            <a:ext cx="731520" cy="45720"/>
          </a:xfrm>
          <a:prstGeom prst="rect">
            <a:avLst/>
          </a:prstGeom>
          <a:solidFill>
            <a:srgbClr val="2762A8"/>
          </a:solidFill>
          <a:ln w="12700">
            <a:solidFill>
              <a:srgbClr val="2762A8"/>
            </a:solidFill>
            <a:prstDash val="solid"/>
          </a:ln>
        </p:spPr>
      </p:sp>
      <p:sp>
        <p:nvSpPr>
          <p:cNvPr id="4" name="Text 1"/>
          <p:cNvSpPr/>
          <p:nvPr/>
        </p:nvSpPr>
        <p:spPr>
          <a:xfrm>
            <a:off x="365760" y="4846320"/>
            <a:ext cx="5486400" cy="201168"/>
          </a:xfrm>
          <a:prstGeom prst="rect">
            <a:avLst/>
          </a:prstGeom>
          <a:noFill/>
          <a:ln/>
        </p:spPr>
        <p:txBody>
          <a:bodyPr wrap="square" lIns="0" tIns="0" rIns="0" bIns="0" rtlCol="0" anchor="ctr"/>
          <a:lstStyle/>
          <a:p>
            <a:pPr marL="0" indent="0">
              <a:buNone/>
            </a:pPr>
            <a:r>
              <a:rPr lang="en-US" sz="800" dirty="0">
                <a:solidFill>
                  <a:srgbClr val="46587D"/>
                </a:solidFill>
                <a:latin typeface="Calibri" pitchFamily="34" charset="0"/>
                <a:ea typeface="Calibri" pitchFamily="34" charset="-122"/>
                <a:cs typeface="Calibri" pitchFamily="34" charset="-120"/>
              </a:rPr>
              <a:t>Street Food Body Damage Predictor  |  Linear Regression</a:t>
            </a:r>
            <a:endParaRPr lang="en-US" sz="800" dirty="0"/>
          </a:p>
        </p:txBody>
      </p:sp>
      <p:sp>
        <p:nvSpPr>
          <p:cNvPr id="25" name="Slide Number Placeholder 0"/>
          <p:cNvSpPr>
            <a:spLocks noGrp="1"/>
          </p:cNvSpPr>
          <p:nvPr>
            <p:ph type="sldNum" sz="quarter" idx="4294967295"/>
          </p:nvPr>
        </p:nvSpPr>
        <p:spPr>
          <a:xfrm>
            <a:off x="832104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46587D"/>
                </a:solidFill>
                <a:latin typeface="Calibri"/>
                <a:ea typeface="Calibri"/>
                <a:cs typeface="Calibri"/>
              </a:defRPr>
            </a:lvl1pPr>
          </a:lstStyle>
          <a:p>
            <a:pPr algn="r"/>
            <a:fld id="{F7021451-1387-4CA6-816F-3879F97B5CBC}" type="slidenum">
              <a:rPr lang="en-US" b="0"/>
              <a:pPr algn="r"/>
              <a:t>‹#›</a:t>
            </a:fld>
            <a:endParaRPr lang="en-US"/>
          </a:p>
        </p:txBody>
      </p:sp>
    </p:spTree>
  </p:cSld>
  <p:clrMapOvr>
    <a:masterClrMapping/>
  </p:clrMapOvr>
  <p:transition spd="med">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D_B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spd="med">
    <p:split orient="ver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46587D"/>
                </a:solidFill>
                <a:latin typeface="Calibri"/>
                <a:ea typeface="Calibri"/>
                <a:cs typeface="Calibri"/>
              </a:defRPr>
            </a:lvl1pPr>
          </a:lstStyle>
          <a:p>
            <a:pPr algn="r"/>
            <a:fld id="{F7021451-1387-4CA6-816F-3879F97B5CBC}" type="slidenum">
              <a:rPr lang="en-US" b="0"/>
              <a:pPr algn="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med">
    <p:split orient="vert"/>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8.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ill"/>
          <p:cNvSpPr/>
          <p:nvPr/>
        </p:nvSpPr>
        <p:spPr>
          <a:xfrm>
            <a:off x="3840480" y="2103120"/>
            <a:ext cx="1463040" cy="329184"/>
          </a:xfrm>
          <a:prstGeom prst="roundRect">
            <a:avLst>
              <a:gd name="adj" fmla="val 50000"/>
            </a:avLst>
          </a:prstGeom>
          <a:solidFill>
            <a:srgbClr val="BFD8F6"/>
          </a:solidFill>
          <a:ln w="12700">
            <a:solidFill>
              <a:srgbClr val="BFD8F6"/>
            </a:solidFill>
            <a:prstDash val="solid"/>
          </a:ln>
        </p:spPr>
      </p:sp>
      <p:sp>
        <p:nvSpPr>
          <p:cNvPr id="3" name="Text 1"/>
          <p:cNvSpPr txBox="1"/>
          <p:nvPr/>
        </p:nvSpPr>
        <p:spPr>
          <a:xfrm>
            <a:off x="3840480" y="2103120"/>
            <a:ext cx="1463040" cy="329184"/>
          </a:xfrm>
          <a:prstGeom prst="rect">
            <a:avLst/>
          </a:prstGeom>
          <a:noFill/>
          <a:ln/>
        </p:spPr>
        <p:txBody>
          <a:bodyPr wrap="square" lIns="0" tIns="0" rIns="0" bIns="0" rtlCol="0" anchor="ctr"/>
          <a:lstStyle/>
          <a:p>
            <a:pPr marL="0" indent="0" algn="ctr">
              <a:buNone/>
            </a:pPr>
            <a:r>
              <a:rPr lang="en-US" sz="1160" b="1" kern="0" spc="200" dirty="0">
                <a:solidFill>
                  <a:srgbClr val="2762A8"/>
                </a:solidFill>
                <a:latin typeface="Calibri" pitchFamily="34" charset="0"/>
                <a:ea typeface="Calibri" pitchFamily="34" charset="-122"/>
                <a:cs typeface="Calibri" pitchFamily="34" charset="-120"/>
              </a:rPr>
              <a:t>PROJECT</a:t>
            </a:r>
            <a:endParaRPr lang="en-US" sz="1160" dirty="0"/>
          </a:p>
        </p:txBody>
      </p:sp>
      <p:sp>
        <p:nvSpPr>
          <p:cNvPr id="4" name="Text 2"/>
          <p:cNvSpPr txBox="1"/>
          <p:nvPr/>
        </p:nvSpPr>
        <p:spPr>
          <a:xfrm>
            <a:off x="457200" y="2514600"/>
            <a:ext cx="8229600" cy="914400"/>
          </a:xfrm>
          <a:prstGeom prst="rect">
            <a:avLst/>
          </a:prstGeom>
          <a:noFill/>
          <a:ln/>
        </p:spPr>
        <p:txBody>
          <a:bodyPr wrap="square" lIns="0" tIns="0" rIns="0" bIns="0" rtlCol="0" anchor="ctr"/>
          <a:lstStyle/>
          <a:p>
            <a:pPr marL="0" indent="0" algn="ctr">
              <a:buNone/>
            </a:pPr>
            <a:r>
              <a:rPr lang="en-US" sz="2640" b="1" dirty="0">
                <a:solidFill>
                  <a:srgbClr val="1E3A6B"/>
                </a:solidFill>
                <a:latin typeface="Calibri" pitchFamily="34" charset="0"/>
                <a:ea typeface="Calibri" pitchFamily="34" charset="-122"/>
                <a:cs typeface="Calibri" pitchFamily="34" charset="-120"/>
              </a:rPr>
              <a:t>INDIAN STREET FOOD</a:t>
            </a:r>
            <a:endParaRPr lang="en-US" sz="2640" dirty="0"/>
          </a:p>
          <a:p>
            <a:pPr marL="0" indent="0" algn="ctr">
              <a:buNone/>
            </a:pPr>
            <a:r>
              <a:rPr lang="en-US" sz="2640" b="1" dirty="0">
                <a:solidFill>
                  <a:srgbClr val="1E3A6B"/>
                </a:solidFill>
                <a:latin typeface="Calibri" pitchFamily="34" charset="0"/>
                <a:ea typeface="Calibri" pitchFamily="34" charset="-122"/>
                <a:cs typeface="Calibri" pitchFamily="34" charset="-120"/>
              </a:rPr>
              <a:t>BODY DAMAGE PREDICTOR</a:t>
            </a:r>
            <a:endParaRPr lang="en-US" sz="2640" dirty="0"/>
          </a:p>
        </p:txBody>
      </p:sp>
      <p:sp>
        <p:nvSpPr>
          <p:cNvPr id="5" name="Text 3"/>
          <p:cNvSpPr txBox="1"/>
          <p:nvPr/>
        </p:nvSpPr>
        <p:spPr>
          <a:xfrm>
            <a:off x="457200" y="3474720"/>
            <a:ext cx="8229600" cy="274320"/>
          </a:xfrm>
          <a:prstGeom prst="rect">
            <a:avLst/>
          </a:prstGeom>
          <a:noFill/>
          <a:ln/>
        </p:spPr>
        <p:txBody>
          <a:bodyPr wrap="square" lIns="0" tIns="0" rIns="0" bIns="0" rtlCol="0" anchor="ctr"/>
          <a:lstStyle/>
          <a:p>
            <a:pPr marL="0" indent="0" algn="ctr">
              <a:buNone/>
            </a:pPr>
            <a:r>
              <a:rPr lang="en-US" sz="1270" dirty="0">
                <a:solidFill>
                  <a:srgbClr val="3F5278"/>
                </a:solidFill>
                <a:latin typeface="Calibri" pitchFamily="34" charset="0"/>
                <a:ea typeface="Calibri" pitchFamily="34" charset="-122"/>
                <a:cs typeface="Calibri" pitchFamily="34" charset="-120"/>
              </a:rPr>
              <a:t>using Linear Regression  •  Machine Learning</a:t>
            </a:r>
            <a:endParaRPr lang="en-US" sz="1270" dirty="0"/>
          </a:p>
        </p:txBody>
      </p:sp>
      <p:sp>
        <p:nvSpPr>
          <p:cNvPr id="6" name="Text 4"/>
          <p:cNvSpPr txBox="1"/>
          <p:nvPr/>
        </p:nvSpPr>
        <p:spPr>
          <a:xfrm>
            <a:off x="2194560" y="3840480"/>
            <a:ext cx="2011680" cy="201168"/>
          </a:xfrm>
          <a:prstGeom prst="rect">
            <a:avLst/>
          </a:prstGeom>
          <a:noFill/>
          <a:ln/>
        </p:spPr>
        <p:txBody>
          <a:bodyPr wrap="square" lIns="0" tIns="0" rIns="0" bIns="0" rtlCol="0" anchor="ctr"/>
          <a:lstStyle/>
          <a:p>
            <a:pPr marL="0" indent="0">
              <a:buNone/>
            </a:pPr>
            <a:r>
              <a:rPr lang="en-US" sz="990" dirty="0">
                <a:solidFill>
                  <a:srgbClr val="3F5278"/>
                </a:solidFill>
                <a:latin typeface="Calibri" pitchFamily="34" charset="0"/>
                <a:ea typeface="Calibri" pitchFamily="34" charset="-122"/>
                <a:cs typeface="Calibri" pitchFamily="34" charset="-120"/>
              </a:rPr>
              <a:t>Submitted To:</a:t>
            </a:r>
            <a:endParaRPr lang="en-US" sz="990" dirty="0"/>
          </a:p>
        </p:txBody>
      </p:sp>
      <p:sp>
        <p:nvSpPr>
          <p:cNvPr id="7" name="Text 5"/>
          <p:cNvSpPr txBox="1"/>
          <p:nvPr/>
        </p:nvSpPr>
        <p:spPr>
          <a:xfrm>
            <a:off x="2194560" y="4041648"/>
            <a:ext cx="2011680" cy="274320"/>
          </a:xfrm>
          <a:prstGeom prst="rect">
            <a:avLst/>
          </a:prstGeom>
          <a:noFill/>
          <a:ln/>
        </p:spPr>
        <p:txBody>
          <a:bodyPr wrap="square" lIns="0" tIns="0" rIns="0" bIns="0" rtlCol="0" anchor="ctr"/>
          <a:lstStyle/>
          <a:p>
            <a:pPr marL="0" indent="0">
              <a:buNone/>
            </a:pPr>
            <a:r>
              <a:rPr lang="en-US" sz="1380" b="1" dirty="0">
                <a:solidFill>
                  <a:srgbClr val="1E3A6B"/>
                </a:solidFill>
                <a:latin typeface="Calibri" pitchFamily="34" charset="0"/>
                <a:ea typeface="Calibri" pitchFamily="34" charset="-122"/>
                <a:cs typeface="Calibri" pitchFamily="34" charset="-120"/>
              </a:rPr>
              <a:t>Ritik Sir</a:t>
            </a:r>
            <a:endParaRPr lang="en-US" sz="1380" dirty="0"/>
          </a:p>
        </p:txBody>
      </p:sp>
      <p:sp>
        <p:nvSpPr>
          <p:cNvPr id="8" name="Text 6"/>
          <p:cNvSpPr txBox="1"/>
          <p:nvPr/>
        </p:nvSpPr>
        <p:spPr>
          <a:xfrm>
            <a:off x="4754880" y="3840480"/>
            <a:ext cx="2286000" cy="201168"/>
          </a:xfrm>
          <a:prstGeom prst="rect">
            <a:avLst/>
          </a:prstGeom>
          <a:noFill/>
          <a:ln/>
        </p:spPr>
        <p:txBody>
          <a:bodyPr wrap="square" lIns="0" tIns="0" rIns="0" bIns="0" rtlCol="0" anchor="ctr"/>
          <a:lstStyle/>
          <a:p>
            <a:pPr marL="0" indent="0">
              <a:buNone/>
            </a:pPr>
            <a:r>
              <a:rPr lang="en-US" sz="990" dirty="0">
                <a:solidFill>
                  <a:srgbClr val="3F5278"/>
                </a:solidFill>
                <a:latin typeface="Calibri" pitchFamily="34" charset="0"/>
                <a:ea typeface="Calibri" pitchFamily="34" charset="-122"/>
                <a:cs typeface="Calibri" pitchFamily="34" charset="-120"/>
              </a:rPr>
              <a:t>Submitted By:</a:t>
            </a:r>
            <a:endParaRPr lang="en-US" sz="990" dirty="0"/>
          </a:p>
        </p:txBody>
      </p:sp>
      <p:sp>
        <p:nvSpPr>
          <p:cNvPr id="9" name="Text 7"/>
          <p:cNvSpPr txBox="1"/>
          <p:nvPr/>
        </p:nvSpPr>
        <p:spPr>
          <a:xfrm>
            <a:off x="4754880" y="4041648"/>
            <a:ext cx="2286000" cy="274320"/>
          </a:xfrm>
          <a:prstGeom prst="rect">
            <a:avLst/>
          </a:prstGeom>
          <a:noFill/>
          <a:ln/>
        </p:spPr>
        <p:txBody>
          <a:bodyPr wrap="square" lIns="0" tIns="0" rIns="0" bIns="0" rtlCol="0" anchor="ctr"/>
          <a:lstStyle/>
          <a:p>
            <a:pPr marL="0" indent="0">
              <a:buNone/>
            </a:pPr>
            <a:r>
              <a:rPr lang="en-US" sz="1380" b="1" dirty="0">
                <a:solidFill>
                  <a:srgbClr val="1E3A6B"/>
                </a:solidFill>
                <a:latin typeface="Calibri" pitchFamily="34" charset="0"/>
                <a:ea typeface="Calibri" pitchFamily="34" charset="-122"/>
                <a:cs typeface="Calibri" pitchFamily="34" charset="-120"/>
              </a:rPr>
              <a:t>Abhay Singh</a:t>
            </a:r>
            <a:endParaRPr lang="en-US" sz="1380" dirty="0"/>
          </a:p>
        </p:txBody>
      </p:sp>
      <p:sp>
        <p:nvSpPr>
          <p:cNvPr id="10" name="Text 8"/>
          <p:cNvSpPr txBox="1"/>
          <p:nvPr/>
        </p:nvSpPr>
        <p:spPr>
          <a:xfrm>
            <a:off x="4754880" y="4297680"/>
            <a:ext cx="2743200" cy="201168"/>
          </a:xfrm>
          <a:prstGeom prst="rect">
            <a:avLst/>
          </a:prstGeom>
          <a:noFill/>
          <a:ln/>
        </p:spPr>
        <p:txBody>
          <a:bodyPr wrap="square" lIns="0" tIns="0" rIns="0" bIns="0" rtlCol="0" anchor="ctr"/>
          <a:lstStyle/>
          <a:p>
            <a:pPr marL="0" indent="0">
              <a:buNone/>
            </a:pPr>
            <a:r>
              <a:rPr lang="en-US" sz="940" dirty="0">
                <a:solidFill>
                  <a:srgbClr val="3F5278"/>
                </a:solidFill>
                <a:latin typeface="Calibri" pitchFamily="34" charset="0"/>
                <a:ea typeface="Calibri" pitchFamily="34" charset="-122"/>
                <a:cs typeface="Calibri" pitchFamily="34" charset="-120"/>
              </a:rPr>
              <a:t>Roll No. 40  |  BCA  |  2026–27</a:t>
            </a:r>
            <a:endParaRPr lang="en-US" sz="940" dirty="0"/>
          </a:p>
        </p:txBody>
      </p:sp>
      <p:sp>
        <p:nvSpPr>
          <p:cNvPr id="11" name="Text 9"/>
          <p:cNvSpPr txBox="1"/>
          <p:nvPr/>
        </p:nvSpPr>
        <p:spPr>
          <a:xfrm>
            <a:off x="457200" y="4553712"/>
            <a:ext cx="8229600" cy="201168"/>
          </a:xfrm>
          <a:prstGeom prst="rect">
            <a:avLst/>
          </a:prstGeom>
          <a:noFill/>
          <a:ln/>
        </p:spPr>
        <p:txBody>
          <a:bodyPr wrap="square" lIns="0" tIns="0" rIns="0" bIns="0" rtlCol="0" anchor="ctr"/>
          <a:lstStyle/>
          <a:p>
            <a:pPr marL="0" indent="0" algn="ctr">
              <a:buNone/>
            </a:pPr>
            <a:r>
              <a:rPr lang="en-US" sz="940" i="1" dirty="0">
                <a:solidFill>
                  <a:srgbClr val="3F5278"/>
                </a:solidFill>
                <a:latin typeface="Calibri" pitchFamily="34" charset="0"/>
                <a:ea typeface="Calibri" pitchFamily="34" charset="-122"/>
                <a:cs typeface="Calibri" pitchFamily="34" charset="-120"/>
              </a:rPr>
              <a:t>For educational &amp; health awareness purpose</a:t>
            </a:r>
            <a:endParaRPr lang="en-US" sz="940" dirty="0"/>
          </a:p>
        </p:txBody>
      </p:sp>
    </p:spTree>
  </p:cSld>
  <p:clrMapOvr>
    <a:masterClrMapping/>
  </p:clrMapOvr>
  <p:transition spd="med">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p:nvPr>
        </p:nvSpPr>
        <p:spPr>
          <a:xfrm>
            <a:off x="365760" y="201168"/>
            <a:ext cx="8412480" cy="548640"/>
          </a:xfrm>
          <a:prstGeom prst="rect">
            <a:avLst/>
          </a:prstGeom>
          <a:noFill/>
          <a:ln/>
        </p:spPr>
        <p:txBody>
          <a:bodyPr wrap="square" lIns="0" tIns="0" rIns="0" bIns="0" rtlCol="0" anchor="ctr"/>
          <a:lstStyle/>
          <a:p>
            <a:pPr marL="0" indent="0" algn="l">
              <a:buNone/>
            </a:pPr>
            <a:r>
              <a:rPr lang="en-US" sz="2400" b="1" dirty="0">
                <a:solidFill>
                  <a:srgbClr val="1E3A6B"/>
                </a:solidFill>
                <a:latin typeface="Calibri" pitchFamily="34" charset="0"/>
                <a:ea typeface="Calibri" pitchFamily="34" charset="-122"/>
                <a:cs typeface="Calibri" pitchFamily="34" charset="-120"/>
              </a:rPr>
              <a:t>Problem Statement</a:t>
            </a:r>
            <a:endParaRPr lang="en-US" sz="2400" dirty="0"/>
          </a:p>
        </p:txBody>
      </p:sp>
      <p:sp>
        <p:nvSpPr>
          <p:cNvPr id="3" name="card"/>
          <p:cNvSpPr/>
          <p:nvPr/>
        </p:nvSpPr>
        <p:spPr>
          <a:xfrm>
            <a:off x="365760" y="1005840"/>
            <a:ext cx="8412480" cy="868680"/>
          </a:xfrm>
          <a:prstGeom prst="roundRect">
            <a:avLst>
              <a:gd name="adj" fmla="val 10526"/>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4" name="iconcircle"/>
          <p:cNvSpPr/>
          <p:nvPr/>
        </p:nvSpPr>
        <p:spPr>
          <a:xfrm>
            <a:off x="548640" y="1170432"/>
            <a:ext cx="548640" cy="548640"/>
          </a:xfrm>
          <a:prstGeom prst="ellipse">
            <a:avLst/>
          </a:prstGeom>
          <a:solidFill>
            <a:srgbClr val="E76F51"/>
          </a:solidFill>
          <a:ln w="12700">
            <a:solidFill>
              <a:srgbClr val="E76F51"/>
            </a:solidFill>
            <a:prstDash val="solid"/>
          </a:ln>
        </p:spPr>
      </p:sp>
      <p:pic>
        <p:nvPicPr>
          <p:cNvPr id="5" name="Image 0" descr="FaQuestionCircle"/>
          <p:cNvPicPr>
            <a:picLocks noChangeAspect="1"/>
          </p:cNvPicPr>
          <p:nvPr/>
        </p:nvPicPr>
        <p:blipFill>
          <a:blip r:embed="rId3"/>
          <a:stretch>
            <a:fillRect/>
          </a:stretch>
        </p:blipFill>
        <p:spPr>
          <a:xfrm>
            <a:off x="685800" y="1307592"/>
            <a:ext cx="274320" cy="274320"/>
          </a:xfrm>
          <a:prstGeom prst="rect">
            <a:avLst/>
          </a:prstGeom>
        </p:spPr>
      </p:pic>
      <p:sp>
        <p:nvSpPr>
          <p:cNvPr id="6" name="Text 3"/>
          <p:cNvSpPr txBox="1"/>
          <p:nvPr/>
        </p:nvSpPr>
        <p:spPr>
          <a:xfrm>
            <a:off x="1371600" y="1097280"/>
            <a:ext cx="7223760" cy="320040"/>
          </a:xfrm>
          <a:prstGeom prst="rect">
            <a:avLst/>
          </a:prstGeom>
          <a:noFill/>
          <a:ln/>
        </p:spPr>
        <p:txBody>
          <a:bodyPr wrap="square" lIns="0" tIns="0" rIns="0" bIns="0" rtlCol="0" anchor="ctr"/>
          <a:lstStyle/>
          <a:p>
            <a:pPr marL="0" indent="0">
              <a:buNone/>
            </a:pPr>
            <a:r>
              <a:rPr lang="en-US" sz="1430" b="1" dirty="0">
                <a:solidFill>
                  <a:srgbClr val="1E3A6B"/>
                </a:solidFill>
                <a:latin typeface="Calibri" pitchFamily="34" charset="0"/>
                <a:ea typeface="Calibri" pitchFamily="34" charset="-122"/>
                <a:cs typeface="Calibri" pitchFamily="34" charset="-120"/>
              </a:rPr>
              <a:t>No Awareness</a:t>
            </a:r>
            <a:endParaRPr lang="en-US" sz="1430" dirty="0"/>
          </a:p>
        </p:txBody>
      </p:sp>
      <p:sp>
        <p:nvSpPr>
          <p:cNvPr id="7" name="Text 4"/>
          <p:cNvSpPr txBox="1"/>
          <p:nvPr/>
        </p:nvSpPr>
        <p:spPr>
          <a:xfrm>
            <a:off x="1371600" y="1426464"/>
            <a:ext cx="7223760" cy="365760"/>
          </a:xfrm>
          <a:prstGeom prst="rect">
            <a:avLst/>
          </a:prstGeom>
          <a:noFill/>
          <a:ln/>
        </p:spPr>
        <p:txBody>
          <a:bodyPr wrap="square" lIns="0" tIns="0" rIns="0" bIns="0" rtlCol="0" anchor="ctr"/>
          <a:lstStyle/>
          <a:p>
            <a:pPr marL="0" indent="0">
              <a:buNone/>
            </a:pPr>
            <a:r>
              <a:rPr lang="en-US" sz="1160" dirty="0">
                <a:solidFill>
                  <a:srgbClr val="3F5278"/>
                </a:solidFill>
                <a:latin typeface="Calibri" pitchFamily="34" charset="0"/>
                <a:ea typeface="Calibri" pitchFamily="34" charset="-122"/>
                <a:cs typeface="Calibri" pitchFamily="34" charset="-120"/>
              </a:rPr>
              <a:t>People eat street food daily but have no idea how much long-term damage it causes to the body.</a:t>
            </a:r>
            <a:endParaRPr lang="en-US" sz="1160" dirty="0"/>
          </a:p>
        </p:txBody>
      </p:sp>
      <p:sp>
        <p:nvSpPr>
          <p:cNvPr id="8" name="card"/>
          <p:cNvSpPr/>
          <p:nvPr/>
        </p:nvSpPr>
        <p:spPr>
          <a:xfrm>
            <a:off x="365760" y="2011680"/>
            <a:ext cx="8412480" cy="868680"/>
          </a:xfrm>
          <a:prstGeom prst="roundRect">
            <a:avLst>
              <a:gd name="adj" fmla="val 10526"/>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9" name="iconcircle"/>
          <p:cNvSpPr/>
          <p:nvPr/>
        </p:nvSpPr>
        <p:spPr>
          <a:xfrm>
            <a:off x="548640" y="2176272"/>
            <a:ext cx="548640" cy="548640"/>
          </a:xfrm>
          <a:prstGeom prst="ellipse">
            <a:avLst/>
          </a:prstGeom>
          <a:solidFill>
            <a:srgbClr val="2762A8"/>
          </a:solidFill>
          <a:ln w="12700">
            <a:solidFill>
              <a:srgbClr val="2762A8"/>
            </a:solidFill>
            <a:prstDash val="solid"/>
          </a:ln>
        </p:spPr>
      </p:sp>
      <p:pic>
        <p:nvPicPr>
          <p:cNvPr id="10" name="Image 1" descr="FaRuler"/>
          <p:cNvPicPr>
            <a:picLocks noChangeAspect="1"/>
          </p:cNvPicPr>
          <p:nvPr/>
        </p:nvPicPr>
        <p:blipFill>
          <a:blip r:embed="rId4"/>
          <a:stretch>
            <a:fillRect/>
          </a:stretch>
        </p:blipFill>
        <p:spPr>
          <a:xfrm>
            <a:off x="685800" y="2313432"/>
            <a:ext cx="274320" cy="274320"/>
          </a:xfrm>
          <a:prstGeom prst="rect">
            <a:avLst/>
          </a:prstGeom>
        </p:spPr>
      </p:pic>
      <p:sp>
        <p:nvSpPr>
          <p:cNvPr id="11" name="Text 7"/>
          <p:cNvSpPr txBox="1"/>
          <p:nvPr/>
        </p:nvSpPr>
        <p:spPr>
          <a:xfrm>
            <a:off x="1371600" y="2103120"/>
            <a:ext cx="7223760" cy="320040"/>
          </a:xfrm>
          <a:prstGeom prst="rect">
            <a:avLst/>
          </a:prstGeom>
          <a:noFill/>
          <a:ln/>
        </p:spPr>
        <p:txBody>
          <a:bodyPr wrap="square" lIns="0" tIns="0" rIns="0" bIns="0" rtlCol="0" anchor="ctr"/>
          <a:lstStyle/>
          <a:p>
            <a:pPr marL="0" indent="0">
              <a:buNone/>
            </a:pPr>
            <a:r>
              <a:rPr lang="en-US" sz="1430" b="1" dirty="0">
                <a:solidFill>
                  <a:srgbClr val="1E3A6B"/>
                </a:solidFill>
                <a:latin typeface="Calibri" pitchFamily="34" charset="0"/>
                <a:ea typeface="Calibri" pitchFamily="34" charset="-122"/>
                <a:cs typeface="Calibri" pitchFamily="34" charset="-120"/>
              </a:rPr>
              <a:t>Hard to Measure</a:t>
            </a:r>
            <a:endParaRPr lang="en-US" sz="1430" dirty="0"/>
          </a:p>
        </p:txBody>
      </p:sp>
      <p:sp>
        <p:nvSpPr>
          <p:cNvPr id="12" name="Text 8"/>
          <p:cNvSpPr txBox="1"/>
          <p:nvPr/>
        </p:nvSpPr>
        <p:spPr>
          <a:xfrm>
            <a:off x="1371600" y="2432304"/>
            <a:ext cx="7223760" cy="365760"/>
          </a:xfrm>
          <a:prstGeom prst="rect">
            <a:avLst/>
          </a:prstGeom>
          <a:noFill/>
          <a:ln/>
        </p:spPr>
        <p:txBody>
          <a:bodyPr wrap="square" lIns="0" tIns="0" rIns="0" bIns="0" rtlCol="0" anchor="ctr"/>
          <a:lstStyle/>
          <a:p>
            <a:pPr marL="0" indent="0">
              <a:buNone/>
            </a:pPr>
            <a:r>
              <a:rPr lang="en-US" sz="1160" dirty="0">
                <a:solidFill>
                  <a:srgbClr val="3F5278"/>
                </a:solidFill>
                <a:latin typeface="Calibri" pitchFamily="34" charset="0"/>
                <a:ea typeface="Calibri" pitchFamily="34" charset="-122"/>
                <a:cs typeface="Calibri" pitchFamily="34" charset="-120"/>
              </a:rPr>
              <a:t>There is no simple tool that tells the yearly impact of regular samosa, momo, pani puri etc.</a:t>
            </a:r>
            <a:endParaRPr lang="en-US" sz="1160" dirty="0"/>
          </a:p>
        </p:txBody>
      </p:sp>
      <p:sp>
        <p:nvSpPr>
          <p:cNvPr id="13" name="card"/>
          <p:cNvSpPr/>
          <p:nvPr/>
        </p:nvSpPr>
        <p:spPr>
          <a:xfrm>
            <a:off x="365760" y="3017520"/>
            <a:ext cx="8412480" cy="868680"/>
          </a:xfrm>
          <a:prstGeom prst="roundRect">
            <a:avLst>
              <a:gd name="adj" fmla="val 10526"/>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14" name="iconcircle"/>
          <p:cNvSpPr/>
          <p:nvPr/>
        </p:nvSpPr>
        <p:spPr>
          <a:xfrm>
            <a:off x="548640" y="3182112"/>
            <a:ext cx="548640" cy="548640"/>
          </a:xfrm>
          <a:prstGeom prst="ellipse">
            <a:avLst/>
          </a:prstGeom>
          <a:solidFill>
            <a:srgbClr val="2EA995"/>
          </a:solidFill>
          <a:ln w="12700">
            <a:solidFill>
              <a:srgbClr val="2EA995"/>
            </a:solidFill>
            <a:prstDash val="solid"/>
          </a:ln>
        </p:spPr>
      </p:sp>
      <p:pic>
        <p:nvPicPr>
          <p:cNvPr id="15" name="Image 2" descr="FaLightbulb"/>
          <p:cNvPicPr>
            <a:picLocks noChangeAspect="1"/>
          </p:cNvPicPr>
          <p:nvPr/>
        </p:nvPicPr>
        <p:blipFill>
          <a:blip r:embed="rId5"/>
          <a:stretch>
            <a:fillRect/>
          </a:stretch>
        </p:blipFill>
        <p:spPr>
          <a:xfrm>
            <a:off x="685800" y="3319272"/>
            <a:ext cx="274320" cy="274320"/>
          </a:xfrm>
          <a:prstGeom prst="rect">
            <a:avLst/>
          </a:prstGeom>
        </p:spPr>
      </p:pic>
      <p:sp>
        <p:nvSpPr>
          <p:cNvPr id="16" name="Text 11"/>
          <p:cNvSpPr txBox="1"/>
          <p:nvPr/>
        </p:nvSpPr>
        <p:spPr>
          <a:xfrm>
            <a:off x="1371600" y="3108960"/>
            <a:ext cx="7223760" cy="320040"/>
          </a:xfrm>
          <a:prstGeom prst="rect">
            <a:avLst/>
          </a:prstGeom>
          <a:noFill/>
          <a:ln/>
        </p:spPr>
        <p:txBody>
          <a:bodyPr wrap="square" lIns="0" tIns="0" rIns="0" bIns="0" rtlCol="0" anchor="ctr"/>
          <a:lstStyle/>
          <a:p>
            <a:pPr marL="0" indent="0">
              <a:buNone/>
            </a:pPr>
            <a:r>
              <a:rPr lang="en-US" sz="1430" b="1" dirty="0">
                <a:solidFill>
                  <a:srgbClr val="1E3A6B"/>
                </a:solidFill>
                <a:latin typeface="Calibri" pitchFamily="34" charset="0"/>
                <a:ea typeface="Calibri" pitchFamily="34" charset="-122"/>
                <a:cs typeface="Calibri" pitchFamily="34" charset="-120"/>
              </a:rPr>
              <a:t>Need Simple Solution</a:t>
            </a:r>
            <a:endParaRPr lang="en-US" sz="1430" dirty="0"/>
          </a:p>
        </p:txBody>
      </p:sp>
      <p:sp>
        <p:nvSpPr>
          <p:cNvPr id="17" name="Text 12"/>
          <p:cNvSpPr txBox="1"/>
          <p:nvPr/>
        </p:nvSpPr>
        <p:spPr>
          <a:xfrm>
            <a:off x="1371600" y="3438144"/>
            <a:ext cx="7223760" cy="365760"/>
          </a:xfrm>
          <a:prstGeom prst="rect">
            <a:avLst/>
          </a:prstGeom>
          <a:noFill/>
          <a:ln/>
        </p:spPr>
        <p:txBody>
          <a:bodyPr wrap="square" lIns="0" tIns="0" rIns="0" bIns="0" rtlCol="0" anchor="ctr"/>
          <a:lstStyle/>
          <a:p>
            <a:pPr marL="0" indent="0">
              <a:buNone/>
            </a:pPr>
            <a:r>
              <a:rPr lang="en-US" sz="1160" dirty="0">
                <a:solidFill>
                  <a:srgbClr val="3F5278"/>
                </a:solidFill>
                <a:latin typeface="Calibri" pitchFamily="34" charset="0"/>
                <a:ea typeface="Calibri" pitchFamily="34" charset="-122"/>
                <a:cs typeface="Calibri" pitchFamily="34" charset="-120"/>
              </a:rPr>
              <a:t>We need an easy, explainable ML model (not complex) that anyone can understand and use.</a:t>
            </a:r>
            <a:endParaRPr lang="en-US" sz="1160" dirty="0"/>
          </a:p>
        </p:txBody>
      </p:sp>
      <p:sp>
        <p:nvSpPr>
          <p:cNvPr id="18" name="banner"/>
          <p:cNvSpPr/>
          <p:nvPr/>
        </p:nvSpPr>
        <p:spPr>
          <a:xfrm>
            <a:off x="365760" y="4114800"/>
            <a:ext cx="8412480" cy="457200"/>
          </a:xfrm>
          <a:prstGeom prst="roundRect">
            <a:avLst>
              <a:gd name="adj" fmla="val 16000"/>
            </a:avLst>
          </a:prstGeom>
          <a:solidFill>
            <a:srgbClr val="FFFFFF">
              <a:alpha val="85000"/>
            </a:srgbClr>
          </a:solidFill>
          <a:ln w="12700">
            <a:solidFill>
              <a:srgbClr val="2EA995">
                <a:alpha val="85000"/>
              </a:srgbClr>
            </a:solidFill>
            <a:prstDash val="solid"/>
          </a:ln>
          <a:effectLst>
            <a:outerShdw blurRad="76200" dist="25400" dir="5400000" algn="bl" rotWithShape="0">
              <a:srgbClr val="1E3A6B">
                <a:alpha val="12000"/>
              </a:srgbClr>
            </a:outerShdw>
          </a:effectLst>
        </p:spPr>
      </p:sp>
      <p:sp>
        <p:nvSpPr>
          <p:cNvPr id="19" name="Text 14"/>
          <p:cNvSpPr txBox="1"/>
          <p:nvPr/>
        </p:nvSpPr>
        <p:spPr>
          <a:xfrm>
            <a:off x="548640" y="4114800"/>
            <a:ext cx="8046720" cy="457200"/>
          </a:xfrm>
          <a:prstGeom prst="rect">
            <a:avLst/>
          </a:prstGeom>
          <a:noFill/>
          <a:ln/>
        </p:spPr>
        <p:txBody>
          <a:bodyPr wrap="square" lIns="0" tIns="0" rIns="0" bIns="0" rtlCol="0" anchor="ctr"/>
          <a:lstStyle/>
          <a:p>
            <a:pPr marL="0" indent="0">
              <a:buNone/>
            </a:pPr>
            <a:r>
              <a:rPr lang="en-US" sz="1160" b="1" dirty="0">
                <a:solidFill>
                  <a:srgbClr val="1E3A6B"/>
                </a:solidFill>
                <a:latin typeface="Calibri" pitchFamily="34" charset="0"/>
                <a:ea typeface="Calibri" pitchFamily="34" charset="-122"/>
                <a:cs typeface="Calibri" pitchFamily="34" charset="-120"/>
              </a:rPr>
              <a:t>Goal: a simple, explainable tool that shows how street food habits affect the body.</a:t>
            </a:r>
            <a:endParaRPr lang="en-US" sz="1160" dirty="0"/>
          </a:p>
        </p:txBody>
      </p:sp>
      <p:sp>
        <p:nvSpPr>
          <p:cNvPr id="25" name="Slide Number Placeholder 0"/>
          <p:cNvSpPr>
            <a:spLocks noGrp="1"/>
          </p:cNvSpPr>
          <p:nvPr>
            <p:ph type="sldNum" sz="quarter" idx="4294967295"/>
          </p:nvPr>
        </p:nvSpPr>
        <p:spPr>
          <a:xfrm>
            <a:off x="832104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46587D"/>
                </a:solidFill>
                <a:latin typeface="Calibri"/>
                <a:ea typeface="Calibri"/>
                <a:cs typeface="Calibri"/>
              </a:defRPr>
            </a:lvl1pPr>
          </a:lstStyle>
          <a:p>
            <a:pPr algn="r"/>
            <a:fld id="{F7021451-1387-4CA6-816F-3879F97B5CBC}" type="slidenum">
              <a:rPr lang="en-US" b="0"/>
              <a:pPr algn="r"/>
              <a:t>2</a:t>
            </a:fld>
            <a:endParaRPr lang="en-US"/>
          </a:p>
        </p:txBody>
      </p:sp>
    </p:spTree>
  </p:cSld>
  <p:clrMapOvr>
    <a:masterClrMapping/>
  </p:clrMapOvr>
  <p:transition spd="med">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p:nvPr>
        </p:nvSpPr>
        <p:spPr>
          <a:xfrm>
            <a:off x="365760" y="201168"/>
            <a:ext cx="8412480" cy="548640"/>
          </a:xfrm>
          <a:prstGeom prst="rect">
            <a:avLst/>
          </a:prstGeom>
          <a:noFill/>
          <a:ln/>
        </p:spPr>
        <p:txBody>
          <a:bodyPr wrap="square" lIns="0" tIns="0" rIns="0" bIns="0" rtlCol="0" anchor="ctr"/>
          <a:lstStyle/>
          <a:p>
            <a:pPr marL="0" indent="0" algn="l">
              <a:buNone/>
            </a:pPr>
            <a:r>
              <a:rPr lang="en-US" sz="2400" b="1" dirty="0">
                <a:solidFill>
                  <a:srgbClr val="1E3A6B"/>
                </a:solidFill>
                <a:latin typeface="Calibri" pitchFamily="34" charset="0"/>
                <a:ea typeface="Calibri" pitchFamily="34" charset="-122"/>
                <a:cs typeface="Calibri" pitchFamily="34" charset="-120"/>
              </a:rPr>
              <a:t>What is the Project?</a:t>
            </a:r>
            <a:endParaRPr lang="en-US" sz="2400" dirty="0"/>
          </a:p>
        </p:txBody>
      </p:sp>
      <p:sp>
        <p:nvSpPr>
          <p:cNvPr id="3" name="card"/>
          <p:cNvSpPr/>
          <p:nvPr/>
        </p:nvSpPr>
        <p:spPr>
          <a:xfrm>
            <a:off x="365760" y="1005840"/>
            <a:ext cx="2377440" cy="2286000"/>
          </a:xfrm>
          <a:prstGeom prst="roundRect">
            <a:avLst>
              <a:gd name="adj" fmla="val 4000"/>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4" name="iconcircle"/>
          <p:cNvSpPr/>
          <p:nvPr/>
        </p:nvSpPr>
        <p:spPr>
          <a:xfrm>
            <a:off x="1234440" y="1188720"/>
            <a:ext cx="640080" cy="640080"/>
          </a:xfrm>
          <a:prstGeom prst="ellipse">
            <a:avLst/>
          </a:prstGeom>
          <a:solidFill>
            <a:srgbClr val="2762A8"/>
          </a:solidFill>
          <a:ln w="12700">
            <a:solidFill>
              <a:srgbClr val="2762A8"/>
            </a:solidFill>
            <a:prstDash val="solid"/>
          </a:ln>
        </p:spPr>
      </p:sp>
      <p:pic>
        <p:nvPicPr>
          <p:cNvPr id="5" name="Image 0" descr="FaKeyboard"/>
          <p:cNvPicPr>
            <a:picLocks noChangeAspect="1"/>
          </p:cNvPicPr>
          <p:nvPr/>
        </p:nvPicPr>
        <p:blipFill>
          <a:blip r:embed="rId3"/>
          <a:stretch>
            <a:fillRect/>
          </a:stretch>
        </p:blipFill>
        <p:spPr>
          <a:xfrm>
            <a:off x="1394460" y="1348740"/>
            <a:ext cx="320040" cy="320040"/>
          </a:xfrm>
          <a:prstGeom prst="rect">
            <a:avLst/>
          </a:prstGeom>
        </p:spPr>
      </p:pic>
      <p:sp>
        <p:nvSpPr>
          <p:cNvPr id="6" name="Text 3"/>
          <p:cNvSpPr txBox="1"/>
          <p:nvPr/>
        </p:nvSpPr>
        <p:spPr>
          <a:xfrm>
            <a:off x="457200" y="1920240"/>
            <a:ext cx="2194560" cy="320040"/>
          </a:xfrm>
          <a:prstGeom prst="rect">
            <a:avLst/>
          </a:prstGeom>
          <a:noFill/>
          <a:ln/>
        </p:spPr>
        <p:txBody>
          <a:bodyPr wrap="square" lIns="0" tIns="0" rIns="0" bIns="0" rtlCol="0" anchor="ctr"/>
          <a:lstStyle/>
          <a:p>
            <a:pPr marL="0" indent="0" algn="ctr">
              <a:buNone/>
            </a:pPr>
            <a:r>
              <a:rPr lang="en-US" sz="1430" b="1" dirty="0">
                <a:solidFill>
                  <a:srgbClr val="1E3A6B"/>
                </a:solidFill>
                <a:latin typeface="Calibri" pitchFamily="34" charset="0"/>
                <a:ea typeface="Calibri" pitchFamily="34" charset="-122"/>
                <a:cs typeface="Calibri" pitchFamily="34" charset="-120"/>
              </a:rPr>
              <a:t>01  Input</a:t>
            </a:r>
            <a:endParaRPr lang="en-US" sz="1430" dirty="0"/>
          </a:p>
        </p:txBody>
      </p:sp>
      <p:sp>
        <p:nvSpPr>
          <p:cNvPr id="7" name="Text 4"/>
          <p:cNvSpPr txBox="1"/>
          <p:nvPr/>
        </p:nvSpPr>
        <p:spPr>
          <a:xfrm>
            <a:off x="548640" y="2286000"/>
            <a:ext cx="2011680" cy="914400"/>
          </a:xfrm>
          <a:prstGeom prst="rect">
            <a:avLst/>
          </a:prstGeom>
          <a:noFill/>
          <a:ln/>
        </p:spPr>
        <p:txBody>
          <a:bodyPr wrap="square" lIns="0" tIns="0" rIns="0" bIns="0" rtlCol="0" anchor="t"/>
          <a:lstStyle/>
          <a:p>
            <a:pPr marL="0" indent="0" algn="ctr">
              <a:buNone/>
            </a:pPr>
            <a:r>
              <a:rPr lang="en-US" sz="1100" dirty="0">
                <a:solidFill>
                  <a:srgbClr val="3F5278"/>
                </a:solidFill>
                <a:latin typeface="Calibri" pitchFamily="34" charset="0"/>
                <a:ea typeface="Calibri" pitchFamily="34" charset="-122"/>
                <a:cs typeface="Calibri" pitchFamily="34" charset="-120"/>
              </a:rPr>
              <a:t>User enters how many times they ate each food in the last 30 days</a:t>
            </a:r>
            <a:endParaRPr lang="en-US" sz="1100" dirty="0"/>
          </a:p>
        </p:txBody>
      </p:sp>
      <p:sp>
        <p:nvSpPr>
          <p:cNvPr id="8" name="arrow"/>
          <p:cNvSpPr/>
          <p:nvPr/>
        </p:nvSpPr>
        <p:spPr>
          <a:xfrm>
            <a:off x="2852928" y="2057400"/>
            <a:ext cx="420624" cy="237744"/>
          </a:xfrm>
          <a:prstGeom prst="rightArrow">
            <a:avLst/>
          </a:prstGeom>
          <a:solidFill>
            <a:srgbClr val="2762A8">
              <a:alpha val="85000"/>
            </a:srgbClr>
          </a:solidFill>
          <a:ln w="12700">
            <a:solidFill>
              <a:srgbClr val="2762A8"/>
            </a:solidFill>
            <a:prstDash val="solid"/>
          </a:ln>
        </p:spPr>
      </p:sp>
      <p:sp>
        <p:nvSpPr>
          <p:cNvPr id="9" name="card"/>
          <p:cNvSpPr/>
          <p:nvPr/>
        </p:nvSpPr>
        <p:spPr>
          <a:xfrm>
            <a:off x="3383280" y="1005840"/>
            <a:ext cx="2377440" cy="2286000"/>
          </a:xfrm>
          <a:prstGeom prst="roundRect">
            <a:avLst>
              <a:gd name="adj" fmla="val 4000"/>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10" name="iconcircle"/>
          <p:cNvSpPr/>
          <p:nvPr/>
        </p:nvSpPr>
        <p:spPr>
          <a:xfrm>
            <a:off x="4251960" y="1188720"/>
            <a:ext cx="640080" cy="640080"/>
          </a:xfrm>
          <a:prstGeom prst="ellipse">
            <a:avLst/>
          </a:prstGeom>
          <a:solidFill>
            <a:srgbClr val="7B6BD6"/>
          </a:solidFill>
          <a:ln w="12700">
            <a:solidFill>
              <a:srgbClr val="7B6BD6"/>
            </a:solidFill>
            <a:prstDash val="solid"/>
          </a:ln>
        </p:spPr>
      </p:sp>
      <p:pic>
        <p:nvPicPr>
          <p:cNvPr id="11" name="Image 1" descr="FaCogs"/>
          <p:cNvPicPr>
            <a:picLocks noChangeAspect="1"/>
          </p:cNvPicPr>
          <p:nvPr/>
        </p:nvPicPr>
        <p:blipFill>
          <a:blip r:embed="rId4"/>
          <a:stretch>
            <a:fillRect/>
          </a:stretch>
        </p:blipFill>
        <p:spPr>
          <a:xfrm>
            <a:off x="4411980" y="1348740"/>
            <a:ext cx="320040" cy="320040"/>
          </a:xfrm>
          <a:prstGeom prst="rect">
            <a:avLst/>
          </a:prstGeom>
        </p:spPr>
      </p:pic>
      <p:sp>
        <p:nvSpPr>
          <p:cNvPr id="12" name="Text 8"/>
          <p:cNvSpPr txBox="1"/>
          <p:nvPr/>
        </p:nvSpPr>
        <p:spPr>
          <a:xfrm>
            <a:off x="3474720" y="1920240"/>
            <a:ext cx="2194560" cy="320040"/>
          </a:xfrm>
          <a:prstGeom prst="rect">
            <a:avLst/>
          </a:prstGeom>
          <a:noFill/>
          <a:ln/>
        </p:spPr>
        <p:txBody>
          <a:bodyPr wrap="square" lIns="0" tIns="0" rIns="0" bIns="0" rtlCol="0" anchor="ctr"/>
          <a:lstStyle/>
          <a:p>
            <a:pPr marL="0" indent="0" algn="ctr">
              <a:buNone/>
            </a:pPr>
            <a:r>
              <a:rPr lang="en-US" sz="1430" b="1" dirty="0">
                <a:solidFill>
                  <a:srgbClr val="1E3A6B"/>
                </a:solidFill>
                <a:latin typeface="Calibri" pitchFamily="34" charset="0"/>
                <a:ea typeface="Calibri" pitchFamily="34" charset="-122"/>
                <a:cs typeface="Calibri" pitchFamily="34" charset="-120"/>
              </a:rPr>
              <a:t>02  Model</a:t>
            </a:r>
            <a:endParaRPr lang="en-US" sz="1430" dirty="0"/>
          </a:p>
        </p:txBody>
      </p:sp>
      <p:sp>
        <p:nvSpPr>
          <p:cNvPr id="13" name="Text 9"/>
          <p:cNvSpPr txBox="1"/>
          <p:nvPr/>
        </p:nvSpPr>
        <p:spPr>
          <a:xfrm>
            <a:off x="3566160" y="2286000"/>
            <a:ext cx="2011680" cy="914400"/>
          </a:xfrm>
          <a:prstGeom prst="rect">
            <a:avLst/>
          </a:prstGeom>
          <a:noFill/>
          <a:ln/>
        </p:spPr>
        <p:txBody>
          <a:bodyPr wrap="square" lIns="0" tIns="0" rIns="0" bIns="0" rtlCol="0" anchor="t"/>
          <a:lstStyle/>
          <a:p>
            <a:pPr marL="0" indent="0" algn="ctr">
              <a:buNone/>
            </a:pPr>
            <a:r>
              <a:rPr lang="en-US" sz="1100" dirty="0">
                <a:solidFill>
                  <a:srgbClr val="3F5278"/>
                </a:solidFill>
                <a:latin typeface="Calibri" pitchFamily="34" charset="0"/>
                <a:ea typeface="Calibri" pitchFamily="34" charset="-122"/>
                <a:cs typeface="Calibri" pitchFamily="34" charset="-120"/>
              </a:rPr>
              <a:t>Linear Regression calculates damage using trained coefficients</a:t>
            </a:r>
            <a:endParaRPr lang="en-US" sz="1100" dirty="0"/>
          </a:p>
        </p:txBody>
      </p:sp>
      <p:sp>
        <p:nvSpPr>
          <p:cNvPr id="14" name="arrow"/>
          <p:cNvSpPr/>
          <p:nvPr/>
        </p:nvSpPr>
        <p:spPr>
          <a:xfrm>
            <a:off x="5870448" y="2057400"/>
            <a:ext cx="420624" cy="237744"/>
          </a:xfrm>
          <a:prstGeom prst="rightArrow">
            <a:avLst/>
          </a:prstGeom>
          <a:solidFill>
            <a:srgbClr val="2762A8">
              <a:alpha val="85000"/>
            </a:srgbClr>
          </a:solidFill>
          <a:ln w="12700">
            <a:solidFill>
              <a:srgbClr val="2762A8"/>
            </a:solidFill>
            <a:prstDash val="solid"/>
          </a:ln>
        </p:spPr>
      </p:sp>
      <p:sp>
        <p:nvSpPr>
          <p:cNvPr id="15" name="card"/>
          <p:cNvSpPr/>
          <p:nvPr/>
        </p:nvSpPr>
        <p:spPr>
          <a:xfrm>
            <a:off x="6400800" y="1005840"/>
            <a:ext cx="2377440" cy="2286000"/>
          </a:xfrm>
          <a:prstGeom prst="roundRect">
            <a:avLst>
              <a:gd name="adj" fmla="val 4000"/>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16" name="iconcircle"/>
          <p:cNvSpPr/>
          <p:nvPr/>
        </p:nvSpPr>
        <p:spPr>
          <a:xfrm>
            <a:off x="7269480" y="1188720"/>
            <a:ext cx="640080" cy="640080"/>
          </a:xfrm>
          <a:prstGeom prst="ellipse">
            <a:avLst/>
          </a:prstGeom>
          <a:solidFill>
            <a:srgbClr val="2EA995"/>
          </a:solidFill>
          <a:ln w="12700">
            <a:solidFill>
              <a:srgbClr val="2EA995"/>
            </a:solidFill>
            <a:prstDash val="solid"/>
          </a:ln>
        </p:spPr>
      </p:sp>
      <p:pic>
        <p:nvPicPr>
          <p:cNvPr id="17" name="Image 2" descr="FaChartBar"/>
          <p:cNvPicPr>
            <a:picLocks noChangeAspect="1"/>
          </p:cNvPicPr>
          <p:nvPr/>
        </p:nvPicPr>
        <p:blipFill>
          <a:blip r:embed="rId5"/>
          <a:stretch>
            <a:fillRect/>
          </a:stretch>
        </p:blipFill>
        <p:spPr>
          <a:xfrm>
            <a:off x="7429500" y="1348740"/>
            <a:ext cx="320040" cy="320040"/>
          </a:xfrm>
          <a:prstGeom prst="rect">
            <a:avLst/>
          </a:prstGeom>
        </p:spPr>
      </p:pic>
      <p:sp>
        <p:nvSpPr>
          <p:cNvPr id="18" name="Text 13"/>
          <p:cNvSpPr txBox="1"/>
          <p:nvPr/>
        </p:nvSpPr>
        <p:spPr>
          <a:xfrm>
            <a:off x="6492240" y="1920240"/>
            <a:ext cx="2194560" cy="320040"/>
          </a:xfrm>
          <a:prstGeom prst="rect">
            <a:avLst/>
          </a:prstGeom>
          <a:noFill/>
          <a:ln/>
        </p:spPr>
        <p:txBody>
          <a:bodyPr wrap="square" lIns="0" tIns="0" rIns="0" bIns="0" rtlCol="0" anchor="ctr"/>
          <a:lstStyle/>
          <a:p>
            <a:pPr marL="0" indent="0" algn="ctr">
              <a:buNone/>
            </a:pPr>
            <a:r>
              <a:rPr lang="en-US" sz="1430" b="1" dirty="0">
                <a:solidFill>
                  <a:srgbClr val="1E3A6B"/>
                </a:solidFill>
                <a:latin typeface="Calibri" pitchFamily="34" charset="0"/>
                <a:ea typeface="Calibri" pitchFamily="34" charset="-122"/>
                <a:cs typeface="Calibri" pitchFamily="34" charset="-120"/>
              </a:rPr>
              <a:t>03  Output</a:t>
            </a:r>
            <a:endParaRPr lang="en-US" sz="1430" dirty="0"/>
          </a:p>
        </p:txBody>
      </p:sp>
      <p:sp>
        <p:nvSpPr>
          <p:cNvPr id="19" name="Text 14"/>
          <p:cNvSpPr txBox="1"/>
          <p:nvPr/>
        </p:nvSpPr>
        <p:spPr>
          <a:xfrm>
            <a:off x="6583680" y="2286000"/>
            <a:ext cx="2011680" cy="914400"/>
          </a:xfrm>
          <a:prstGeom prst="rect">
            <a:avLst/>
          </a:prstGeom>
          <a:noFill/>
          <a:ln/>
        </p:spPr>
        <p:txBody>
          <a:bodyPr wrap="square" lIns="0" tIns="0" rIns="0" bIns="0" rtlCol="0" anchor="t"/>
          <a:lstStyle/>
          <a:p>
            <a:pPr marL="0" indent="0" algn="ctr">
              <a:buNone/>
            </a:pPr>
            <a:r>
              <a:rPr lang="en-US" sz="1100" dirty="0">
                <a:solidFill>
                  <a:srgbClr val="3F5278"/>
                </a:solidFill>
                <a:latin typeface="Calibri" pitchFamily="34" charset="0"/>
                <a:ea typeface="Calibri" pitchFamily="34" charset="-122"/>
                <a:cs typeface="Calibri" pitchFamily="34" charset="-120"/>
              </a:rPr>
              <a:t>Shows Annual Damage %, Risk Level &amp; biggest culprit food</a:t>
            </a:r>
            <a:endParaRPr lang="en-US" sz="1100" dirty="0"/>
          </a:p>
        </p:txBody>
      </p:sp>
      <p:sp>
        <p:nvSpPr>
          <p:cNvPr id="20" name="banner"/>
          <p:cNvSpPr/>
          <p:nvPr/>
        </p:nvSpPr>
        <p:spPr>
          <a:xfrm>
            <a:off x="365760" y="3611880"/>
            <a:ext cx="8412480" cy="548640"/>
          </a:xfrm>
          <a:prstGeom prst="roundRect">
            <a:avLst>
              <a:gd name="adj" fmla="val 13333"/>
            </a:avLst>
          </a:prstGeom>
          <a:solidFill>
            <a:srgbClr val="FFFFFF">
              <a:alpha val="85000"/>
            </a:srgbClr>
          </a:solidFill>
          <a:ln w="12700">
            <a:solidFill>
              <a:srgbClr val="2762A8">
                <a:alpha val="85000"/>
              </a:srgbClr>
            </a:solidFill>
            <a:prstDash val="solid"/>
          </a:ln>
          <a:effectLst>
            <a:outerShdw blurRad="76200" dist="25400" dir="5400000" algn="bl" rotWithShape="0">
              <a:srgbClr val="1E3A6B">
                <a:alpha val="12000"/>
              </a:srgbClr>
            </a:outerShdw>
          </a:effectLst>
        </p:spPr>
      </p:sp>
      <p:sp>
        <p:nvSpPr>
          <p:cNvPr id="21" name="Text 16"/>
          <p:cNvSpPr txBox="1"/>
          <p:nvPr/>
        </p:nvSpPr>
        <p:spPr>
          <a:xfrm>
            <a:off x="548640" y="3611880"/>
            <a:ext cx="8046720" cy="548640"/>
          </a:xfrm>
          <a:prstGeom prst="rect">
            <a:avLst/>
          </a:prstGeom>
          <a:noFill/>
          <a:ln/>
        </p:spPr>
        <p:txBody>
          <a:bodyPr wrap="square" lIns="0" tIns="0" rIns="0" bIns="0" rtlCol="0" anchor="ctr"/>
          <a:lstStyle/>
          <a:p>
            <a:pPr marL="0" indent="0">
              <a:buNone/>
            </a:pPr>
            <a:r>
              <a:rPr lang="en-US" sz="1160" b="1" dirty="0">
                <a:solidFill>
                  <a:srgbClr val="1E3A6B"/>
                </a:solidFill>
                <a:latin typeface="Calibri" pitchFamily="34" charset="0"/>
                <a:ea typeface="Calibri" pitchFamily="34" charset="-122"/>
                <a:cs typeface="Calibri" pitchFamily="34" charset="-120"/>
              </a:rPr>
              <a:t>A simple ML tool that predicts yearly body damage from Indian street food habits.</a:t>
            </a:r>
            <a:endParaRPr lang="en-US" sz="1160" dirty="0"/>
          </a:p>
        </p:txBody>
      </p:sp>
      <p:sp>
        <p:nvSpPr>
          <p:cNvPr id="25" name="Slide Number Placeholder 0"/>
          <p:cNvSpPr>
            <a:spLocks noGrp="1"/>
          </p:cNvSpPr>
          <p:nvPr>
            <p:ph type="sldNum" sz="quarter" idx="4294967295"/>
          </p:nvPr>
        </p:nvSpPr>
        <p:spPr>
          <a:xfrm>
            <a:off x="832104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46587D"/>
                </a:solidFill>
                <a:latin typeface="Calibri"/>
                <a:ea typeface="Calibri"/>
                <a:cs typeface="Calibri"/>
              </a:defRPr>
            </a:lvl1pPr>
          </a:lstStyle>
          <a:p>
            <a:pPr algn="r"/>
            <a:fld id="{F7021451-1387-4CA6-816F-3879F97B5CBC}" type="slidenum">
              <a:rPr lang="en-US" b="0"/>
              <a:pPr algn="r"/>
              <a:t>3</a:t>
            </a:fld>
            <a:endParaRPr lang="en-US"/>
          </a:p>
        </p:txBody>
      </p:sp>
    </p:spTree>
  </p:cSld>
  <p:clrMapOvr>
    <a:masterClrMapping/>
  </p:clrMapOvr>
  <p:transition spd="med">
    <p:split orient="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p:nvPr>
        </p:nvSpPr>
        <p:spPr>
          <a:xfrm>
            <a:off x="365760" y="201168"/>
            <a:ext cx="8412480" cy="548640"/>
          </a:xfrm>
          <a:prstGeom prst="rect">
            <a:avLst/>
          </a:prstGeom>
          <a:noFill/>
          <a:ln/>
        </p:spPr>
        <p:txBody>
          <a:bodyPr wrap="square" lIns="0" tIns="0" rIns="0" bIns="0" rtlCol="0" anchor="ctr"/>
          <a:lstStyle/>
          <a:p>
            <a:pPr marL="0" indent="0" algn="l">
              <a:buNone/>
            </a:pPr>
            <a:r>
              <a:rPr lang="en-US" sz="2400" b="1" dirty="0">
                <a:solidFill>
                  <a:srgbClr val="1E3A6B"/>
                </a:solidFill>
                <a:latin typeface="Calibri" pitchFamily="34" charset="0"/>
                <a:ea typeface="Calibri" pitchFamily="34" charset="-122"/>
                <a:cs typeface="Calibri" pitchFamily="34" charset="-120"/>
              </a:rPr>
              <a:t>What Junk Food Does to Your Body</a:t>
            </a:r>
            <a:endParaRPr lang="en-US" sz="2400" dirty="0"/>
          </a:p>
        </p:txBody>
      </p:sp>
      <p:sp>
        <p:nvSpPr>
          <p:cNvPr id="3" name="card"/>
          <p:cNvSpPr/>
          <p:nvPr/>
        </p:nvSpPr>
        <p:spPr>
          <a:xfrm>
            <a:off x="365760" y="1005840"/>
            <a:ext cx="4114800" cy="1371600"/>
          </a:xfrm>
          <a:prstGeom prst="roundRect">
            <a:avLst>
              <a:gd name="adj" fmla="val 6667"/>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4" name="iconcircle"/>
          <p:cNvSpPr/>
          <p:nvPr/>
        </p:nvSpPr>
        <p:spPr>
          <a:xfrm>
            <a:off x="594360" y="1371600"/>
            <a:ext cx="640080" cy="640080"/>
          </a:xfrm>
          <a:prstGeom prst="ellipse">
            <a:avLst/>
          </a:prstGeom>
          <a:solidFill>
            <a:srgbClr val="E76F51"/>
          </a:solidFill>
          <a:ln w="12700">
            <a:solidFill>
              <a:srgbClr val="E76F51"/>
            </a:solidFill>
            <a:prstDash val="solid"/>
          </a:ln>
        </p:spPr>
      </p:sp>
      <p:pic>
        <p:nvPicPr>
          <p:cNvPr id="5" name="Image 0" descr="FaHeartbeat"/>
          <p:cNvPicPr>
            <a:picLocks noChangeAspect="1"/>
          </p:cNvPicPr>
          <p:nvPr/>
        </p:nvPicPr>
        <p:blipFill>
          <a:blip r:embed="rId3"/>
          <a:stretch>
            <a:fillRect/>
          </a:stretch>
        </p:blipFill>
        <p:spPr>
          <a:xfrm>
            <a:off x="754380" y="1531620"/>
            <a:ext cx="320040" cy="320040"/>
          </a:xfrm>
          <a:prstGeom prst="rect">
            <a:avLst/>
          </a:prstGeom>
        </p:spPr>
      </p:pic>
      <p:sp>
        <p:nvSpPr>
          <p:cNvPr id="6" name="Text 3"/>
          <p:cNvSpPr txBox="1"/>
          <p:nvPr/>
        </p:nvSpPr>
        <p:spPr>
          <a:xfrm>
            <a:off x="1417320" y="1143000"/>
            <a:ext cx="2926080" cy="320040"/>
          </a:xfrm>
          <a:prstGeom prst="rect">
            <a:avLst/>
          </a:prstGeom>
          <a:noFill/>
          <a:ln/>
        </p:spPr>
        <p:txBody>
          <a:bodyPr wrap="square" lIns="0" tIns="0" rIns="0" bIns="0" rtlCol="0" anchor="ctr"/>
          <a:lstStyle/>
          <a:p>
            <a:pPr marL="0" indent="0">
              <a:buNone/>
            </a:pPr>
            <a:r>
              <a:rPr lang="en-US" sz="1380" b="1" dirty="0">
                <a:solidFill>
                  <a:srgbClr val="1E3A6B"/>
                </a:solidFill>
                <a:latin typeface="Calibri" pitchFamily="34" charset="0"/>
                <a:ea typeface="Calibri" pitchFamily="34" charset="-122"/>
                <a:cs typeface="Calibri" pitchFamily="34" charset="-120"/>
              </a:rPr>
              <a:t>Heart Risk</a:t>
            </a:r>
            <a:endParaRPr lang="en-US" sz="1380" dirty="0"/>
          </a:p>
        </p:txBody>
      </p:sp>
      <p:sp>
        <p:nvSpPr>
          <p:cNvPr id="7" name="Text 4"/>
          <p:cNvSpPr txBox="1"/>
          <p:nvPr/>
        </p:nvSpPr>
        <p:spPr>
          <a:xfrm>
            <a:off x="1417320" y="1481328"/>
            <a:ext cx="2926080" cy="777240"/>
          </a:xfrm>
          <a:prstGeom prst="rect">
            <a:avLst/>
          </a:prstGeom>
          <a:noFill/>
          <a:ln/>
        </p:spPr>
        <p:txBody>
          <a:bodyPr wrap="square" lIns="0" tIns="0" rIns="0" bIns="0" rtlCol="0" anchor="t"/>
          <a:lstStyle/>
          <a:p>
            <a:pPr marL="0" indent="0">
              <a:buNone/>
            </a:pPr>
            <a:r>
              <a:rPr lang="en-US" sz="1050" dirty="0">
                <a:solidFill>
                  <a:srgbClr val="3F5278"/>
                </a:solidFill>
                <a:latin typeface="Calibri" pitchFamily="34" charset="0"/>
                <a:ea typeface="Calibri" pitchFamily="34" charset="-122"/>
                <a:cs typeface="Calibri" pitchFamily="34" charset="-120"/>
              </a:rPr>
              <a:t>Too much oil &amp; trans fat raises bad cholesterol and can block arteries over time.</a:t>
            </a:r>
            <a:endParaRPr lang="en-US" sz="1050" dirty="0"/>
          </a:p>
        </p:txBody>
      </p:sp>
      <p:sp>
        <p:nvSpPr>
          <p:cNvPr id="8" name="card"/>
          <p:cNvSpPr/>
          <p:nvPr/>
        </p:nvSpPr>
        <p:spPr>
          <a:xfrm>
            <a:off x="4663440" y="1005840"/>
            <a:ext cx="4114800" cy="1371600"/>
          </a:xfrm>
          <a:prstGeom prst="roundRect">
            <a:avLst>
              <a:gd name="adj" fmla="val 6667"/>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9" name="iconcircle"/>
          <p:cNvSpPr/>
          <p:nvPr/>
        </p:nvSpPr>
        <p:spPr>
          <a:xfrm>
            <a:off x="4892040" y="1371600"/>
            <a:ext cx="640080" cy="640080"/>
          </a:xfrm>
          <a:prstGeom prst="ellipse">
            <a:avLst/>
          </a:prstGeom>
          <a:solidFill>
            <a:srgbClr val="D9870B"/>
          </a:solidFill>
          <a:ln w="12700">
            <a:solidFill>
              <a:srgbClr val="D9870B"/>
            </a:solidFill>
            <a:prstDash val="solid"/>
          </a:ln>
        </p:spPr>
      </p:sp>
      <p:pic>
        <p:nvPicPr>
          <p:cNvPr id="10" name="Image 1" descr="FaWeight"/>
          <p:cNvPicPr>
            <a:picLocks noChangeAspect="1"/>
          </p:cNvPicPr>
          <p:nvPr/>
        </p:nvPicPr>
        <p:blipFill>
          <a:blip r:embed="rId4"/>
          <a:stretch>
            <a:fillRect/>
          </a:stretch>
        </p:blipFill>
        <p:spPr>
          <a:xfrm>
            <a:off x="5052060" y="1531620"/>
            <a:ext cx="320040" cy="320040"/>
          </a:xfrm>
          <a:prstGeom prst="rect">
            <a:avLst/>
          </a:prstGeom>
        </p:spPr>
      </p:pic>
      <p:sp>
        <p:nvSpPr>
          <p:cNvPr id="11" name="Text 7"/>
          <p:cNvSpPr txBox="1"/>
          <p:nvPr/>
        </p:nvSpPr>
        <p:spPr>
          <a:xfrm>
            <a:off x="5715000" y="1143000"/>
            <a:ext cx="2926080" cy="320040"/>
          </a:xfrm>
          <a:prstGeom prst="rect">
            <a:avLst/>
          </a:prstGeom>
          <a:noFill/>
          <a:ln/>
        </p:spPr>
        <p:txBody>
          <a:bodyPr wrap="square" lIns="0" tIns="0" rIns="0" bIns="0" rtlCol="0" anchor="ctr"/>
          <a:lstStyle/>
          <a:p>
            <a:pPr marL="0" indent="0">
              <a:buNone/>
            </a:pPr>
            <a:r>
              <a:rPr lang="en-US" sz="1380" b="1" dirty="0">
                <a:solidFill>
                  <a:srgbClr val="1E3A6B"/>
                </a:solidFill>
                <a:latin typeface="Calibri" pitchFamily="34" charset="0"/>
                <a:ea typeface="Calibri" pitchFamily="34" charset="-122"/>
                <a:cs typeface="Calibri" pitchFamily="34" charset="-120"/>
              </a:rPr>
              <a:t>Weight Gain</a:t>
            </a:r>
            <a:endParaRPr lang="en-US" sz="1380" dirty="0"/>
          </a:p>
        </p:txBody>
      </p:sp>
      <p:sp>
        <p:nvSpPr>
          <p:cNvPr id="12" name="Text 8"/>
          <p:cNvSpPr txBox="1"/>
          <p:nvPr/>
        </p:nvSpPr>
        <p:spPr>
          <a:xfrm>
            <a:off x="5715000" y="1481328"/>
            <a:ext cx="2926080" cy="777240"/>
          </a:xfrm>
          <a:prstGeom prst="rect">
            <a:avLst/>
          </a:prstGeom>
          <a:noFill/>
          <a:ln/>
        </p:spPr>
        <p:txBody>
          <a:bodyPr wrap="square" lIns="0" tIns="0" rIns="0" bIns="0" rtlCol="0" anchor="t"/>
          <a:lstStyle/>
          <a:p>
            <a:pPr marL="0" indent="0">
              <a:buNone/>
            </a:pPr>
            <a:r>
              <a:rPr lang="en-US" sz="1050" dirty="0">
                <a:solidFill>
                  <a:srgbClr val="3F5278"/>
                </a:solidFill>
                <a:latin typeface="Calibri" pitchFamily="34" charset="0"/>
                <a:ea typeface="Calibri" pitchFamily="34" charset="-122"/>
                <a:cs typeface="Calibri" pitchFamily="34" charset="-120"/>
              </a:rPr>
              <a:t>High calories, low fibre. Easy to overeat, and the body stores the extra as fat.</a:t>
            </a:r>
            <a:endParaRPr lang="en-US" sz="1050" dirty="0"/>
          </a:p>
        </p:txBody>
      </p:sp>
      <p:sp>
        <p:nvSpPr>
          <p:cNvPr id="13" name="card"/>
          <p:cNvSpPr/>
          <p:nvPr/>
        </p:nvSpPr>
        <p:spPr>
          <a:xfrm>
            <a:off x="365760" y="2560320"/>
            <a:ext cx="4114800" cy="1371600"/>
          </a:xfrm>
          <a:prstGeom prst="roundRect">
            <a:avLst>
              <a:gd name="adj" fmla="val 6667"/>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14" name="iconcircle"/>
          <p:cNvSpPr/>
          <p:nvPr/>
        </p:nvSpPr>
        <p:spPr>
          <a:xfrm>
            <a:off x="594360" y="2926080"/>
            <a:ext cx="640080" cy="640080"/>
          </a:xfrm>
          <a:prstGeom prst="ellipse">
            <a:avLst/>
          </a:prstGeom>
          <a:solidFill>
            <a:srgbClr val="D6568C"/>
          </a:solidFill>
          <a:ln w="12700">
            <a:solidFill>
              <a:srgbClr val="D6568C"/>
            </a:solidFill>
            <a:prstDash val="solid"/>
          </a:ln>
        </p:spPr>
      </p:sp>
      <p:pic>
        <p:nvPicPr>
          <p:cNvPr id="15" name="Image 2" descr="FaTint"/>
          <p:cNvPicPr>
            <a:picLocks noChangeAspect="1"/>
          </p:cNvPicPr>
          <p:nvPr/>
        </p:nvPicPr>
        <p:blipFill>
          <a:blip r:embed="rId5"/>
          <a:stretch>
            <a:fillRect/>
          </a:stretch>
        </p:blipFill>
        <p:spPr>
          <a:xfrm>
            <a:off x="754380" y="3086100"/>
            <a:ext cx="320040" cy="320040"/>
          </a:xfrm>
          <a:prstGeom prst="rect">
            <a:avLst/>
          </a:prstGeom>
        </p:spPr>
      </p:pic>
      <p:sp>
        <p:nvSpPr>
          <p:cNvPr id="16" name="Text 11"/>
          <p:cNvSpPr txBox="1"/>
          <p:nvPr/>
        </p:nvSpPr>
        <p:spPr>
          <a:xfrm>
            <a:off x="1417320" y="2697480"/>
            <a:ext cx="2926080" cy="320040"/>
          </a:xfrm>
          <a:prstGeom prst="rect">
            <a:avLst/>
          </a:prstGeom>
          <a:noFill/>
          <a:ln/>
        </p:spPr>
        <p:txBody>
          <a:bodyPr wrap="square" lIns="0" tIns="0" rIns="0" bIns="0" rtlCol="0" anchor="ctr"/>
          <a:lstStyle/>
          <a:p>
            <a:pPr marL="0" indent="0">
              <a:buNone/>
            </a:pPr>
            <a:r>
              <a:rPr lang="en-US" sz="1380" b="1" dirty="0">
                <a:solidFill>
                  <a:srgbClr val="1E3A6B"/>
                </a:solidFill>
                <a:latin typeface="Calibri" pitchFamily="34" charset="0"/>
                <a:ea typeface="Calibri" pitchFamily="34" charset="-122"/>
                <a:cs typeface="Calibri" pitchFamily="34" charset="-120"/>
              </a:rPr>
              <a:t>Sugar Spikes</a:t>
            </a:r>
            <a:endParaRPr lang="en-US" sz="1380" dirty="0"/>
          </a:p>
        </p:txBody>
      </p:sp>
      <p:sp>
        <p:nvSpPr>
          <p:cNvPr id="17" name="Text 12"/>
          <p:cNvSpPr txBox="1"/>
          <p:nvPr/>
        </p:nvSpPr>
        <p:spPr>
          <a:xfrm>
            <a:off x="1417320" y="3035808"/>
            <a:ext cx="2926080" cy="777240"/>
          </a:xfrm>
          <a:prstGeom prst="rect">
            <a:avLst/>
          </a:prstGeom>
          <a:noFill/>
          <a:ln/>
        </p:spPr>
        <p:txBody>
          <a:bodyPr wrap="square" lIns="0" tIns="0" rIns="0" bIns="0" rtlCol="0" anchor="t"/>
          <a:lstStyle/>
          <a:p>
            <a:pPr marL="0" indent="0">
              <a:buNone/>
            </a:pPr>
            <a:r>
              <a:rPr lang="en-US" sz="1050" dirty="0">
                <a:solidFill>
                  <a:srgbClr val="3F5278"/>
                </a:solidFill>
                <a:latin typeface="Calibri" pitchFamily="34" charset="0"/>
                <a:ea typeface="Calibri" pitchFamily="34" charset="-122"/>
                <a:cs typeface="Calibri" pitchFamily="34" charset="-120"/>
              </a:rPr>
              <a:t>Refined flour &amp; sugar raise blood sugar fast, a risk factor for diabetes.</a:t>
            </a:r>
            <a:endParaRPr lang="en-US" sz="1050" dirty="0"/>
          </a:p>
        </p:txBody>
      </p:sp>
      <p:sp>
        <p:nvSpPr>
          <p:cNvPr id="18" name="card"/>
          <p:cNvSpPr/>
          <p:nvPr/>
        </p:nvSpPr>
        <p:spPr>
          <a:xfrm>
            <a:off x="4663440" y="2560320"/>
            <a:ext cx="4114800" cy="1371600"/>
          </a:xfrm>
          <a:prstGeom prst="roundRect">
            <a:avLst>
              <a:gd name="adj" fmla="val 6667"/>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19" name="iconcircle"/>
          <p:cNvSpPr/>
          <p:nvPr/>
        </p:nvSpPr>
        <p:spPr>
          <a:xfrm>
            <a:off x="4892040" y="2926080"/>
            <a:ext cx="640080" cy="640080"/>
          </a:xfrm>
          <a:prstGeom prst="ellipse">
            <a:avLst/>
          </a:prstGeom>
          <a:solidFill>
            <a:srgbClr val="3B82C4"/>
          </a:solidFill>
          <a:ln w="12700">
            <a:solidFill>
              <a:srgbClr val="3B82C4"/>
            </a:solidFill>
            <a:prstDash val="solid"/>
          </a:ln>
        </p:spPr>
      </p:sp>
      <p:pic>
        <p:nvPicPr>
          <p:cNvPr id="20" name="Image 3" descr="FaTachometerAlt"/>
          <p:cNvPicPr>
            <a:picLocks noChangeAspect="1"/>
          </p:cNvPicPr>
          <p:nvPr/>
        </p:nvPicPr>
        <p:blipFill>
          <a:blip r:embed="rId6"/>
          <a:stretch>
            <a:fillRect/>
          </a:stretch>
        </p:blipFill>
        <p:spPr>
          <a:xfrm>
            <a:off x="5052060" y="3086100"/>
            <a:ext cx="320040" cy="320040"/>
          </a:xfrm>
          <a:prstGeom prst="rect">
            <a:avLst/>
          </a:prstGeom>
        </p:spPr>
      </p:pic>
      <p:sp>
        <p:nvSpPr>
          <p:cNvPr id="21" name="Text 15"/>
          <p:cNvSpPr txBox="1"/>
          <p:nvPr/>
        </p:nvSpPr>
        <p:spPr>
          <a:xfrm>
            <a:off x="5715000" y="2697480"/>
            <a:ext cx="2926080" cy="320040"/>
          </a:xfrm>
          <a:prstGeom prst="rect">
            <a:avLst/>
          </a:prstGeom>
          <a:noFill/>
          <a:ln/>
        </p:spPr>
        <p:txBody>
          <a:bodyPr wrap="square" lIns="0" tIns="0" rIns="0" bIns="0" rtlCol="0" anchor="ctr"/>
          <a:lstStyle/>
          <a:p>
            <a:pPr marL="0" indent="0">
              <a:buNone/>
            </a:pPr>
            <a:r>
              <a:rPr lang="en-US" sz="1380" b="1" dirty="0">
                <a:solidFill>
                  <a:srgbClr val="1E3A6B"/>
                </a:solidFill>
                <a:latin typeface="Calibri" pitchFamily="34" charset="0"/>
                <a:ea typeface="Calibri" pitchFamily="34" charset="-122"/>
                <a:cs typeface="Calibri" pitchFamily="34" charset="-120"/>
              </a:rPr>
              <a:t>High Blood Pressure</a:t>
            </a:r>
            <a:endParaRPr lang="en-US" sz="1380" dirty="0"/>
          </a:p>
        </p:txBody>
      </p:sp>
      <p:sp>
        <p:nvSpPr>
          <p:cNvPr id="22" name="Text 16"/>
          <p:cNvSpPr txBox="1"/>
          <p:nvPr/>
        </p:nvSpPr>
        <p:spPr>
          <a:xfrm>
            <a:off x="5715000" y="3035808"/>
            <a:ext cx="2926080" cy="777240"/>
          </a:xfrm>
          <a:prstGeom prst="rect">
            <a:avLst/>
          </a:prstGeom>
          <a:noFill/>
          <a:ln/>
        </p:spPr>
        <p:txBody>
          <a:bodyPr wrap="square" lIns="0" tIns="0" rIns="0" bIns="0" rtlCol="0" anchor="t"/>
          <a:lstStyle/>
          <a:p>
            <a:pPr marL="0" indent="0">
              <a:buNone/>
            </a:pPr>
            <a:r>
              <a:rPr lang="en-US" sz="1050" dirty="0">
                <a:solidFill>
                  <a:srgbClr val="3F5278"/>
                </a:solidFill>
                <a:latin typeface="Calibri" pitchFamily="34" charset="0"/>
                <a:ea typeface="Calibri" pitchFamily="34" charset="-122"/>
                <a:cs typeface="Calibri" pitchFamily="34" charset="-120"/>
              </a:rPr>
              <a:t>Too much salt (sodium) in sauces and chutneys pushes blood pressure up.</a:t>
            </a:r>
            <a:endParaRPr lang="en-US" sz="1050" dirty="0"/>
          </a:p>
        </p:txBody>
      </p:sp>
      <p:sp>
        <p:nvSpPr>
          <p:cNvPr id="23" name="banner"/>
          <p:cNvSpPr/>
          <p:nvPr/>
        </p:nvSpPr>
        <p:spPr>
          <a:xfrm>
            <a:off x="365760" y="4160520"/>
            <a:ext cx="8412480" cy="457200"/>
          </a:xfrm>
          <a:prstGeom prst="roundRect">
            <a:avLst>
              <a:gd name="adj" fmla="val 16000"/>
            </a:avLst>
          </a:prstGeom>
          <a:solidFill>
            <a:srgbClr val="FFFFFF">
              <a:alpha val="85000"/>
            </a:srgbClr>
          </a:solidFill>
          <a:ln w="12700">
            <a:solidFill>
              <a:srgbClr val="D9870B">
                <a:alpha val="85000"/>
              </a:srgbClr>
            </a:solidFill>
            <a:prstDash val="solid"/>
          </a:ln>
          <a:effectLst>
            <a:outerShdw blurRad="76200" dist="25400" dir="5400000" algn="bl" rotWithShape="0">
              <a:srgbClr val="1E3A6B">
                <a:alpha val="12000"/>
              </a:srgbClr>
            </a:outerShdw>
          </a:effectLst>
        </p:spPr>
      </p:sp>
      <p:sp>
        <p:nvSpPr>
          <p:cNvPr id="24" name="Text 18"/>
          <p:cNvSpPr txBox="1"/>
          <p:nvPr/>
        </p:nvSpPr>
        <p:spPr>
          <a:xfrm>
            <a:off x="548640" y="4160520"/>
            <a:ext cx="8046720" cy="457200"/>
          </a:xfrm>
          <a:prstGeom prst="rect">
            <a:avLst/>
          </a:prstGeom>
          <a:noFill/>
          <a:ln/>
        </p:spPr>
        <p:txBody>
          <a:bodyPr wrap="square" lIns="0" tIns="0" rIns="0" bIns="0" rtlCol="0" anchor="ctr"/>
          <a:lstStyle/>
          <a:p>
            <a:pPr marL="0" indent="0">
              <a:buNone/>
            </a:pPr>
            <a:r>
              <a:rPr lang="en-US" sz="1160" b="1" dirty="0">
                <a:solidFill>
                  <a:srgbClr val="1E3A6B"/>
                </a:solidFill>
                <a:latin typeface="Calibri" pitchFamily="34" charset="0"/>
                <a:ea typeface="Calibri" pitchFamily="34" charset="-122"/>
                <a:cs typeface="Calibri" pitchFamily="34" charset="-120"/>
              </a:rPr>
              <a:t>One plate is not the problem. Eating it daily for years is. That is what our model measures.</a:t>
            </a:r>
            <a:endParaRPr lang="en-US" sz="1160" dirty="0"/>
          </a:p>
        </p:txBody>
      </p:sp>
      <p:sp>
        <p:nvSpPr>
          <p:cNvPr id="25" name="Slide Number Placeholder 0"/>
          <p:cNvSpPr>
            <a:spLocks noGrp="1"/>
          </p:cNvSpPr>
          <p:nvPr>
            <p:ph type="sldNum" sz="quarter" idx="4294967295"/>
          </p:nvPr>
        </p:nvSpPr>
        <p:spPr>
          <a:xfrm>
            <a:off x="832104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46587D"/>
                </a:solidFill>
                <a:latin typeface="Calibri"/>
                <a:ea typeface="Calibri"/>
                <a:cs typeface="Calibri"/>
              </a:defRPr>
            </a:lvl1pPr>
          </a:lstStyle>
          <a:p>
            <a:pPr algn="r"/>
            <a:fld id="{F7021451-1387-4CA6-816F-3879F97B5CBC}" type="slidenum">
              <a:rPr lang="en-US" b="0"/>
              <a:pPr algn="r"/>
              <a:t>4</a:t>
            </a:fld>
            <a:endParaRPr lang="en-US"/>
          </a:p>
        </p:txBody>
      </p:sp>
    </p:spTree>
  </p:cSld>
  <p:clrMapOvr>
    <a:masterClrMapping/>
  </p:clrMapOvr>
  <p:transition spd="med">
    <p:split orient="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p:nvPr>
        </p:nvSpPr>
        <p:spPr>
          <a:xfrm>
            <a:off x="365760" y="201168"/>
            <a:ext cx="8412480" cy="548640"/>
          </a:xfrm>
          <a:prstGeom prst="rect">
            <a:avLst/>
          </a:prstGeom>
          <a:noFill/>
          <a:ln/>
        </p:spPr>
        <p:txBody>
          <a:bodyPr wrap="square" lIns="0" tIns="0" rIns="0" bIns="0" rtlCol="0" anchor="ctr"/>
          <a:lstStyle/>
          <a:p>
            <a:pPr marL="0" indent="0" algn="l">
              <a:buNone/>
            </a:pPr>
            <a:r>
              <a:rPr lang="en-US" sz="2400" b="1" dirty="0">
                <a:solidFill>
                  <a:srgbClr val="1E3A6B"/>
                </a:solidFill>
                <a:latin typeface="Calibri" pitchFamily="34" charset="0"/>
                <a:ea typeface="Calibri" pitchFamily="34" charset="-122"/>
                <a:cs typeface="Calibri" pitchFamily="34" charset="-120"/>
              </a:rPr>
              <a:t>What's Inside? Harmful Ingredients</a:t>
            </a:r>
            <a:endParaRPr lang="en-US" sz="2400" dirty="0"/>
          </a:p>
        </p:txBody>
      </p:sp>
      <p:sp>
        <p:nvSpPr>
          <p:cNvPr id="3" name="card"/>
          <p:cNvSpPr/>
          <p:nvPr/>
        </p:nvSpPr>
        <p:spPr>
          <a:xfrm>
            <a:off x="365760" y="1005840"/>
            <a:ext cx="1920240" cy="3108960"/>
          </a:xfrm>
          <a:prstGeom prst="roundRect">
            <a:avLst>
              <a:gd name="adj" fmla="val 4762"/>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4" name="iconcircle"/>
          <p:cNvSpPr/>
          <p:nvPr/>
        </p:nvSpPr>
        <p:spPr>
          <a:xfrm>
            <a:off x="960120" y="1143000"/>
            <a:ext cx="731520" cy="731520"/>
          </a:xfrm>
          <a:prstGeom prst="ellipse">
            <a:avLst/>
          </a:prstGeom>
          <a:solidFill>
            <a:srgbClr val="D9870B"/>
          </a:solidFill>
          <a:ln w="12700">
            <a:solidFill>
              <a:srgbClr val="D9870B"/>
            </a:solidFill>
            <a:prstDash val="solid"/>
          </a:ln>
        </p:spPr>
      </p:sp>
      <p:pic>
        <p:nvPicPr>
          <p:cNvPr id="5" name="Image 0" descr="FaBreadSlice"/>
          <p:cNvPicPr>
            <a:picLocks noChangeAspect="1"/>
          </p:cNvPicPr>
          <p:nvPr/>
        </p:nvPicPr>
        <p:blipFill>
          <a:blip r:embed="rId3"/>
          <a:stretch>
            <a:fillRect/>
          </a:stretch>
        </p:blipFill>
        <p:spPr>
          <a:xfrm>
            <a:off x="1143000" y="1325880"/>
            <a:ext cx="365760" cy="365760"/>
          </a:xfrm>
          <a:prstGeom prst="rect">
            <a:avLst/>
          </a:prstGeom>
        </p:spPr>
      </p:pic>
      <p:sp>
        <p:nvSpPr>
          <p:cNvPr id="6" name="Text 3"/>
          <p:cNvSpPr txBox="1"/>
          <p:nvPr/>
        </p:nvSpPr>
        <p:spPr>
          <a:xfrm>
            <a:off x="457200" y="1965960"/>
            <a:ext cx="1737360" cy="457200"/>
          </a:xfrm>
          <a:prstGeom prst="rect">
            <a:avLst/>
          </a:prstGeom>
          <a:noFill/>
          <a:ln/>
        </p:spPr>
        <p:txBody>
          <a:bodyPr wrap="square" lIns="0" tIns="0" rIns="0" bIns="0" rtlCol="0" anchor="ctr"/>
          <a:lstStyle/>
          <a:p>
            <a:pPr marL="0" indent="0" algn="ctr">
              <a:buNone/>
            </a:pPr>
            <a:r>
              <a:rPr lang="en-US" sz="1160" b="1" dirty="0">
                <a:solidFill>
                  <a:srgbClr val="1E3A6B"/>
                </a:solidFill>
                <a:latin typeface="Calibri" pitchFamily="34" charset="0"/>
                <a:ea typeface="Calibri" pitchFamily="34" charset="-122"/>
                <a:cs typeface="Calibri" pitchFamily="34" charset="-120"/>
              </a:rPr>
              <a:t>Refined Flour (Maida)</a:t>
            </a:r>
            <a:endParaRPr lang="en-US" sz="1160" dirty="0"/>
          </a:p>
        </p:txBody>
      </p:sp>
      <p:sp>
        <p:nvSpPr>
          <p:cNvPr id="7" name="Text 4"/>
          <p:cNvSpPr txBox="1"/>
          <p:nvPr/>
        </p:nvSpPr>
        <p:spPr>
          <a:xfrm>
            <a:off x="502920" y="2468880"/>
            <a:ext cx="1645920" cy="868680"/>
          </a:xfrm>
          <a:prstGeom prst="rect">
            <a:avLst/>
          </a:prstGeom>
          <a:noFill/>
          <a:ln/>
        </p:spPr>
        <p:txBody>
          <a:bodyPr wrap="square" lIns="0" tIns="0" rIns="0" bIns="0" rtlCol="0" anchor="t"/>
          <a:lstStyle/>
          <a:p>
            <a:pPr marL="0" indent="0" algn="ctr">
              <a:buNone/>
            </a:pPr>
            <a:r>
              <a:rPr lang="en-US" sz="1050" dirty="0">
                <a:solidFill>
                  <a:srgbClr val="3F5278"/>
                </a:solidFill>
                <a:latin typeface="Calibri" pitchFamily="34" charset="0"/>
                <a:ea typeface="Calibri" pitchFamily="34" charset="-122"/>
                <a:cs typeface="Calibri" pitchFamily="34" charset="-120"/>
              </a:rPr>
              <a:t>Fibre is removed, so it digests fast and spikes blood sugar.</a:t>
            </a:r>
            <a:endParaRPr lang="en-US" sz="1050" dirty="0"/>
          </a:p>
        </p:txBody>
      </p:sp>
      <p:sp>
        <p:nvSpPr>
          <p:cNvPr id="8" name="Shape 5"/>
          <p:cNvSpPr/>
          <p:nvPr/>
        </p:nvSpPr>
        <p:spPr>
          <a:xfrm>
            <a:off x="548640" y="3383280"/>
            <a:ext cx="1554480" cy="0"/>
          </a:xfrm>
          <a:prstGeom prst="line">
            <a:avLst/>
          </a:prstGeom>
          <a:noFill/>
          <a:ln w="9525">
            <a:solidFill>
              <a:srgbClr val="8AA4C8">
                <a:alpha val="70000"/>
              </a:srgbClr>
            </a:solidFill>
            <a:prstDash val="solid"/>
          </a:ln>
        </p:spPr>
      </p:sp>
      <p:sp>
        <p:nvSpPr>
          <p:cNvPr id="9" name="Text 6"/>
          <p:cNvSpPr txBox="1"/>
          <p:nvPr/>
        </p:nvSpPr>
        <p:spPr>
          <a:xfrm>
            <a:off x="457200" y="3429000"/>
            <a:ext cx="1737360" cy="201168"/>
          </a:xfrm>
          <a:prstGeom prst="rect">
            <a:avLst/>
          </a:prstGeom>
          <a:noFill/>
          <a:ln/>
        </p:spPr>
        <p:txBody>
          <a:bodyPr wrap="square" lIns="0" tIns="0" rIns="0" bIns="0" rtlCol="0" anchor="ctr"/>
          <a:lstStyle/>
          <a:p>
            <a:pPr marL="0" indent="0" algn="ctr">
              <a:buNone/>
            </a:pPr>
            <a:r>
              <a:rPr lang="en-US" sz="830" b="1" kern="0" spc="100" dirty="0">
                <a:solidFill>
                  <a:srgbClr val="D9870B"/>
                </a:solidFill>
                <a:latin typeface="Calibri" pitchFamily="34" charset="0"/>
                <a:ea typeface="Calibri" pitchFamily="34" charset="-122"/>
                <a:cs typeface="Calibri" pitchFamily="34" charset="-120"/>
              </a:rPr>
              <a:t>FOUND IN</a:t>
            </a:r>
            <a:endParaRPr lang="en-US" sz="830" dirty="0"/>
          </a:p>
        </p:txBody>
      </p:sp>
      <p:sp>
        <p:nvSpPr>
          <p:cNvPr id="10" name="Text 7"/>
          <p:cNvSpPr txBox="1"/>
          <p:nvPr/>
        </p:nvSpPr>
        <p:spPr>
          <a:xfrm>
            <a:off x="457200" y="3630168"/>
            <a:ext cx="1737360" cy="411480"/>
          </a:xfrm>
          <a:prstGeom prst="rect">
            <a:avLst/>
          </a:prstGeom>
          <a:noFill/>
          <a:ln/>
        </p:spPr>
        <p:txBody>
          <a:bodyPr wrap="square" lIns="0" tIns="0" rIns="0" bIns="0" rtlCol="0" anchor="t"/>
          <a:lstStyle/>
          <a:p>
            <a:pPr marL="0" indent="0" algn="ctr">
              <a:buNone/>
            </a:pPr>
            <a:r>
              <a:rPr lang="en-US" sz="990" dirty="0">
                <a:solidFill>
                  <a:srgbClr val="1E3A6B"/>
                </a:solidFill>
                <a:latin typeface="Calibri" pitchFamily="34" charset="0"/>
                <a:ea typeface="Calibri" pitchFamily="34" charset="-122"/>
                <a:cs typeface="Calibri" pitchFamily="34" charset="-120"/>
              </a:rPr>
              <a:t>Samosa, momo, noodles</a:t>
            </a:r>
            <a:endParaRPr lang="en-US" sz="990" dirty="0"/>
          </a:p>
        </p:txBody>
      </p:sp>
      <p:sp>
        <p:nvSpPr>
          <p:cNvPr id="11" name="card"/>
          <p:cNvSpPr/>
          <p:nvPr/>
        </p:nvSpPr>
        <p:spPr>
          <a:xfrm>
            <a:off x="2532888" y="1005840"/>
            <a:ext cx="1920240" cy="3108960"/>
          </a:xfrm>
          <a:prstGeom prst="roundRect">
            <a:avLst>
              <a:gd name="adj" fmla="val 4762"/>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12" name="iconcircle"/>
          <p:cNvSpPr/>
          <p:nvPr/>
        </p:nvSpPr>
        <p:spPr>
          <a:xfrm>
            <a:off x="3127248" y="1143000"/>
            <a:ext cx="731520" cy="731520"/>
          </a:xfrm>
          <a:prstGeom prst="ellipse">
            <a:avLst/>
          </a:prstGeom>
          <a:solidFill>
            <a:srgbClr val="E76F51"/>
          </a:solidFill>
          <a:ln w="12700">
            <a:solidFill>
              <a:srgbClr val="E76F51"/>
            </a:solidFill>
            <a:prstDash val="solid"/>
          </a:ln>
        </p:spPr>
      </p:sp>
      <p:pic>
        <p:nvPicPr>
          <p:cNvPr id="13" name="Image 1" descr="FaOilCan"/>
          <p:cNvPicPr>
            <a:picLocks noChangeAspect="1"/>
          </p:cNvPicPr>
          <p:nvPr/>
        </p:nvPicPr>
        <p:blipFill>
          <a:blip r:embed="rId4"/>
          <a:stretch>
            <a:fillRect/>
          </a:stretch>
        </p:blipFill>
        <p:spPr>
          <a:xfrm>
            <a:off x="3310128" y="1325880"/>
            <a:ext cx="365760" cy="365760"/>
          </a:xfrm>
          <a:prstGeom prst="rect">
            <a:avLst/>
          </a:prstGeom>
        </p:spPr>
      </p:pic>
      <p:sp>
        <p:nvSpPr>
          <p:cNvPr id="14" name="Text 10"/>
          <p:cNvSpPr txBox="1"/>
          <p:nvPr/>
        </p:nvSpPr>
        <p:spPr>
          <a:xfrm>
            <a:off x="2624328" y="1965960"/>
            <a:ext cx="1737360" cy="457200"/>
          </a:xfrm>
          <a:prstGeom prst="rect">
            <a:avLst/>
          </a:prstGeom>
          <a:noFill/>
          <a:ln/>
        </p:spPr>
        <p:txBody>
          <a:bodyPr wrap="square" lIns="0" tIns="0" rIns="0" bIns="0" rtlCol="0" anchor="ctr"/>
          <a:lstStyle/>
          <a:p>
            <a:pPr marL="0" indent="0" algn="ctr">
              <a:buNone/>
            </a:pPr>
            <a:r>
              <a:rPr lang="en-US" sz="1160" b="1" dirty="0">
                <a:solidFill>
                  <a:srgbClr val="1E3A6B"/>
                </a:solidFill>
                <a:latin typeface="Calibri" pitchFamily="34" charset="0"/>
                <a:ea typeface="Calibri" pitchFamily="34" charset="-122"/>
                <a:cs typeface="Calibri" pitchFamily="34" charset="-120"/>
              </a:rPr>
              <a:t>Reused Frying Oil</a:t>
            </a:r>
            <a:endParaRPr lang="en-US" sz="1160" dirty="0"/>
          </a:p>
        </p:txBody>
      </p:sp>
      <p:sp>
        <p:nvSpPr>
          <p:cNvPr id="15" name="Text 11"/>
          <p:cNvSpPr txBox="1"/>
          <p:nvPr/>
        </p:nvSpPr>
        <p:spPr>
          <a:xfrm>
            <a:off x="2670048" y="2468880"/>
            <a:ext cx="1645920" cy="868680"/>
          </a:xfrm>
          <a:prstGeom prst="rect">
            <a:avLst/>
          </a:prstGeom>
          <a:noFill/>
          <a:ln/>
        </p:spPr>
        <p:txBody>
          <a:bodyPr wrap="square" lIns="0" tIns="0" rIns="0" bIns="0" rtlCol="0" anchor="t"/>
          <a:lstStyle/>
          <a:p>
            <a:pPr marL="0" indent="0" algn="ctr">
              <a:buNone/>
            </a:pPr>
            <a:r>
              <a:rPr lang="en-US" sz="1050" dirty="0">
                <a:solidFill>
                  <a:srgbClr val="3F5278"/>
                </a:solidFill>
                <a:latin typeface="Calibri" pitchFamily="34" charset="0"/>
                <a:ea typeface="Calibri" pitchFamily="34" charset="-122"/>
                <a:cs typeface="Calibri" pitchFamily="34" charset="-120"/>
              </a:rPr>
              <a:t>Oil heated again and again forms trans fats that harm the heart.</a:t>
            </a:r>
            <a:endParaRPr lang="en-US" sz="1050" dirty="0"/>
          </a:p>
        </p:txBody>
      </p:sp>
      <p:sp>
        <p:nvSpPr>
          <p:cNvPr id="16" name="Shape 12"/>
          <p:cNvSpPr/>
          <p:nvPr/>
        </p:nvSpPr>
        <p:spPr>
          <a:xfrm>
            <a:off x="2715768" y="3383280"/>
            <a:ext cx="1554480" cy="0"/>
          </a:xfrm>
          <a:prstGeom prst="line">
            <a:avLst/>
          </a:prstGeom>
          <a:noFill/>
          <a:ln w="9525">
            <a:solidFill>
              <a:srgbClr val="8AA4C8">
                <a:alpha val="70000"/>
              </a:srgbClr>
            </a:solidFill>
            <a:prstDash val="solid"/>
          </a:ln>
        </p:spPr>
      </p:sp>
      <p:sp>
        <p:nvSpPr>
          <p:cNvPr id="17" name="Text 13"/>
          <p:cNvSpPr txBox="1"/>
          <p:nvPr/>
        </p:nvSpPr>
        <p:spPr>
          <a:xfrm>
            <a:off x="2624328" y="3429000"/>
            <a:ext cx="1737360" cy="201168"/>
          </a:xfrm>
          <a:prstGeom prst="rect">
            <a:avLst/>
          </a:prstGeom>
          <a:noFill/>
          <a:ln/>
        </p:spPr>
        <p:txBody>
          <a:bodyPr wrap="square" lIns="0" tIns="0" rIns="0" bIns="0" rtlCol="0" anchor="ctr"/>
          <a:lstStyle/>
          <a:p>
            <a:pPr marL="0" indent="0" algn="ctr">
              <a:buNone/>
            </a:pPr>
            <a:r>
              <a:rPr lang="en-US" sz="830" b="1" kern="0" spc="100" dirty="0">
                <a:solidFill>
                  <a:srgbClr val="E76F51"/>
                </a:solidFill>
                <a:latin typeface="Calibri" pitchFamily="34" charset="0"/>
                <a:ea typeface="Calibri" pitchFamily="34" charset="-122"/>
                <a:cs typeface="Calibri" pitchFamily="34" charset="-120"/>
              </a:rPr>
              <a:t>FOUND IN</a:t>
            </a:r>
            <a:endParaRPr lang="en-US" sz="830" dirty="0"/>
          </a:p>
        </p:txBody>
      </p:sp>
      <p:sp>
        <p:nvSpPr>
          <p:cNvPr id="18" name="Text 14"/>
          <p:cNvSpPr txBox="1"/>
          <p:nvPr/>
        </p:nvSpPr>
        <p:spPr>
          <a:xfrm>
            <a:off x="2624328" y="3630168"/>
            <a:ext cx="1737360" cy="411480"/>
          </a:xfrm>
          <a:prstGeom prst="rect">
            <a:avLst/>
          </a:prstGeom>
          <a:noFill/>
          <a:ln/>
        </p:spPr>
        <p:txBody>
          <a:bodyPr wrap="square" lIns="0" tIns="0" rIns="0" bIns="0" rtlCol="0" anchor="t"/>
          <a:lstStyle/>
          <a:p>
            <a:pPr marL="0" indent="0" algn="ctr">
              <a:buNone/>
            </a:pPr>
            <a:r>
              <a:rPr lang="en-US" sz="990" dirty="0">
                <a:solidFill>
                  <a:srgbClr val="1E3A6B"/>
                </a:solidFill>
                <a:latin typeface="Calibri" pitchFamily="34" charset="0"/>
                <a:ea typeface="Calibri" pitchFamily="34" charset="-122"/>
                <a:cs typeface="Calibri" pitchFamily="34" charset="-120"/>
              </a:rPr>
              <a:t>Samosa, fries, patties</a:t>
            </a:r>
            <a:endParaRPr lang="en-US" sz="990" dirty="0"/>
          </a:p>
        </p:txBody>
      </p:sp>
      <p:sp>
        <p:nvSpPr>
          <p:cNvPr id="19" name="card"/>
          <p:cNvSpPr/>
          <p:nvPr/>
        </p:nvSpPr>
        <p:spPr>
          <a:xfrm>
            <a:off x="4700016" y="1005840"/>
            <a:ext cx="1920240" cy="3108960"/>
          </a:xfrm>
          <a:prstGeom prst="roundRect">
            <a:avLst>
              <a:gd name="adj" fmla="val 4762"/>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20" name="iconcircle"/>
          <p:cNvSpPr/>
          <p:nvPr/>
        </p:nvSpPr>
        <p:spPr>
          <a:xfrm>
            <a:off x="5294376" y="1143000"/>
            <a:ext cx="731520" cy="731520"/>
          </a:xfrm>
          <a:prstGeom prst="ellipse">
            <a:avLst/>
          </a:prstGeom>
          <a:solidFill>
            <a:srgbClr val="3B82C4"/>
          </a:solidFill>
          <a:ln w="12700">
            <a:solidFill>
              <a:srgbClr val="3B82C4"/>
            </a:solidFill>
            <a:prstDash val="solid"/>
          </a:ln>
        </p:spPr>
      </p:sp>
      <p:pic>
        <p:nvPicPr>
          <p:cNvPr id="21" name="Image 2" descr="FaCubes"/>
          <p:cNvPicPr>
            <a:picLocks noChangeAspect="1"/>
          </p:cNvPicPr>
          <p:nvPr/>
        </p:nvPicPr>
        <p:blipFill>
          <a:blip r:embed="rId5"/>
          <a:stretch>
            <a:fillRect/>
          </a:stretch>
        </p:blipFill>
        <p:spPr>
          <a:xfrm>
            <a:off x="5477256" y="1325880"/>
            <a:ext cx="365760" cy="365760"/>
          </a:xfrm>
          <a:prstGeom prst="rect">
            <a:avLst/>
          </a:prstGeom>
        </p:spPr>
      </p:pic>
      <p:sp>
        <p:nvSpPr>
          <p:cNvPr id="22" name="Text 17"/>
          <p:cNvSpPr txBox="1"/>
          <p:nvPr/>
        </p:nvSpPr>
        <p:spPr>
          <a:xfrm>
            <a:off x="4791456" y="1965960"/>
            <a:ext cx="1737360" cy="457200"/>
          </a:xfrm>
          <a:prstGeom prst="rect">
            <a:avLst/>
          </a:prstGeom>
          <a:noFill/>
          <a:ln/>
        </p:spPr>
        <p:txBody>
          <a:bodyPr wrap="square" lIns="0" tIns="0" rIns="0" bIns="0" rtlCol="0" anchor="ctr"/>
          <a:lstStyle/>
          <a:p>
            <a:pPr marL="0" indent="0" algn="ctr">
              <a:buNone/>
            </a:pPr>
            <a:r>
              <a:rPr lang="en-US" sz="1160" b="1" dirty="0">
                <a:solidFill>
                  <a:srgbClr val="1E3A6B"/>
                </a:solidFill>
                <a:latin typeface="Calibri" pitchFamily="34" charset="0"/>
                <a:ea typeface="Calibri" pitchFamily="34" charset="-122"/>
                <a:cs typeface="Calibri" pitchFamily="34" charset="-120"/>
              </a:rPr>
              <a:t>Too Much Salt</a:t>
            </a:r>
            <a:endParaRPr lang="en-US" sz="1160" dirty="0"/>
          </a:p>
        </p:txBody>
      </p:sp>
      <p:sp>
        <p:nvSpPr>
          <p:cNvPr id="23" name="Text 18"/>
          <p:cNvSpPr txBox="1"/>
          <p:nvPr/>
        </p:nvSpPr>
        <p:spPr>
          <a:xfrm>
            <a:off x="4837176" y="2468880"/>
            <a:ext cx="1645920" cy="868680"/>
          </a:xfrm>
          <a:prstGeom prst="rect">
            <a:avLst/>
          </a:prstGeom>
          <a:noFill/>
          <a:ln/>
        </p:spPr>
        <p:txBody>
          <a:bodyPr wrap="square" lIns="0" tIns="0" rIns="0" bIns="0" rtlCol="0" anchor="t"/>
          <a:lstStyle/>
          <a:p>
            <a:pPr marL="0" indent="0" algn="ctr">
              <a:buNone/>
            </a:pPr>
            <a:r>
              <a:rPr lang="en-US" sz="1050" dirty="0">
                <a:solidFill>
                  <a:srgbClr val="3F5278"/>
                </a:solidFill>
                <a:latin typeface="Calibri" pitchFamily="34" charset="0"/>
                <a:ea typeface="Calibri" pitchFamily="34" charset="-122"/>
                <a:cs typeface="Calibri" pitchFamily="34" charset="-120"/>
              </a:rPr>
              <a:t>Excess sodium raises blood pressure over time.</a:t>
            </a:r>
            <a:endParaRPr lang="en-US" sz="1050" dirty="0"/>
          </a:p>
        </p:txBody>
      </p:sp>
      <p:sp>
        <p:nvSpPr>
          <p:cNvPr id="24" name="Shape 19"/>
          <p:cNvSpPr/>
          <p:nvPr/>
        </p:nvSpPr>
        <p:spPr>
          <a:xfrm>
            <a:off x="4882896" y="3383280"/>
            <a:ext cx="1554480" cy="0"/>
          </a:xfrm>
          <a:prstGeom prst="line">
            <a:avLst/>
          </a:prstGeom>
          <a:noFill/>
          <a:ln w="9525">
            <a:solidFill>
              <a:srgbClr val="8AA4C8">
                <a:alpha val="70000"/>
              </a:srgbClr>
            </a:solidFill>
            <a:prstDash val="solid"/>
          </a:ln>
        </p:spPr>
      </p:sp>
      <p:sp>
        <p:nvSpPr>
          <p:cNvPr id="25" name="Text 20"/>
          <p:cNvSpPr txBox="1"/>
          <p:nvPr/>
        </p:nvSpPr>
        <p:spPr>
          <a:xfrm>
            <a:off x="4791456" y="3429000"/>
            <a:ext cx="1737360" cy="201168"/>
          </a:xfrm>
          <a:prstGeom prst="rect">
            <a:avLst/>
          </a:prstGeom>
          <a:noFill/>
          <a:ln/>
        </p:spPr>
        <p:txBody>
          <a:bodyPr wrap="square" lIns="0" tIns="0" rIns="0" bIns="0" rtlCol="0" anchor="ctr"/>
          <a:lstStyle/>
          <a:p>
            <a:pPr marL="0" indent="0" algn="ctr">
              <a:buNone/>
            </a:pPr>
            <a:r>
              <a:rPr lang="en-US" sz="830" b="1" kern="0" spc="100" dirty="0">
                <a:solidFill>
                  <a:srgbClr val="3B82C4"/>
                </a:solidFill>
                <a:latin typeface="Calibri" pitchFamily="34" charset="0"/>
                <a:ea typeface="Calibri" pitchFamily="34" charset="-122"/>
                <a:cs typeface="Calibri" pitchFamily="34" charset="-120"/>
              </a:rPr>
              <a:t>FOUND IN</a:t>
            </a:r>
            <a:endParaRPr lang="en-US" sz="830" dirty="0"/>
          </a:p>
        </p:txBody>
      </p:sp>
      <p:sp>
        <p:nvSpPr>
          <p:cNvPr id="26" name="Text 21"/>
          <p:cNvSpPr txBox="1"/>
          <p:nvPr/>
        </p:nvSpPr>
        <p:spPr>
          <a:xfrm>
            <a:off x="4791456" y="3630168"/>
            <a:ext cx="1737360" cy="411480"/>
          </a:xfrm>
          <a:prstGeom prst="rect">
            <a:avLst/>
          </a:prstGeom>
          <a:noFill/>
          <a:ln/>
        </p:spPr>
        <p:txBody>
          <a:bodyPr wrap="square" lIns="0" tIns="0" rIns="0" bIns="0" rtlCol="0" anchor="t"/>
          <a:lstStyle/>
          <a:p>
            <a:pPr marL="0" indent="0" algn="ctr">
              <a:buNone/>
            </a:pPr>
            <a:r>
              <a:rPr lang="en-US" sz="990" dirty="0">
                <a:solidFill>
                  <a:srgbClr val="1E3A6B"/>
                </a:solidFill>
                <a:latin typeface="Calibri" pitchFamily="34" charset="0"/>
                <a:ea typeface="Calibri" pitchFamily="34" charset="-122"/>
                <a:cs typeface="Calibri" pitchFamily="34" charset="-120"/>
              </a:rPr>
              <a:t>Chutney, sauces, chowmein</a:t>
            </a:r>
            <a:endParaRPr lang="en-US" sz="990" dirty="0"/>
          </a:p>
        </p:txBody>
      </p:sp>
      <p:sp>
        <p:nvSpPr>
          <p:cNvPr id="27" name="card"/>
          <p:cNvSpPr/>
          <p:nvPr/>
        </p:nvSpPr>
        <p:spPr>
          <a:xfrm>
            <a:off x="6867144" y="1005840"/>
            <a:ext cx="1920240" cy="3108960"/>
          </a:xfrm>
          <a:prstGeom prst="roundRect">
            <a:avLst>
              <a:gd name="adj" fmla="val 4762"/>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28" name="iconcircle"/>
          <p:cNvSpPr/>
          <p:nvPr/>
        </p:nvSpPr>
        <p:spPr>
          <a:xfrm>
            <a:off x="7461504" y="1143000"/>
            <a:ext cx="731520" cy="731520"/>
          </a:xfrm>
          <a:prstGeom prst="ellipse">
            <a:avLst/>
          </a:prstGeom>
          <a:solidFill>
            <a:srgbClr val="D6568C"/>
          </a:solidFill>
          <a:ln w="12700">
            <a:solidFill>
              <a:srgbClr val="D6568C"/>
            </a:solidFill>
            <a:prstDash val="solid"/>
          </a:ln>
        </p:spPr>
      </p:sp>
      <p:pic>
        <p:nvPicPr>
          <p:cNvPr id="29" name="Image 3" descr="FaCandyCane"/>
          <p:cNvPicPr>
            <a:picLocks noChangeAspect="1"/>
          </p:cNvPicPr>
          <p:nvPr/>
        </p:nvPicPr>
        <p:blipFill>
          <a:blip r:embed="rId6"/>
          <a:stretch>
            <a:fillRect/>
          </a:stretch>
        </p:blipFill>
        <p:spPr>
          <a:xfrm>
            <a:off x="7644384" y="1325880"/>
            <a:ext cx="365760" cy="365760"/>
          </a:xfrm>
          <a:prstGeom prst="rect">
            <a:avLst/>
          </a:prstGeom>
        </p:spPr>
      </p:pic>
      <p:sp>
        <p:nvSpPr>
          <p:cNvPr id="30" name="Text 24"/>
          <p:cNvSpPr txBox="1"/>
          <p:nvPr/>
        </p:nvSpPr>
        <p:spPr>
          <a:xfrm>
            <a:off x="6958584" y="1965960"/>
            <a:ext cx="1737360" cy="457200"/>
          </a:xfrm>
          <a:prstGeom prst="rect">
            <a:avLst/>
          </a:prstGeom>
          <a:noFill/>
          <a:ln/>
        </p:spPr>
        <p:txBody>
          <a:bodyPr wrap="square" lIns="0" tIns="0" rIns="0" bIns="0" rtlCol="0" anchor="ctr"/>
          <a:lstStyle/>
          <a:p>
            <a:pPr marL="0" indent="0" algn="ctr">
              <a:buNone/>
            </a:pPr>
            <a:r>
              <a:rPr lang="en-US" sz="1160" b="1" dirty="0">
                <a:solidFill>
                  <a:srgbClr val="1E3A6B"/>
                </a:solidFill>
                <a:latin typeface="Calibri" pitchFamily="34" charset="0"/>
                <a:ea typeface="Calibri" pitchFamily="34" charset="-122"/>
                <a:cs typeface="Calibri" pitchFamily="34" charset="-120"/>
              </a:rPr>
              <a:t>Added Sugar &amp; Sauces</a:t>
            </a:r>
            <a:endParaRPr lang="en-US" sz="1160" dirty="0"/>
          </a:p>
        </p:txBody>
      </p:sp>
      <p:sp>
        <p:nvSpPr>
          <p:cNvPr id="31" name="Text 25"/>
          <p:cNvSpPr txBox="1"/>
          <p:nvPr/>
        </p:nvSpPr>
        <p:spPr>
          <a:xfrm>
            <a:off x="7004304" y="2468880"/>
            <a:ext cx="1645920" cy="868680"/>
          </a:xfrm>
          <a:prstGeom prst="rect">
            <a:avLst/>
          </a:prstGeom>
          <a:noFill/>
          <a:ln/>
        </p:spPr>
        <p:txBody>
          <a:bodyPr wrap="square" lIns="0" tIns="0" rIns="0" bIns="0" rtlCol="0" anchor="t"/>
          <a:lstStyle/>
          <a:p>
            <a:pPr marL="0" indent="0" algn="ctr">
              <a:buNone/>
            </a:pPr>
            <a:r>
              <a:rPr lang="en-US" sz="1050" dirty="0">
                <a:solidFill>
                  <a:srgbClr val="3F5278"/>
                </a:solidFill>
                <a:latin typeface="Calibri" pitchFamily="34" charset="0"/>
                <a:ea typeface="Calibri" pitchFamily="34" charset="-122"/>
                <a:cs typeface="Calibri" pitchFamily="34" charset="-120"/>
              </a:rPr>
              <a:t>Empty calories that cause weight gain and sugar spikes.</a:t>
            </a:r>
            <a:endParaRPr lang="en-US" sz="1050" dirty="0"/>
          </a:p>
        </p:txBody>
      </p:sp>
      <p:sp>
        <p:nvSpPr>
          <p:cNvPr id="32" name="Shape 26"/>
          <p:cNvSpPr/>
          <p:nvPr/>
        </p:nvSpPr>
        <p:spPr>
          <a:xfrm>
            <a:off x="7050024" y="3383280"/>
            <a:ext cx="1554480" cy="0"/>
          </a:xfrm>
          <a:prstGeom prst="line">
            <a:avLst/>
          </a:prstGeom>
          <a:noFill/>
          <a:ln w="9525">
            <a:solidFill>
              <a:srgbClr val="8AA4C8">
                <a:alpha val="70000"/>
              </a:srgbClr>
            </a:solidFill>
            <a:prstDash val="solid"/>
          </a:ln>
        </p:spPr>
      </p:sp>
      <p:sp>
        <p:nvSpPr>
          <p:cNvPr id="33" name="Text 27"/>
          <p:cNvSpPr txBox="1"/>
          <p:nvPr/>
        </p:nvSpPr>
        <p:spPr>
          <a:xfrm>
            <a:off x="6958584" y="3429000"/>
            <a:ext cx="1737360" cy="201168"/>
          </a:xfrm>
          <a:prstGeom prst="rect">
            <a:avLst/>
          </a:prstGeom>
          <a:noFill/>
          <a:ln/>
        </p:spPr>
        <p:txBody>
          <a:bodyPr wrap="square" lIns="0" tIns="0" rIns="0" bIns="0" rtlCol="0" anchor="ctr"/>
          <a:lstStyle/>
          <a:p>
            <a:pPr marL="0" indent="0" algn="ctr">
              <a:buNone/>
            </a:pPr>
            <a:r>
              <a:rPr lang="en-US" sz="830" b="1" kern="0" spc="100" dirty="0">
                <a:solidFill>
                  <a:srgbClr val="D6568C"/>
                </a:solidFill>
                <a:latin typeface="Calibri" pitchFamily="34" charset="0"/>
                <a:ea typeface="Calibri" pitchFamily="34" charset="-122"/>
                <a:cs typeface="Calibri" pitchFamily="34" charset="-120"/>
              </a:rPr>
              <a:t>FOUND IN</a:t>
            </a:r>
            <a:endParaRPr lang="en-US" sz="830" dirty="0"/>
          </a:p>
        </p:txBody>
      </p:sp>
      <p:sp>
        <p:nvSpPr>
          <p:cNvPr id="34" name="Text 28"/>
          <p:cNvSpPr txBox="1"/>
          <p:nvPr/>
        </p:nvSpPr>
        <p:spPr>
          <a:xfrm>
            <a:off x="6958584" y="3630168"/>
            <a:ext cx="1737360" cy="411480"/>
          </a:xfrm>
          <a:prstGeom prst="rect">
            <a:avLst/>
          </a:prstGeom>
          <a:noFill/>
          <a:ln/>
        </p:spPr>
        <p:txBody>
          <a:bodyPr wrap="square" lIns="0" tIns="0" rIns="0" bIns="0" rtlCol="0" anchor="t"/>
          <a:lstStyle/>
          <a:p>
            <a:pPr marL="0" indent="0" algn="ctr">
              <a:buNone/>
            </a:pPr>
            <a:r>
              <a:rPr lang="en-US" sz="990" dirty="0">
                <a:solidFill>
                  <a:srgbClr val="1E3A6B"/>
                </a:solidFill>
                <a:latin typeface="Calibri" pitchFamily="34" charset="0"/>
                <a:ea typeface="Calibri" pitchFamily="34" charset="-122"/>
                <a:cs typeface="Calibri" pitchFamily="34" charset="-120"/>
              </a:rPr>
              <a:t>Ketchup, sweet chutney</a:t>
            </a:r>
            <a:endParaRPr lang="en-US" sz="990" dirty="0"/>
          </a:p>
        </p:txBody>
      </p:sp>
      <p:sp>
        <p:nvSpPr>
          <p:cNvPr id="35" name="banner"/>
          <p:cNvSpPr/>
          <p:nvPr/>
        </p:nvSpPr>
        <p:spPr>
          <a:xfrm>
            <a:off x="365760" y="4251960"/>
            <a:ext cx="8412480" cy="411480"/>
          </a:xfrm>
          <a:prstGeom prst="roundRect">
            <a:avLst>
              <a:gd name="adj" fmla="val 17778"/>
            </a:avLst>
          </a:prstGeom>
          <a:solidFill>
            <a:srgbClr val="FFFFFF">
              <a:alpha val="85000"/>
            </a:srgbClr>
          </a:solidFill>
          <a:ln w="12700">
            <a:solidFill>
              <a:srgbClr val="7B6BD6">
                <a:alpha val="85000"/>
              </a:srgbClr>
            </a:solidFill>
            <a:prstDash val="solid"/>
          </a:ln>
          <a:effectLst>
            <a:outerShdw blurRad="76200" dist="25400" dir="5400000" algn="bl" rotWithShape="0">
              <a:srgbClr val="1E3A6B">
                <a:alpha val="12000"/>
              </a:srgbClr>
            </a:outerShdw>
          </a:effectLst>
        </p:spPr>
      </p:sp>
      <p:sp>
        <p:nvSpPr>
          <p:cNvPr id="36" name="Text 30"/>
          <p:cNvSpPr txBox="1"/>
          <p:nvPr/>
        </p:nvSpPr>
        <p:spPr>
          <a:xfrm>
            <a:off x="548640" y="4251960"/>
            <a:ext cx="8046720" cy="411480"/>
          </a:xfrm>
          <a:prstGeom prst="rect">
            <a:avLst/>
          </a:prstGeom>
          <a:noFill/>
          <a:ln/>
        </p:spPr>
        <p:txBody>
          <a:bodyPr wrap="square" lIns="0" tIns="0" rIns="0" bIns="0" rtlCol="0" anchor="ctr"/>
          <a:lstStyle/>
          <a:p>
            <a:pPr marL="0" indent="0">
              <a:buNone/>
            </a:pPr>
            <a:r>
              <a:rPr lang="en-US" sz="1160" b="1" dirty="0">
                <a:solidFill>
                  <a:srgbClr val="1E3A6B"/>
                </a:solidFill>
                <a:latin typeface="Calibri" pitchFamily="34" charset="0"/>
                <a:ea typeface="Calibri" pitchFamily="34" charset="-122"/>
                <a:cs typeface="Calibri" pitchFamily="34" charset="-120"/>
              </a:rPr>
              <a:t>The food itself is not evil. It is oil, maida, salt &amp; sugar in big amounts, every day.</a:t>
            </a:r>
            <a:endParaRPr lang="en-US" sz="1160" dirty="0"/>
          </a:p>
        </p:txBody>
      </p:sp>
      <p:sp>
        <p:nvSpPr>
          <p:cNvPr id="37" name="Slide Number Placeholder 0"/>
          <p:cNvSpPr>
            <a:spLocks noGrp="1"/>
          </p:cNvSpPr>
          <p:nvPr>
            <p:ph type="sldNum" sz="quarter" idx="4294967295"/>
          </p:nvPr>
        </p:nvSpPr>
        <p:spPr>
          <a:xfrm>
            <a:off x="832104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46587D"/>
                </a:solidFill>
                <a:latin typeface="Calibri"/>
                <a:ea typeface="Calibri"/>
                <a:cs typeface="Calibri"/>
              </a:defRPr>
            </a:lvl1pPr>
          </a:lstStyle>
          <a:p>
            <a:pPr algn="r"/>
            <a:fld id="{F7021451-1387-4CA6-816F-3879F97B5CBC}" type="slidenum">
              <a:rPr lang="en-US" b="0"/>
              <a:pPr algn="r"/>
              <a:t>5</a:t>
            </a:fld>
            <a:endParaRPr lang="en-US"/>
          </a:p>
        </p:txBody>
      </p:sp>
    </p:spTree>
  </p:cSld>
  <p:clrMapOvr>
    <a:masterClrMapping/>
  </p:clrMapOvr>
  <p:transition spd="med">
    <p:split orient="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p:nvPr>
        </p:nvSpPr>
        <p:spPr>
          <a:xfrm>
            <a:off x="365760" y="201168"/>
            <a:ext cx="8412480" cy="548640"/>
          </a:xfrm>
          <a:prstGeom prst="rect">
            <a:avLst/>
          </a:prstGeom>
          <a:noFill/>
          <a:ln/>
        </p:spPr>
        <p:txBody>
          <a:bodyPr wrap="square" lIns="0" tIns="0" rIns="0" bIns="0" rtlCol="0" anchor="ctr"/>
          <a:lstStyle/>
          <a:p>
            <a:pPr marL="0" indent="0" algn="l">
              <a:buNone/>
            </a:pPr>
            <a:r>
              <a:rPr lang="en-US" sz="2400" b="1" dirty="0">
                <a:solidFill>
                  <a:srgbClr val="1E3A6B"/>
                </a:solidFill>
                <a:latin typeface="Calibri" pitchFamily="34" charset="0"/>
                <a:ea typeface="Calibri" pitchFamily="34" charset="-122"/>
                <a:cs typeface="Calibri" pitchFamily="34" charset="-120"/>
              </a:rPr>
              <a:t>Food Examples: What Makes Them Risky</a:t>
            </a:r>
            <a:endParaRPr lang="en-US" sz="2400" dirty="0"/>
          </a:p>
        </p:txBody>
      </p:sp>
      <p:sp>
        <p:nvSpPr>
          <p:cNvPr id="3" name="card"/>
          <p:cNvSpPr/>
          <p:nvPr/>
        </p:nvSpPr>
        <p:spPr>
          <a:xfrm>
            <a:off x="365760" y="1005840"/>
            <a:ext cx="4114800" cy="1627632"/>
          </a:xfrm>
          <a:prstGeom prst="roundRect">
            <a:avLst>
              <a:gd name="adj" fmla="val 5618"/>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4" name="iconcircle"/>
          <p:cNvSpPr/>
          <p:nvPr/>
        </p:nvSpPr>
        <p:spPr>
          <a:xfrm>
            <a:off x="548640" y="1143000"/>
            <a:ext cx="548640" cy="548640"/>
          </a:xfrm>
          <a:prstGeom prst="ellipse">
            <a:avLst/>
          </a:prstGeom>
          <a:solidFill>
            <a:srgbClr val="D9870B"/>
          </a:solidFill>
          <a:ln w="12700">
            <a:solidFill>
              <a:srgbClr val="D9870B"/>
            </a:solidFill>
            <a:prstDash val="solid"/>
          </a:ln>
        </p:spPr>
      </p:sp>
      <p:pic>
        <p:nvPicPr>
          <p:cNvPr id="5" name="Image 0" descr="FaCookieBite"/>
          <p:cNvPicPr>
            <a:picLocks noChangeAspect="1"/>
          </p:cNvPicPr>
          <p:nvPr/>
        </p:nvPicPr>
        <p:blipFill>
          <a:blip r:embed="rId3"/>
          <a:stretch>
            <a:fillRect/>
          </a:stretch>
        </p:blipFill>
        <p:spPr>
          <a:xfrm>
            <a:off x="685800" y="1280160"/>
            <a:ext cx="274320" cy="274320"/>
          </a:xfrm>
          <a:prstGeom prst="rect">
            <a:avLst/>
          </a:prstGeom>
        </p:spPr>
      </p:pic>
      <p:sp>
        <p:nvSpPr>
          <p:cNvPr id="6" name="Text 3"/>
          <p:cNvSpPr txBox="1"/>
          <p:nvPr/>
        </p:nvSpPr>
        <p:spPr>
          <a:xfrm>
            <a:off x="1234440" y="1143000"/>
            <a:ext cx="2011680" cy="548640"/>
          </a:xfrm>
          <a:prstGeom prst="rect">
            <a:avLst/>
          </a:prstGeom>
          <a:noFill/>
          <a:ln/>
        </p:spPr>
        <p:txBody>
          <a:bodyPr wrap="square" lIns="0" tIns="0" rIns="0" bIns="0" rtlCol="0" anchor="ctr"/>
          <a:lstStyle/>
          <a:p>
            <a:pPr marL="0" indent="0">
              <a:buNone/>
            </a:pPr>
            <a:r>
              <a:rPr lang="en-US" sz="1540" b="1" dirty="0">
                <a:solidFill>
                  <a:srgbClr val="1E3A6B"/>
                </a:solidFill>
                <a:latin typeface="Calibri" pitchFamily="34" charset="0"/>
                <a:ea typeface="Calibri" pitchFamily="34" charset="-122"/>
                <a:cs typeface="Calibri" pitchFamily="34" charset="-120"/>
              </a:rPr>
              <a:t>Samosa</a:t>
            </a:r>
            <a:endParaRPr lang="en-US" sz="1540" dirty="0"/>
          </a:p>
        </p:txBody>
      </p:sp>
      <p:sp>
        <p:nvSpPr>
          <p:cNvPr id="7" name="pill"/>
          <p:cNvSpPr/>
          <p:nvPr/>
        </p:nvSpPr>
        <p:spPr>
          <a:xfrm>
            <a:off x="2971800" y="1252728"/>
            <a:ext cx="1371600" cy="292608"/>
          </a:xfrm>
          <a:prstGeom prst="roundRect">
            <a:avLst>
              <a:gd name="adj" fmla="val 50000"/>
            </a:avLst>
          </a:prstGeom>
          <a:solidFill>
            <a:srgbClr val="D9870B"/>
          </a:solidFill>
          <a:ln w="12700">
            <a:solidFill>
              <a:srgbClr val="D9870B"/>
            </a:solidFill>
            <a:prstDash val="solid"/>
          </a:ln>
        </p:spPr>
      </p:sp>
      <p:sp>
        <p:nvSpPr>
          <p:cNvPr id="8" name="Text 5"/>
          <p:cNvSpPr txBox="1"/>
          <p:nvPr/>
        </p:nvSpPr>
        <p:spPr>
          <a:xfrm>
            <a:off x="2971800" y="1252728"/>
            <a:ext cx="1371600" cy="292608"/>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Coefficient 0.755</a:t>
            </a:r>
            <a:endParaRPr lang="en-US" sz="990" dirty="0"/>
          </a:p>
        </p:txBody>
      </p:sp>
      <p:sp>
        <p:nvSpPr>
          <p:cNvPr id="9" name="Text 6"/>
          <p:cNvSpPr txBox="1"/>
          <p:nvPr/>
        </p:nvSpPr>
        <p:spPr>
          <a:xfrm>
            <a:off x="548640" y="1783080"/>
            <a:ext cx="3749040" cy="365760"/>
          </a:xfrm>
          <a:prstGeom prst="rect">
            <a:avLst/>
          </a:prstGeom>
          <a:noFill/>
          <a:ln/>
        </p:spPr>
        <p:txBody>
          <a:bodyPr wrap="square" lIns="0" tIns="0" rIns="0" bIns="0" rtlCol="0" anchor="t"/>
          <a:lstStyle/>
          <a:p>
            <a:pPr marL="0" indent="0">
              <a:buNone/>
            </a:pPr>
            <a:r>
              <a:rPr lang="en-US" sz="1050" b="1" dirty="0">
                <a:solidFill>
                  <a:srgbClr val="D9870B"/>
                </a:solidFill>
                <a:latin typeface="Calibri" pitchFamily="34" charset="0"/>
                <a:ea typeface="Calibri" pitchFamily="34" charset="-122"/>
                <a:cs typeface="Calibri" pitchFamily="34" charset="-120"/>
              </a:rPr>
              <a:t>Made of: </a:t>
            </a:r>
            <a:r>
              <a:rPr lang="en-US" sz="1050" dirty="0">
                <a:solidFill>
                  <a:srgbClr val="3F5278"/>
                </a:solidFill>
                <a:latin typeface="Calibri" pitchFamily="34" charset="0"/>
                <a:ea typeface="Calibri" pitchFamily="34" charset="-122"/>
                <a:cs typeface="Calibri" pitchFamily="34" charset="-120"/>
              </a:rPr>
              <a:t>Maida shell + spiced potato filling, deep-fried.</a:t>
            </a:r>
            <a:endParaRPr lang="en-US" sz="1050" dirty="0"/>
          </a:p>
        </p:txBody>
      </p:sp>
      <p:sp>
        <p:nvSpPr>
          <p:cNvPr id="10" name="Text 7"/>
          <p:cNvSpPr txBox="1"/>
          <p:nvPr/>
        </p:nvSpPr>
        <p:spPr>
          <a:xfrm>
            <a:off x="548640" y="2148840"/>
            <a:ext cx="3749040" cy="411480"/>
          </a:xfrm>
          <a:prstGeom prst="rect">
            <a:avLst/>
          </a:prstGeom>
          <a:noFill/>
          <a:ln/>
        </p:spPr>
        <p:txBody>
          <a:bodyPr wrap="square" lIns="0" tIns="0" rIns="0" bIns="0" rtlCol="0" anchor="t"/>
          <a:lstStyle/>
          <a:p>
            <a:pPr marL="0" indent="0">
              <a:buNone/>
            </a:pPr>
            <a:r>
              <a:rPr lang="en-US" sz="1050" b="1" dirty="0">
                <a:solidFill>
                  <a:srgbClr val="E76F51"/>
                </a:solidFill>
                <a:latin typeface="Calibri" pitchFamily="34" charset="0"/>
                <a:ea typeface="Calibri" pitchFamily="34" charset="-122"/>
                <a:cs typeface="Calibri" pitchFamily="34" charset="-120"/>
              </a:rPr>
              <a:t>Risk: </a:t>
            </a:r>
            <a:r>
              <a:rPr lang="en-US" sz="1050" dirty="0">
                <a:solidFill>
                  <a:srgbClr val="3F5278"/>
                </a:solidFill>
                <a:latin typeface="Calibri" pitchFamily="34" charset="0"/>
                <a:ea typeface="Calibri" pitchFamily="34" charset="-122"/>
                <a:cs typeface="Calibri" pitchFamily="34" charset="-120"/>
              </a:rPr>
              <a:t>Deep-fried in oil (often reused): high fat, trans fat and calories.</a:t>
            </a:r>
            <a:endParaRPr lang="en-US" sz="1050" dirty="0"/>
          </a:p>
        </p:txBody>
      </p:sp>
      <p:sp>
        <p:nvSpPr>
          <p:cNvPr id="11" name="card"/>
          <p:cNvSpPr/>
          <p:nvPr/>
        </p:nvSpPr>
        <p:spPr>
          <a:xfrm>
            <a:off x="4663440" y="1005840"/>
            <a:ext cx="4114800" cy="1627632"/>
          </a:xfrm>
          <a:prstGeom prst="roundRect">
            <a:avLst>
              <a:gd name="adj" fmla="val 5618"/>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12" name="iconcircle"/>
          <p:cNvSpPr/>
          <p:nvPr/>
        </p:nvSpPr>
        <p:spPr>
          <a:xfrm>
            <a:off x="4846320" y="1143000"/>
            <a:ext cx="548640" cy="548640"/>
          </a:xfrm>
          <a:prstGeom prst="ellipse">
            <a:avLst/>
          </a:prstGeom>
          <a:solidFill>
            <a:srgbClr val="D6568C"/>
          </a:solidFill>
          <a:ln w="12700">
            <a:solidFill>
              <a:srgbClr val="D6568C"/>
            </a:solidFill>
            <a:prstDash val="solid"/>
          </a:ln>
        </p:spPr>
      </p:sp>
      <p:pic>
        <p:nvPicPr>
          <p:cNvPr id="13" name="Image 1" descr="FaCloudMeatball"/>
          <p:cNvPicPr>
            <a:picLocks noChangeAspect="1"/>
          </p:cNvPicPr>
          <p:nvPr/>
        </p:nvPicPr>
        <p:blipFill>
          <a:blip r:embed="rId4"/>
          <a:stretch>
            <a:fillRect/>
          </a:stretch>
        </p:blipFill>
        <p:spPr>
          <a:xfrm>
            <a:off x="4983480" y="1280160"/>
            <a:ext cx="274320" cy="274320"/>
          </a:xfrm>
          <a:prstGeom prst="rect">
            <a:avLst/>
          </a:prstGeom>
        </p:spPr>
      </p:pic>
      <p:sp>
        <p:nvSpPr>
          <p:cNvPr id="14" name="Text 10"/>
          <p:cNvSpPr txBox="1"/>
          <p:nvPr/>
        </p:nvSpPr>
        <p:spPr>
          <a:xfrm>
            <a:off x="5532120" y="1143000"/>
            <a:ext cx="2011680" cy="548640"/>
          </a:xfrm>
          <a:prstGeom prst="rect">
            <a:avLst/>
          </a:prstGeom>
          <a:noFill/>
          <a:ln/>
        </p:spPr>
        <p:txBody>
          <a:bodyPr wrap="square" lIns="0" tIns="0" rIns="0" bIns="0" rtlCol="0" anchor="ctr"/>
          <a:lstStyle/>
          <a:p>
            <a:pPr marL="0" indent="0">
              <a:buNone/>
            </a:pPr>
            <a:r>
              <a:rPr lang="en-US" sz="1540" b="1" dirty="0">
                <a:solidFill>
                  <a:srgbClr val="1E3A6B"/>
                </a:solidFill>
                <a:latin typeface="Calibri" pitchFamily="34" charset="0"/>
                <a:ea typeface="Calibri" pitchFamily="34" charset="-122"/>
                <a:cs typeface="Calibri" pitchFamily="34" charset="-120"/>
              </a:rPr>
              <a:t>Momo</a:t>
            </a:r>
            <a:endParaRPr lang="en-US" sz="1540" dirty="0"/>
          </a:p>
        </p:txBody>
      </p:sp>
      <p:sp>
        <p:nvSpPr>
          <p:cNvPr id="15" name="pill"/>
          <p:cNvSpPr/>
          <p:nvPr/>
        </p:nvSpPr>
        <p:spPr>
          <a:xfrm>
            <a:off x="7269480" y="1252728"/>
            <a:ext cx="1371600" cy="292608"/>
          </a:xfrm>
          <a:prstGeom prst="roundRect">
            <a:avLst>
              <a:gd name="adj" fmla="val 50000"/>
            </a:avLst>
          </a:prstGeom>
          <a:solidFill>
            <a:srgbClr val="D6568C"/>
          </a:solidFill>
          <a:ln w="12700">
            <a:solidFill>
              <a:srgbClr val="D6568C"/>
            </a:solidFill>
            <a:prstDash val="solid"/>
          </a:ln>
        </p:spPr>
      </p:sp>
      <p:sp>
        <p:nvSpPr>
          <p:cNvPr id="16" name="Text 12"/>
          <p:cNvSpPr txBox="1"/>
          <p:nvPr/>
        </p:nvSpPr>
        <p:spPr>
          <a:xfrm>
            <a:off x="7269480" y="1252728"/>
            <a:ext cx="1371600" cy="292608"/>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Coefficient 0.736</a:t>
            </a:r>
            <a:endParaRPr lang="en-US" sz="990" dirty="0"/>
          </a:p>
        </p:txBody>
      </p:sp>
      <p:sp>
        <p:nvSpPr>
          <p:cNvPr id="17" name="Text 13"/>
          <p:cNvSpPr txBox="1"/>
          <p:nvPr/>
        </p:nvSpPr>
        <p:spPr>
          <a:xfrm>
            <a:off x="4846320" y="1783080"/>
            <a:ext cx="3749040" cy="365760"/>
          </a:xfrm>
          <a:prstGeom prst="rect">
            <a:avLst/>
          </a:prstGeom>
          <a:noFill/>
          <a:ln/>
        </p:spPr>
        <p:txBody>
          <a:bodyPr wrap="square" lIns="0" tIns="0" rIns="0" bIns="0" rtlCol="0" anchor="t"/>
          <a:lstStyle/>
          <a:p>
            <a:pPr marL="0" indent="0">
              <a:buNone/>
            </a:pPr>
            <a:r>
              <a:rPr lang="en-US" sz="1050" b="1" dirty="0">
                <a:solidFill>
                  <a:srgbClr val="D6568C"/>
                </a:solidFill>
                <a:latin typeface="Calibri" pitchFamily="34" charset="0"/>
                <a:ea typeface="Calibri" pitchFamily="34" charset="-122"/>
                <a:cs typeface="Calibri" pitchFamily="34" charset="-120"/>
              </a:rPr>
              <a:t>Made of: </a:t>
            </a:r>
            <a:r>
              <a:rPr lang="en-US" sz="1050" dirty="0">
                <a:solidFill>
                  <a:srgbClr val="3F5278"/>
                </a:solidFill>
                <a:latin typeface="Calibri" pitchFamily="34" charset="0"/>
                <a:ea typeface="Calibri" pitchFamily="34" charset="-122"/>
                <a:cs typeface="Calibri" pitchFamily="34" charset="-120"/>
              </a:rPr>
              <a:t>Maida wrapper + veg/chicken filling, red chutney.</a:t>
            </a:r>
            <a:endParaRPr lang="en-US" sz="1050" dirty="0"/>
          </a:p>
        </p:txBody>
      </p:sp>
      <p:sp>
        <p:nvSpPr>
          <p:cNvPr id="18" name="Text 14"/>
          <p:cNvSpPr txBox="1"/>
          <p:nvPr/>
        </p:nvSpPr>
        <p:spPr>
          <a:xfrm>
            <a:off x="4846320" y="2148840"/>
            <a:ext cx="3749040" cy="411480"/>
          </a:xfrm>
          <a:prstGeom prst="rect">
            <a:avLst/>
          </a:prstGeom>
          <a:noFill/>
          <a:ln/>
        </p:spPr>
        <p:txBody>
          <a:bodyPr wrap="square" lIns="0" tIns="0" rIns="0" bIns="0" rtlCol="0" anchor="t"/>
          <a:lstStyle/>
          <a:p>
            <a:pPr marL="0" indent="0">
              <a:buNone/>
            </a:pPr>
            <a:r>
              <a:rPr lang="en-US" sz="1050" b="1" dirty="0">
                <a:solidFill>
                  <a:srgbClr val="E76F51"/>
                </a:solidFill>
                <a:latin typeface="Calibri" pitchFamily="34" charset="0"/>
                <a:ea typeface="Calibri" pitchFamily="34" charset="-122"/>
                <a:cs typeface="Calibri" pitchFamily="34" charset="-120"/>
              </a:rPr>
              <a:t>Risk: </a:t>
            </a:r>
            <a:r>
              <a:rPr lang="en-US" sz="1050" dirty="0">
                <a:solidFill>
                  <a:srgbClr val="3F5278"/>
                </a:solidFill>
                <a:latin typeface="Calibri" pitchFamily="34" charset="0"/>
                <a:ea typeface="Calibri" pitchFamily="34" charset="-122"/>
                <a:cs typeface="Calibri" pitchFamily="34" charset="-120"/>
              </a:rPr>
              <a:t>Refined flour plus very salty, oily chutney. Fried momo adds more fat.</a:t>
            </a:r>
            <a:endParaRPr lang="en-US" sz="1050" dirty="0"/>
          </a:p>
        </p:txBody>
      </p:sp>
      <p:sp>
        <p:nvSpPr>
          <p:cNvPr id="19" name="card"/>
          <p:cNvSpPr/>
          <p:nvPr/>
        </p:nvSpPr>
        <p:spPr>
          <a:xfrm>
            <a:off x="365760" y="2788920"/>
            <a:ext cx="4114800" cy="1627632"/>
          </a:xfrm>
          <a:prstGeom prst="roundRect">
            <a:avLst>
              <a:gd name="adj" fmla="val 5618"/>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20" name="iconcircle"/>
          <p:cNvSpPr/>
          <p:nvPr/>
        </p:nvSpPr>
        <p:spPr>
          <a:xfrm>
            <a:off x="548640" y="2926080"/>
            <a:ext cx="548640" cy="548640"/>
          </a:xfrm>
          <a:prstGeom prst="ellipse">
            <a:avLst/>
          </a:prstGeom>
          <a:solidFill>
            <a:srgbClr val="2762A8"/>
          </a:solidFill>
          <a:ln w="12700">
            <a:solidFill>
              <a:srgbClr val="2762A8"/>
            </a:solidFill>
            <a:prstDash val="solid"/>
          </a:ln>
        </p:spPr>
      </p:sp>
      <p:pic>
        <p:nvPicPr>
          <p:cNvPr id="21" name="Image 2" descr="FaUtensils"/>
          <p:cNvPicPr>
            <a:picLocks noChangeAspect="1"/>
          </p:cNvPicPr>
          <p:nvPr/>
        </p:nvPicPr>
        <p:blipFill>
          <a:blip r:embed="rId5"/>
          <a:stretch>
            <a:fillRect/>
          </a:stretch>
        </p:blipFill>
        <p:spPr>
          <a:xfrm>
            <a:off x="685800" y="3063240"/>
            <a:ext cx="274320" cy="274320"/>
          </a:xfrm>
          <a:prstGeom prst="rect">
            <a:avLst/>
          </a:prstGeom>
        </p:spPr>
      </p:pic>
      <p:sp>
        <p:nvSpPr>
          <p:cNvPr id="22" name="Text 17"/>
          <p:cNvSpPr txBox="1"/>
          <p:nvPr/>
        </p:nvSpPr>
        <p:spPr>
          <a:xfrm>
            <a:off x="1234440" y="2926080"/>
            <a:ext cx="2011680" cy="548640"/>
          </a:xfrm>
          <a:prstGeom prst="rect">
            <a:avLst/>
          </a:prstGeom>
          <a:noFill/>
          <a:ln/>
        </p:spPr>
        <p:txBody>
          <a:bodyPr wrap="square" lIns="0" tIns="0" rIns="0" bIns="0" rtlCol="0" anchor="ctr"/>
          <a:lstStyle/>
          <a:p>
            <a:pPr marL="0" indent="0">
              <a:buNone/>
            </a:pPr>
            <a:r>
              <a:rPr lang="en-US" sz="1540" b="1" dirty="0">
                <a:solidFill>
                  <a:srgbClr val="1E3A6B"/>
                </a:solidFill>
                <a:latin typeface="Calibri" pitchFamily="34" charset="0"/>
                <a:ea typeface="Calibri" pitchFamily="34" charset="-122"/>
                <a:cs typeface="Calibri" pitchFamily="34" charset="-120"/>
              </a:rPr>
              <a:t>Chowmein</a:t>
            </a:r>
            <a:endParaRPr lang="en-US" sz="1540" dirty="0"/>
          </a:p>
        </p:txBody>
      </p:sp>
      <p:sp>
        <p:nvSpPr>
          <p:cNvPr id="23" name="pill"/>
          <p:cNvSpPr/>
          <p:nvPr/>
        </p:nvSpPr>
        <p:spPr>
          <a:xfrm>
            <a:off x="2971800" y="3035808"/>
            <a:ext cx="1371600" cy="292608"/>
          </a:xfrm>
          <a:prstGeom prst="roundRect">
            <a:avLst>
              <a:gd name="adj" fmla="val 50000"/>
            </a:avLst>
          </a:prstGeom>
          <a:solidFill>
            <a:srgbClr val="2762A8"/>
          </a:solidFill>
          <a:ln w="12700">
            <a:solidFill>
              <a:srgbClr val="2762A8"/>
            </a:solidFill>
            <a:prstDash val="solid"/>
          </a:ln>
        </p:spPr>
      </p:sp>
      <p:sp>
        <p:nvSpPr>
          <p:cNvPr id="24" name="Text 19"/>
          <p:cNvSpPr txBox="1"/>
          <p:nvPr/>
        </p:nvSpPr>
        <p:spPr>
          <a:xfrm>
            <a:off x="2971800" y="3035808"/>
            <a:ext cx="1371600" cy="292608"/>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Coefficient 0.694</a:t>
            </a:r>
            <a:endParaRPr lang="en-US" sz="990" dirty="0"/>
          </a:p>
        </p:txBody>
      </p:sp>
      <p:sp>
        <p:nvSpPr>
          <p:cNvPr id="25" name="Text 20"/>
          <p:cNvSpPr txBox="1"/>
          <p:nvPr/>
        </p:nvSpPr>
        <p:spPr>
          <a:xfrm>
            <a:off x="548640" y="3566160"/>
            <a:ext cx="3749040" cy="365760"/>
          </a:xfrm>
          <a:prstGeom prst="rect">
            <a:avLst/>
          </a:prstGeom>
          <a:noFill/>
          <a:ln/>
        </p:spPr>
        <p:txBody>
          <a:bodyPr wrap="square" lIns="0" tIns="0" rIns="0" bIns="0" rtlCol="0" anchor="t"/>
          <a:lstStyle/>
          <a:p>
            <a:pPr marL="0" indent="0">
              <a:buNone/>
            </a:pPr>
            <a:r>
              <a:rPr lang="en-US" sz="1050" b="1" dirty="0">
                <a:solidFill>
                  <a:srgbClr val="2762A8"/>
                </a:solidFill>
                <a:latin typeface="Calibri" pitchFamily="34" charset="0"/>
                <a:ea typeface="Calibri" pitchFamily="34" charset="-122"/>
                <a:cs typeface="Calibri" pitchFamily="34" charset="-120"/>
              </a:rPr>
              <a:t>Made of: </a:t>
            </a:r>
            <a:r>
              <a:rPr lang="en-US" sz="1050" dirty="0">
                <a:solidFill>
                  <a:srgbClr val="3F5278"/>
                </a:solidFill>
                <a:latin typeface="Calibri" pitchFamily="34" charset="0"/>
                <a:ea typeface="Calibri" pitchFamily="34" charset="-122"/>
                <a:cs typeface="Calibri" pitchFamily="34" charset="-120"/>
              </a:rPr>
              <a:t>Refined noodles stir-fried in oil with soy &amp; chilli sauce.</a:t>
            </a:r>
            <a:endParaRPr lang="en-US" sz="1050" dirty="0"/>
          </a:p>
        </p:txBody>
      </p:sp>
      <p:sp>
        <p:nvSpPr>
          <p:cNvPr id="26" name="Text 21"/>
          <p:cNvSpPr txBox="1"/>
          <p:nvPr/>
        </p:nvSpPr>
        <p:spPr>
          <a:xfrm>
            <a:off x="548640" y="3931920"/>
            <a:ext cx="3749040" cy="411480"/>
          </a:xfrm>
          <a:prstGeom prst="rect">
            <a:avLst/>
          </a:prstGeom>
          <a:noFill/>
          <a:ln/>
        </p:spPr>
        <p:txBody>
          <a:bodyPr wrap="square" lIns="0" tIns="0" rIns="0" bIns="0" rtlCol="0" anchor="t"/>
          <a:lstStyle/>
          <a:p>
            <a:pPr marL="0" indent="0">
              <a:buNone/>
            </a:pPr>
            <a:r>
              <a:rPr lang="en-US" sz="1050" b="1" dirty="0">
                <a:solidFill>
                  <a:srgbClr val="E76F51"/>
                </a:solidFill>
                <a:latin typeface="Calibri" pitchFamily="34" charset="0"/>
                <a:ea typeface="Calibri" pitchFamily="34" charset="-122"/>
                <a:cs typeface="Calibri" pitchFamily="34" charset="-120"/>
              </a:rPr>
              <a:t>Risk: </a:t>
            </a:r>
            <a:r>
              <a:rPr lang="en-US" sz="1050" dirty="0">
                <a:solidFill>
                  <a:srgbClr val="3F5278"/>
                </a:solidFill>
                <a:latin typeface="Calibri" pitchFamily="34" charset="0"/>
                <a:ea typeface="Calibri" pitchFamily="34" charset="-122"/>
                <a:cs typeface="Calibri" pitchFamily="34" charset="-120"/>
              </a:rPr>
              <a:t>Lots of oil and sodium from sauces, and very little fibre.</a:t>
            </a:r>
            <a:endParaRPr lang="en-US" sz="1050" dirty="0"/>
          </a:p>
        </p:txBody>
      </p:sp>
      <p:sp>
        <p:nvSpPr>
          <p:cNvPr id="27" name="card"/>
          <p:cNvSpPr/>
          <p:nvPr/>
        </p:nvSpPr>
        <p:spPr>
          <a:xfrm>
            <a:off x="4663440" y="2788920"/>
            <a:ext cx="4114800" cy="1627632"/>
          </a:xfrm>
          <a:prstGeom prst="roundRect">
            <a:avLst>
              <a:gd name="adj" fmla="val 5618"/>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28" name="iconcircle"/>
          <p:cNvSpPr/>
          <p:nvPr/>
        </p:nvSpPr>
        <p:spPr>
          <a:xfrm>
            <a:off x="4846320" y="2926080"/>
            <a:ext cx="548640" cy="548640"/>
          </a:xfrm>
          <a:prstGeom prst="ellipse">
            <a:avLst/>
          </a:prstGeom>
          <a:solidFill>
            <a:srgbClr val="2EA995"/>
          </a:solidFill>
          <a:ln w="12700">
            <a:solidFill>
              <a:srgbClr val="2EA995"/>
            </a:solidFill>
            <a:prstDash val="solid"/>
          </a:ln>
        </p:spPr>
      </p:sp>
      <p:pic>
        <p:nvPicPr>
          <p:cNvPr id="29" name="Image 3" descr="FaTint"/>
          <p:cNvPicPr>
            <a:picLocks noChangeAspect="1"/>
          </p:cNvPicPr>
          <p:nvPr/>
        </p:nvPicPr>
        <p:blipFill>
          <a:blip r:embed="rId6"/>
          <a:stretch>
            <a:fillRect/>
          </a:stretch>
        </p:blipFill>
        <p:spPr>
          <a:xfrm>
            <a:off x="4983480" y="3063240"/>
            <a:ext cx="274320" cy="274320"/>
          </a:xfrm>
          <a:prstGeom prst="rect">
            <a:avLst/>
          </a:prstGeom>
        </p:spPr>
      </p:pic>
      <p:sp>
        <p:nvSpPr>
          <p:cNvPr id="30" name="Text 24"/>
          <p:cNvSpPr txBox="1"/>
          <p:nvPr/>
        </p:nvSpPr>
        <p:spPr>
          <a:xfrm>
            <a:off x="5532120" y="2926080"/>
            <a:ext cx="2011680" cy="548640"/>
          </a:xfrm>
          <a:prstGeom prst="rect">
            <a:avLst/>
          </a:prstGeom>
          <a:noFill/>
          <a:ln/>
        </p:spPr>
        <p:txBody>
          <a:bodyPr wrap="square" lIns="0" tIns="0" rIns="0" bIns="0" rtlCol="0" anchor="ctr"/>
          <a:lstStyle/>
          <a:p>
            <a:pPr marL="0" indent="0">
              <a:buNone/>
            </a:pPr>
            <a:r>
              <a:rPr lang="en-US" sz="1540" b="1" dirty="0">
                <a:solidFill>
                  <a:srgbClr val="1E3A6B"/>
                </a:solidFill>
                <a:latin typeface="Calibri" pitchFamily="34" charset="0"/>
                <a:ea typeface="Calibri" pitchFamily="34" charset="-122"/>
                <a:cs typeface="Calibri" pitchFamily="34" charset="-120"/>
              </a:rPr>
              <a:t>Pani Puri</a:t>
            </a:r>
            <a:endParaRPr lang="en-US" sz="1540" dirty="0"/>
          </a:p>
        </p:txBody>
      </p:sp>
      <p:sp>
        <p:nvSpPr>
          <p:cNvPr id="31" name="pill"/>
          <p:cNvSpPr/>
          <p:nvPr/>
        </p:nvSpPr>
        <p:spPr>
          <a:xfrm>
            <a:off x="7269480" y="3035808"/>
            <a:ext cx="1371600" cy="292608"/>
          </a:xfrm>
          <a:prstGeom prst="roundRect">
            <a:avLst>
              <a:gd name="adj" fmla="val 50000"/>
            </a:avLst>
          </a:prstGeom>
          <a:solidFill>
            <a:srgbClr val="2EA995"/>
          </a:solidFill>
          <a:ln w="12700">
            <a:solidFill>
              <a:srgbClr val="2EA995"/>
            </a:solidFill>
            <a:prstDash val="solid"/>
          </a:ln>
        </p:spPr>
      </p:sp>
      <p:sp>
        <p:nvSpPr>
          <p:cNvPr id="32" name="Text 26"/>
          <p:cNvSpPr txBox="1"/>
          <p:nvPr/>
        </p:nvSpPr>
        <p:spPr>
          <a:xfrm>
            <a:off x="7269480" y="3035808"/>
            <a:ext cx="1371600" cy="292608"/>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Coefficient 0.475</a:t>
            </a:r>
            <a:endParaRPr lang="en-US" sz="990" dirty="0"/>
          </a:p>
        </p:txBody>
      </p:sp>
      <p:sp>
        <p:nvSpPr>
          <p:cNvPr id="33" name="Text 27"/>
          <p:cNvSpPr txBox="1"/>
          <p:nvPr/>
        </p:nvSpPr>
        <p:spPr>
          <a:xfrm>
            <a:off x="4846320" y="3566160"/>
            <a:ext cx="3749040" cy="365760"/>
          </a:xfrm>
          <a:prstGeom prst="rect">
            <a:avLst/>
          </a:prstGeom>
          <a:noFill/>
          <a:ln/>
        </p:spPr>
        <p:txBody>
          <a:bodyPr wrap="square" lIns="0" tIns="0" rIns="0" bIns="0" rtlCol="0" anchor="t"/>
          <a:lstStyle/>
          <a:p>
            <a:pPr marL="0" indent="0">
              <a:buNone/>
            </a:pPr>
            <a:r>
              <a:rPr lang="en-US" sz="1050" b="1" dirty="0">
                <a:solidFill>
                  <a:srgbClr val="2EA995"/>
                </a:solidFill>
                <a:latin typeface="Calibri" pitchFamily="34" charset="0"/>
                <a:ea typeface="Calibri" pitchFamily="34" charset="-122"/>
                <a:cs typeface="Calibri" pitchFamily="34" charset="-120"/>
              </a:rPr>
              <a:t>Made of: </a:t>
            </a:r>
            <a:r>
              <a:rPr lang="en-US" sz="1050" dirty="0">
                <a:solidFill>
                  <a:srgbClr val="3F5278"/>
                </a:solidFill>
                <a:latin typeface="Calibri" pitchFamily="34" charset="0"/>
                <a:ea typeface="Calibri" pitchFamily="34" charset="-122"/>
                <a:cs typeface="Calibri" pitchFamily="34" charset="-120"/>
              </a:rPr>
              <a:t>Fried puri, spicy water and sweet-sour chutney.</a:t>
            </a:r>
            <a:endParaRPr lang="en-US" sz="1050" dirty="0"/>
          </a:p>
        </p:txBody>
      </p:sp>
      <p:sp>
        <p:nvSpPr>
          <p:cNvPr id="34" name="Text 28"/>
          <p:cNvSpPr txBox="1"/>
          <p:nvPr/>
        </p:nvSpPr>
        <p:spPr>
          <a:xfrm>
            <a:off x="4846320" y="3931920"/>
            <a:ext cx="3749040" cy="411480"/>
          </a:xfrm>
          <a:prstGeom prst="rect">
            <a:avLst/>
          </a:prstGeom>
          <a:noFill/>
          <a:ln/>
        </p:spPr>
        <p:txBody>
          <a:bodyPr wrap="square" lIns="0" tIns="0" rIns="0" bIns="0" rtlCol="0" anchor="t"/>
          <a:lstStyle/>
          <a:p>
            <a:pPr marL="0" indent="0">
              <a:buNone/>
            </a:pPr>
            <a:r>
              <a:rPr lang="en-US" sz="1050" b="1" dirty="0">
                <a:solidFill>
                  <a:srgbClr val="E76F51"/>
                </a:solidFill>
                <a:latin typeface="Calibri" pitchFamily="34" charset="0"/>
                <a:ea typeface="Calibri" pitchFamily="34" charset="-122"/>
                <a:cs typeface="Calibri" pitchFamily="34" charset="-120"/>
              </a:rPr>
              <a:t>Risk: </a:t>
            </a:r>
            <a:r>
              <a:rPr lang="en-US" sz="1050" dirty="0">
                <a:solidFill>
                  <a:srgbClr val="3F5278"/>
                </a:solidFill>
                <a:latin typeface="Calibri" pitchFamily="34" charset="0"/>
                <a:ea typeface="Calibri" pitchFamily="34" charset="-122"/>
                <a:cs typeface="Calibri" pitchFamily="34" charset="-120"/>
              </a:rPr>
              <a:t>Fried shell and sugary chutney. Unclean water can cause stomach infection.</a:t>
            </a:r>
            <a:endParaRPr lang="en-US" sz="1050" dirty="0"/>
          </a:p>
        </p:txBody>
      </p:sp>
      <p:sp>
        <p:nvSpPr>
          <p:cNvPr id="35" name="Slide Number Placeholder 0"/>
          <p:cNvSpPr>
            <a:spLocks noGrp="1"/>
          </p:cNvSpPr>
          <p:nvPr>
            <p:ph type="sldNum" sz="quarter" idx="4294967295"/>
          </p:nvPr>
        </p:nvSpPr>
        <p:spPr>
          <a:xfrm>
            <a:off x="832104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46587D"/>
                </a:solidFill>
                <a:latin typeface="Calibri"/>
                <a:ea typeface="Calibri"/>
                <a:cs typeface="Calibri"/>
              </a:defRPr>
            </a:lvl1pPr>
          </a:lstStyle>
          <a:p>
            <a:pPr algn="r"/>
            <a:fld id="{F7021451-1387-4CA6-816F-3879F97B5CBC}" type="slidenum">
              <a:rPr lang="en-US" b="0"/>
              <a:pPr algn="r"/>
              <a:t>6</a:t>
            </a:fld>
            <a:endParaRPr lang="en-US"/>
          </a:p>
        </p:txBody>
      </p:sp>
    </p:spTree>
  </p:cSld>
  <p:clrMapOvr>
    <a:masterClrMapping/>
  </p:clrMapOvr>
  <p:transition spd="med">
    <p:split orient="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p:nvPr>
        </p:nvSpPr>
        <p:spPr>
          <a:xfrm>
            <a:off x="365760" y="201168"/>
            <a:ext cx="8412480" cy="548640"/>
          </a:xfrm>
          <a:prstGeom prst="rect">
            <a:avLst/>
          </a:prstGeom>
          <a:noFill/>
          <a:ln/>
        </p:spPr>
        <p:txBody>
          <a:bodyPr wrap="square" lIns="0" tIns="0" rIns="0" bIns="0" rtlCol="0" anchor="ctr"/>
          <a:lstStyle/>
          <a:p>
            <a:pPr marL="0" indent="0" algn="l">
              <a:buNone/>
            </a:pPr>
            <a:r>
              <a:rPr lang="en-US" sz="2400" b="1" dirty="0">
                <a:solidFill>
                  <a:srgbClr val="1E3A6B"/>
                </a:solidFill>
                <a:latin typeface="Calibri" pitchFamily="34" charset="0"/>
                <a:ea typeface="Calibri" pitchFamily="34" charset="-122"/>
                <a:cs typeface="Calibri" pitchFamily="34" charset="-120"/>
              </a:rPr>
              <a:t>Technology Used</a:t>
            </a:r>
            <a:endParaRPr lang="en-US" sz="2400" dirty="0"/>
          </a:p>
        </p:txBody>
      </p:sp>
      <p:sp>
        <p:nvSpPr>
          <p:cNvPr id="3" name="card"/>
          <p:cNvSpPr/>
          <p:nvPr/>
        </p:nvSpPr>
        <p:spPr>
          <a:xfrm>
            <a:off x="365760" y="1005840"/>
            <a:ext cx="2651760" cy="1508760"/>
          </a:xfrm>
          <a:prstGeom prst="roundRect">
            <a:avLst>
              <a:gd name="adj" fmla="val 6061"/>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4" name="iconcircle"/>
          <p:cNvSpPr/>
          <p:nvPr/>
        </p:nvSpPr>
        <p:spPr>
          <a:xfrm>
            <a:off x="1371600" y="1170432"/>
            <a:ext cx="640080" cy="640080"/>
          </a:xfrm>
          <a:prstGeom prst="ellipse">
            <a:avLst/>
          </a:prstGeom>
          <a:solidFill>
            <a:srgbClr val="3B82C4"/>
          </a:solidFill>
          <a:ln w="12700">
            <a:solidFill>
              <a:srgbClr val="3B82C4"/>
            </a:solidFill>
            <a:prstDash val="solid"/>
          </a:ln>
        </p:spPr>
      </p:sp>
      <p:pic>
        <p:nvPicPr>
          <p:cNvPr id="5" name="Image 0" descr="FaPython"/>
          <p:cNvPicPr>
            <a:picLocks noChangeAspect="1"/>
          </p:cNvPicPr>
          <p:nvPr/>
        </p:nvPicPr>
        <p:blipFill>
          <a:blip r:embed="rId3"/>
          <a:stretch>
            <a:fillRect/>
          </a:stretch>
        </p:blipFill>
        <p:spPr>
          <a:xfrm>
            <a:off x="1531620" y="1330452"/>
            <a:ext cx="320040" cy="320040"/>
          </a:xfrm>
          <a:prstGeom prst="rect">
            <a:avLst/>
          </a:prstGeom>
        </p:spPr>
      </p:pic>
      <p:sp>
        <p:nvSpPr>
          <p:cNvPr id="6" name="Text 3"/>
          <p:cNvSpPr txBox="1"/>
          <p:nvPr/>
        </p:nvSpPr>
        <p:spPr>
          <a:xfrm>
            <a:off x="457200" y="1847088"/>
            <a:ext cx="2468880" cy="274320"/>
          </a:xfrm>
          <a:prstGeom prst="rect">
            <a:avLst/>
          </a:prstGeom>
          <a:noFill/>
          <a:ln/>
        </p:spPr>
        <p:txBody>
          <a:bodyPr wrap="square" lIns="0" tIns="0" rIns="0" bIns="0" rtlCol="0" anchor="ctr"/>
          <a:lstStyle/>
          <a:p>
            <a:pPr marL="0" indent="0" algn="ctr">
              <a:buNone/>
            </a:pPr>
            <a:r>
              <a:rPr lang="en-US" sz="1270" b="1" dirty="0">
                <a:solidFill>
                  <a:srgbClr val="1E3A6B"/>
                </a:solidFill>
                <a:latin typeface="Calibri" pitchFamily="34" charset="0"/>
                <a:ea typeface="Calibri" pitchFamily="34" charset="-122"/>
                <a:cs typeface="Calibri" pitchFamily="34" charset="-120"/>
              </a:rPr>
              <a:t>Python</a:t>
            </a:r>
            <a:endParaRPr lang="en-US" sz="1270" dirty="0"/>
          </a:p>
        </p:txBody>
      </p:sp>
      <p:sp>
        <p:nvSpPr>
          <p:cNvPr id="7" name="Text 4"/>
          <p:cNvSpPr txBox="1"/>
          <p:nvPr/>
        </p:nvSpPr>
        <p:spPr>
          <a:xfrm>
            <a:off x="457200" y="2121408"/>
            <a:ext cx="2468880" cy="274320"/>
          </a:xfrm>
          <a:prstGeom prst="rect">
            <a:avLst/>
          </a:prstGeom>
          <a:noFill/>
          <a:ln/>
        </p:spPr>
        <p:txBody>
          <a:bodyPr wrap="square" lIns="0" tIns="0" rIns="0" bIns="0" rtlCol="0" anchor="ctr"/>
          <a:lstStyle/>
          <a:p>
            <a:pPr marL="0" indent="0" algn="ctr">
              <a:buNone/>
            </a:pPr>
            <a:r>
              <a:rPr lang="en-US" sz="990" dirty="0">
                <a:solidFill>
                  <a:srgbClr val="3F5278"/>
                </a:solidFill>
                <a:latin typeface="Calibri" pitchFamily="34" charset="0"/>
                <a:ea typeface="Calibri" pitchFamily="34" charset="-122"/>
                <a:cs typeface="Calibri" pitchFamily="34" charset="-120"/>
              </a:rPr>
              <a:t>Main programming language</a:t>
            </a:r>
            <a:endParaRPr lang="en-US" sz="990" dirty="0"/>
          </a:p>
        </p:txBody>
      </p:sp>
      <p:sp>
        <p:nvSpPr>
          <p:cNvPr id="8" name="card"/>
          <p:cNvSpPr/>
          <p:nvPr/>
        </p:nvSpPr>
        <p:spPr>
          <a:xfrm>
            <a:off x="3246120" y="1005840"/>
            <a:ext cx="2651760" cy="1508760"/>
          </a:xfrm>
          <a:prstGeom prst="roundRect">
            <a:avLst>
              <a:gd name="adj" fmla="val 6061"/>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9" name="iconcircle"/>
          <p:cNvSpPr/>
          <p:nvPr/>
        </p:nvSpPr>
        <p:spPr>
          <a:xfrm>
            <a:off x="4251960" y="1170432"/>
            <a:ext cx="640080" cy="640080"/>
          </a:xfrm>
          <a:prstGeom prst="ellipse">
            <a:avLst/>
          </a:prstGeom>
          <a:solidFill>
            <a:srgbClr val="2EA995"/>
          </a:solidFill>
          <a:ln w="12700">
            <a:solidFill>
              <a:srgbClr val="2EA995"/>
            </a:solidFill>
            <a:prstDash val="solid"/>
          </a:ln>
        </p:spPr>
      </p:sp>
      <p:pic>
        <p:nvPicPr>
          <p:cNvPr id="10" name="Image 1" descr="FaTable"/>
          <p:cNvPicPr>
            <a:picLocks noChangeAspect="1"/>
          </p:cNvPicPr>
          <p:nvPr/>
        </p:nvPicPr>
        <p:blipFill>
          <a:blip r:embed="rId4"/>
          <a:stretch>
            <a:fillRect/>
          </a:stretch>
        </p:blipFill>
        <p:spPr>
          <a:xfrm>
            <a:off x="4411980" y="1330452"/>
            <a:ext cx="320040" cy="320040"/>
          </a:xfrm>
          <a:prstGeom prst="rect">
            <a:avLst/>
          </a:prstGeom>
        </p:spPr>
      </p:pic>
      <p:sp>
        <p:nvSpPr>
          <p:cNvPr id="11" name="Text 7"/>
          <p:cNvSpPr txBox="1"/>
          <p:nvPr/>
        </p:nvSpPr>
        <p:spPr>
          <a:xfrm>
            <a:off x="3337560" y="1847088"/>
            <a:ext cx="2468880" cy="274320"/>
          </a:xfrm>
          <a:prstGeom prst="rect">
            <a:avLst/>
          </a:prstGeom>
          <a:noFill/>
          <a:ln/>
        </p:spPr>
        <p:txBody>
          <a:bodyPr wrap="square" lIns="0" tIns="0" rIns="0" bIns="0" rtlCol="0" anchor="ctr"/>
          <a:lstStyle/>
          <a:p>
            <a:pPr marL="0" indent="0" algn="ctr">
              <a:buNone/>
            </a:pPr>
            <a:r>
              <a:rPr lang="en-US" sz="1270" b="1" dirty="0">
                <a:solidFill>
                  <a:srgbClr val="1E3A6B"/>
                </a:solidFill>
                <a:latin typeface="Calibri" pitchFamily="34" charset="0"/>
                <a:ea typeface="Calibri" pitchFamily="34" charset="-122"/>
                <a:cs typeface="Calibri" pitchFamily="34" charset="-120"/>
              </a:rPr>
              <a:t>Pandas &amp; NumPy</a:t>
            </a:r>
            <a:endParaRPr lang="en-US" sz="1270" dirty="0"/>
          </a:p>
        </p:txBody>
      </p:sp>
      <p:sp>
        <p:nvSpPr>
          <p:cNvPr id="12" name="Text 8"/>
          <p:cNvSpPr txBox="1"/>
          <p:nvPr/>
        </p:nvSpPr>
        <p:spPr>
          <a:xfrm>
            <a:off x="3337560" y="2121408"/>
            <a:ext cx="2468880" cy="274320"/>
          </a:xfrm>
          <a:prstGeom prst="rect">
            <a:avLst/>
          </a:prstGeom>
          <a:noFill/>
          <a:ln/>
        </p:spPr>
        <p:txBody>
          <a:bodyPr wrap="square" lIns="0" tIns="0" rIns="0" bIns="0" rtlCol="0" anchor="ctr"/>
          <a:lstStyle/>
          <a:p>
            <a:pPr marL="0" indent="0" algn="ctr">
              <a:buNone/>
            </a:pPr>
            <a:r>
              <a:rPr lang="en-US" sz="990" dirty="0">
                <a:solidFill>
                  <a:srgbClr val="3F5278"/>
                </a:solidFill>
                <a:latin typeface="Calibri" pitchFamily="34" charset="0"/>
                <a:ea typeface="Calibri" pitchFamily="34" charset="-122"/>
                <a:cs typeface="Calibri" pitchFamily="34" charset="-120"/>
              </a:rPr>
              <a:t>Data handling &amp; calculations</a:t>
            </a:r>
            <a:endParaRPr lang="en-US" sz="990" dirty="0"/>
          </a:p>
        </p:txBody>
      </p:sp>
      <p:sp>
        <p:nvSpPr>
          <p:cNvPr id="13" name="card"/>
          <p:cNvSpPr/>
          <p:nvPr/>
        </p:nvSpPr>
        <p:spPr>
          <a:xfrm>
            <a:off x="6126480" y="1005840"/>
            <a:ext cx="2651760" cy="1508760"/>
          </a:xfrm>
          <a:prstGeom prst="roundRect">
            <a:avLst>
              <a:gd name="adj" fmla="val 6061"/>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14" name="iconcircle"/>
          <p:cNvSpPr/>
          <p:nvPr/>
        </p:nvSpPr>
        <p:spPr>
          <a:xfrm>
            <a:off x="7132320" y="1170432"/>
            <a:ext cx="640080" cy="640080"/>
          </a:xfrm>
          <a:prstGeom prst="ellipse">
            <a:avLst/>
          </a:prstGeom>
          <a:solidFill>
            <a:srgbClr val="7B6BD6"/>
          </a:solidFill>
          <a:ln w="12700">
            <a:solidFill>
              <a:srgbClr val="7B6BD6"/>
            </a:solidFill>
            <a:prstDash val="solid"/>
          </a:ln>
        </p:spPr>
      </p:sp>
      <p:pic>
        <p:nvPicPr>
          <p:cNvPr id="15" name="Image 2" descr="FaCogs"/>
          <p:cNvPicPr>
            <a:picLocks noChangeAspect="1"/>
          </p:cNvPicPr>
          <p:nvPr/>
        </p:nvPicPr>
        <p:blipFill>
          <a:blip r:embed="rId5"/>
          <a:stretch>
            <a:fillRect/>
          </a:stretch>
        </p:blipFill>
        <p:spPr>
          <a:xfrm>
            <a:off x="7292340" y="1330452"/>
            <a:ext cx="320040" cy="320040"/>
          </a:xfrm>
          <a:prstGeom prst="rect">
            <a:avLst/>
          </a:prstGeom>
        </p:spPr>
      </p:pic>
      <p:sp>
        <p:nvSpPr>
          <p:cNvPr id="16" name="Text 11"/>
          <p:cNvSpPr txBox="1"/>
          <p:nvPr/>
        </p:nvSpPr>
        <p:spPr>
          <a:xfrm>
            <a:off x="6217920" y="1847088"/>
            <a:ext cx="2468880" cy="274320"/>
          </a:xfrm>
          <a:prstGeom prst="rect">
            <a:avLst/>
          </a:prstGeom>
          <a:noFill/>
          <a:ln/>
        </p:spPr>
        <p:txBody>
          <a:bodyPr wrap="square" lIns="0" tIns="0" rIns="0" bIns="0" rtlCol="0" anchor="ctr"/>
          <a:lstStyle/>
          <a:p>
            <a:pPr marL="0" indent="0" algn="ctr">
              <a:buNone/>
            </a:pPr>
            <a:r>
              <a:rPr lang="en-US" sz="1270" b="1" dirty="0">
                <a:solidFill>
                  <a:srgbClr val="1E3A6B"/>
                </a:solidFill>
                <a:latin typeface="Calibri" pitchFamily="34" charset="0"/>
                <a:ea typeface="Calibri" pitchFamily="34" charset="-122"/>
                <a:cs typeface="Calibri" pitchFamily="34" charset="-120"/>
              </a:rPr>
              <a:t>Scikit-learn</a:t>
            </a:r>
            <a:endParaRPr lang="en-US" sz="1270" dirty="0"/>
          </a:p>
        </p:txBody>
      </p:sp>
      <p:sp>
        <p:nvSpPr>
          <p:cNvPr id="17" name="Text 12"/>
          <p:cNvSpPr txBox="1"/>
          <p:nvPr/>
        </p:nvSpPr>
        <p:spPr>
          <a:xfrm>
            <a:off x="6217920" y="2121408"/>
            <a:ext cx="2468880" cy="274320"/>
          </a:xfrm>
          <a:prstGeom prst="rect">
            <a:avLst/>
          </a:prstGeom>
          <a:noFill/>
          <a:ln/>
        </p:spPr>
        <p:txBody>
          <a:bodyPr wrap="square" lIns="0" tIns="0" rIns="0" bIns="0" rtlCol="0" anchor="ctr"/>
          <a:lstStyle/>
          <a:p>
            <a:pPr marL="0" indent="0" algn="ctr">
              <a:buNone/>
            </a:pPr>
            <a:r>
              <a:rPr lang="en-US" sz="990" dirty="0">
                <a:solidFill>
                  <a:srgbClr val="3F5278"/>
                </a:solidFill>
                <a:latin typeface="Calibri" pitchFamily="34" charset="0"/>
                <a:ea typeface="Calibri" pitchFamily="34" charset="-122"/>
                <a:cs typeface="Calibri" pitchFamily="34" charset="-120"/>
              </a:rPr>
              <a:t>Linear Regression model</a:t>
            </a:r>
            <a:endParaRPr lang="en-US" sz="990" dirty="0"/>
          </a:p>
        </p:txBody>
      </p:sp>
      <p:sp>
        <p:nvSpPr>
          <p:cNvPr id="18" name="card"/>
          <p:cNvSpPr/>
          <p:nvPr/>
        </p:nvSpPr>
        <p:spPr>
          <a:xfrm>
            <a:off x="365760" y="2697480"/>
            <a:ext cx="2651760" cy="1508760"/>
          </a:xfrm>
          <a:prstGeom prst="roundRect">
            <a:avLst>
              <a:gd name="adj" fmla="val 6061"/>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19" name="iconcircle"/>
          <p:cNvSpPr/>
          <p:nvPr/>
        </p:nvSpPr>
        <p:spPr>
          <a:xfrm>
            <a:off x="1371600" y="2862072"/>
            <a:ext cx="640080" cy="640080"/>
          </a:xfrm>
          <a:prstGeom prst="ellipse">
            <a:avLst/>
          </a:prstGeom>
          <a:solidFill>
            <a:srgbClr val="D6568C"/>
          </a:solidFill>
          <a:ln w="12700">
            <a:solidFill>
              <a:srgbClr val="D6568C"/>
            </a:solidFill>
            <a:prstDash val="solid"/>
          </a:ln>
        </p:spPr>
      </p:sp>
      <p:pic>
        <p:nvPicPr>
          <p:cNvPr id="20" name="Image 3" descr="FaDesktop"/>
          <p:cNvPicPr>
            <a:picLocks noChangeAspect="1"/>
          </p:cNvPicPr>
          <p:nvPr/>
        </p:nvPicPr>
        <p:blipFill>
          <a:blip r:embed="rId6"/>
          <a:stretch>
            <a:fillRect/>
          </a:stretch>
        </p:blipFill>
        <p:spPr>
          <a:xfrm>
            <a:off x="1531620" y="3022092"/>
            <a:ext cx="320040" cy="320040"/>
          </a:xfrm>
          <a:prstGeom prst="rect">
            <a:avLst/>
          </a:prstGeom>
        </p:spPr>
      </p:pic>
      <p:sp>
        <p:nvSpPr>
          <p:cNvPr id="21" name="Text 15"/>
          <p:cNvSpPr txBox="1"/>
          <p:nvPr/>
        </p:nvSpPr>
        <p:spPr>
          <a:xfrm>
            <a:off x="457200" y="3538728"/>
            <a:ext cx="2468880" cy="274320"/>
          </a:xfrm>
          <a:prstGeom prst="rect">
            <a:avLst/>
          </a:prstGeom>
          <a:noFill/>
          <a:ln/>
        </p:spPr>
        <p:txBody>
          <a:bodyPr wrap="square" lIns="0" tIns="0" rIns="0" bIns="0" rtlCol="0" anchor="ctr"/>
          <a:lstStyle/>
          <a:p>
            <a:pPr marL="0" indent="0" algn="ctr">
              <a:buNone/>
            </a:pPr>
            <a:r>
              <a:rPr lang="en-US" sz="1270" b="1" dirty="0">
                <a:solidFill>
                  <a:srgbClr val="1E3A6B"/>
                </a:solidFill>
                <a:latin typeface="Calibri" pitchFamily="34" charset="0"/>
                <a:ea typeface="Calibri" pitchFamily="34" charset="-122"/>
                <a:cs typeface="Calibri" pitchFamily="34" charset="-120"/>
              </a:rPr>
              <a:t>Streamlit</a:t>
            </a:r>
            <a:endParaRPr lang="en-US" sz="1270" dirty="0"/>
          </a:p>
        </p:txBody>
      </p:sp>
      <p:sp>
        <p:nvSpPr>
          <p:cNvPr id="22" name="Text 16"/>
          <p:cNvSpPr txBox="1"/>
          <p:nvPr/>
        </p:nvSpPr>
        <p:spPr>
          <a:xfrm>
            <a:off x="457200" y="3813048"/>
            <a:ext cx="2468880" cy="274320"/>
          </a:xfrm>
          <a:prstGeom prst="rect">
            <a:avLst/>
          </a:prstGeom>
          <a:noFill/>
          <a:ln/>
        </p:spPr>
        <p:txBody>
          <a:bodyPr wrap="square" lIns="0" tIns="0" rIns="0" bIns="0" rtlCol="0" anchor="ctr"/>
          <a:lstStyle/>
          <a:p>
            <a:pPr marL="0" indent="0" algn="ctr">
              <a:buNone/>
            </a:pPr>
            <a:r>
              <a:rPr lang="en-US" sz="990" dirty="0">
                <a:solidFill>
                  <a:srgbClr val="3F5278"/>
                </a:solidFill>
                <a:latin typeface="Calibri" pitchFamily="34" charset="0"/>
                <a:ea typeface="Calibri" pitchFamily="34" charset="-122"/>
                <a:cs typeface="Calibri" pitchFamily="34" charset="-120"/>
              </a:rPr>
              <a:t>Interactive web UI</a:t>
            </a:r>
            <a:endParaRPr lang="en-US" sz="990" dirty="0"/>
          </a:p>
        </p:txBody>
      </p:sp>
      <p:sp>
        <p:nvSpPr>
          <p:cNvPr id="23" name="card"/>
          <p:cNvSpPr/>
          <p:nvPr/>
        </p:nvSpPr>
        <p:spPr>
          <a:xfrm>
            <a:off x="3246120" y="2697480"/>
            <a:ext cx="2651760" cy="1508760"/>
          </a:xfrm>
          <a:prstGeom prst="roundRect">
            <a:avLst>
              <a:gd name="adj" fmla="val 6061"/>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24" name="iconcircle"/>
          <p:cNvSpPr/>
          <p:nvPr/>
        </p:nvSpPr>
        <p:spPr>
          <a:xfrm>
            <a:off x="4251960" y="2862072"/>
            <a:ext cx="640080" cy="640080"/>
          </a:xfrm>
          <a:prstGeom prst="ellipse">
            <a:avLst/>
          </a:prstGeom>
          <a:solidFill>
            <a:srgbClr val="2762A8"/>
          </a:solidFill>
          <a:ln w="12700">
            <a:solidFill>
              <a:srgbClr val="2762A8"/>
            </a:solidFill>
            <a:prstDash val="solid"/>
          </a:ln>
        </p:spPr>
      </p:sp>
      <p:pic>
        <p:nvPicPr>
          <p:cNvPr id="25" name="Image 4" descr="FaChartLine"/>
          <p:cNvPicPr>
            <a:picLocks noChangeAspect="1"/>
          </p:cNvPicPr>
          <p:nvPr/>
        </p:nvPicPr>
        <p:blipFill>
          <a:blip r:embed="rId7"/>
          <a:stretch>
            <a:fillRect/>
          </a:stretch>
        </p:blipFill>
        <p:spPr>
          <a:xfrm>
            <a:off x="4411980" y="3022092"/>
            <a:ext cx="320040" cy="320040"/>
          </a:xfrm>
          <a:prstGeom prst="rect">
            <a:avLst/>
          </a:prstGeom>
        </p:spPr>
      </p:pic>
      <p:sp>
        <p:nvSpPr>
          <p:cNvPr id="26" name="Text 19"/>
          <p:cNvSpPr txBox="1"/>
          <p:nvPr/>
        </p:nvSpPr>
        <p:spPr>
          <a:xfrm>
            <a:off x="3337560" y="3538728"/>
            <a:ext cx="2468880" cy="274320"/>
          </a:xfrm>
          <a:prstGeom prst="rect">
            <a:avLst/>
          </a:prstGeom>
          <a:noFill/>
          <a:ln/>
        </p:spPr>
        <p:txBody>
          <a:bodyPr wrap="square" lIns="0" tIns="0" rIns="0" bIns="0" rtlCol="0" anchor="ctr"/>
          <a:lstStyle/>
          <a:p>
            <a:pPr marL="0" indent="0" algn="ctr">
              <a:buNone/>
            </a:pPr>
            <a:r>
              <a:rPr lang="en-US" sz="1270" b="1" dirty="0">
                <a:solidFill>
                  <a:srgbClr val="1E3A6B"/>
                </a:solidFill>
                <a:latin typeface="Calibri" pitchFamily="34" charset="0"/>
                <a:ea typeface="Calibri" pitchFamily="34" charset="-122"/>
                <a:cs typeface="Calibri" pitchFamily="34" charset="-120"/>
              </a:rPr>
              <a:t>Linear Regression</a:t>
            </a:r>
            <a:endParaRPr lang="en-US" sz="1270" dirty="0"/>
          </a:p>
        </p:txBody>
      </p:sp>
      <p:sp>
        <p:nvSpPr>
          <p:cNvPr id="27" name="Text 20"/>
          <p:cNvSpPr txBox="1"/>
          <p:nvPr/>
        </p:nvSpPr>
        <p:spPr>
          <a:xfrm>
            <a:off x="3337560" y="3813048"/>
            <a:ext cx="2468880" cy="274320"/>
          </a:xfrm>
          <a:prstGeom prst="rect">
            <a:avLst/>
          </a:prstGeom>
          <a:noFill/>
          <a:ln/>
        </p:spPr>
        <p:txBody>
          <a:bodyPr wrap="square" lIns="0" tIns="0" rIns="0" bIns="0" rtlCol="0" anchor="ctr"/>
          <a:lstStyle/>
          <a:p>
            <a:pPr marL="0" indent="0" algn="ctr">
              <a:buNone/>
            </a:pPr>
            <a:r>
              <a:rPr lang="en-US" sz="990" dirty="0">
                <a:solidFill>
                  <a:srgbClr val="3F5278"/>
                </a:solidFill>
                <a:latin typeface="Calibri" pitchFamily="34" charset="0"/>
                <a:ea typeface="Calibri" pitchFamily="34" charset="-122"/>
                <a:cs typeface="Calibri" pitchFamily="34" charset="-120"/>
              </a:rPr>
              <a:t>Only ML algorithm used</a:t>
            </a:r>
            <a:endParaRPr lang="en-US" sz="990" dirty="0"/>
          </a:p>
        </p:txBody>
      </p:sp>
      <p:sp>
        <p:nvSpPr>
          <p:cNvPr id="28" name="card"/>
          <p:cNvSpPr/>
          <p:nvPr/>
        </p:nvSpPr>
        <p:spPr>
          <a:xfrm>
            <a:off x="6126480" y="2697480"/>
            <a:ext cx="2651760" cy="1508760"/>
          </a:xfrm>
          <a:prstGeom prst="roundRect">
            <a:avLst>
              <a:gd name="adj" fmla="val 6061"/>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29" name="iconcircle"/>
          <p:cNvSpPr/>
          <p:nvPr/>
        </p:nvSpPr>
        <p:spPr>
          <a:xfrm>
            <a:off x="7132320" y="2862072"/>
            <a:ext cx="640080" cy="640080"/>
          </a:xfrm>
          <a:prstGeom prst="ellipse">
            <a:avLst/>
          </a:prstGeom>
          <a:solidFill>
            <a:srgbClr val="D9870B"/>
          </a:solidFill>
          <a:ln w="12700">
            <a:solidFill>
              <a:srgbClr val="D9870B"/>
            </a:solidFill>
            <a:prstDash val="solid"/>
          </a:ln>
        </p:spPr>
      </p:sp>
      <p:pic>
        <p:nvPicPr>
          <p:cNvPr id="30" name="Image 5" descr="FaDatabase"/>
          <p:cNvPicPr>
            <a:picLocks noChangeAspect="1"/>
          </p:cNvPicPr>
          <p:nvPr/>
        </p:nvPicPr>
        <p:blipFill>
          <a:blip r:embed="rId8"/>
          <a:stretch>
            <a:fillRect/>
          </a:stretch>
        </p:blipFill>
        <p:spPr>
          <a:xfrm>
            <a:off x="7292340" y="3022092"/>
            <a:ext cx="320040" cy="320040"/>
          </a:xfrm>
          <a:prstGeom prst="rect">
            <a:avLst/>
          </a:prstGeom>
        </p:spPr>
      </p:pic>
      <p:sp>
        <p:nvSpPr>
          <p:cNvPr id="31" name="Text 23"/>
          <p:cNvSpPr txBox="1"/>
          <p:nvPr/>
        </p:nvSpPr>
        <p:spPr>
          <a:xfrm>
            <a:off x="6217920" y="3538728"/>
            <a:ext cx="2468880" cy="274320"/>
          </a:xfrm>
          <a:prstGeom prst="rect">
            <a:avLst/>
          </a:prstGeom>
          <a:noFill/>
          <a:ln/>
        </p:spPr>
        <p:txBody>
          <a:bodyPr wrap="square" lIns="0" tIns="0" rIns="0" bIns="0" rtlCol="0" anchor="ctr"/>
          <a:lstStyle/>
          <a:p>
            <a:pPr marL="0" indent="0" algn="ctr">
              <a:buNone/>
            </a:pPr>
            <a:r>
              <a:rPr lang="en-US" sz="1270" b="1" dirty="0">
                <a:solidFill>
                  <a:srgbClr val="1E3A6B"/>
                </a:solidFill>
                <a:latin typeface="Calibri" pitchFamily="34" charset="0"/>
                <a:ea typeface="Calibri" pitchFamily="34" charset="-122"/>
                <a:cs typeface="Calibri" pitchFamily="34" charset="-120"/>
              </a:rPr>
              <a:t>50,000 samples</a:t>
            </a:r>
            <a:endParaRPr lang="en-US" sz="1270" dirty="0"/>
          </a:p>
        </p:txBody>
      </p:sp>
      <p:sp>
        <p:nvSpPr>
          <p:cNvPr id="32" name="Text 24"/>
          <p:cNvSpPr txBox="1"/>
          <p:nvPr/>
        </p:nvSpPr>
        <p:spPr>
          <a:xfrm>
            <a:off x="6217920" y="3813048"/>
            <a:ext cx="2468880" cy="274320"/>
          </a:xfrm>
          <a:prstGeom prst="rect">
            <a:avLst/>
          </a:prstGeom>
          <a:noFill/>
          <a:ln/>
        </p:spPr>
        <p:txBody>
          <a:bodyPr wrap="square" lIns="0" tIns="0" rIns="0" bIns="0" rtlCol="0" anchor="ctr"/>
          <a:lstStyle/>
          <a:p>
            <a:pPr marL="0" indent="0" algn="ctr">
              <a:buNone/>
            </a:pPr>
            <a:r>
              <a:rPr lang="en-US" sz="990" dirty="0">
                <a:solidFill>
                  <a:srgbClr val="3F5278"/>
                </a:solidFill>
                <a:latin typeface="Calibri" pitchFamily="34" charset="0"/>
                <a:ea typeface="Calibri" pitchFamily="34" charset="-122"/>
                <a:cs typeface="Calibri" pitchFamily="34" charset="-120"/>
              </a:rPr>
              <a:t>Dataset size for training</a:t>
            </a:r>
            <a:endParaRPr lang="en-US" sz="990" dirty="0"/>
          </a:p>
        </p:txBody>
      </p:sp>
      <p:sp>
        <p:nvSpPr>
          <p:cNvPr id="33" name="Slide Number Placeholder 0"/>
          <p:cNvSpPr>
            <a:spLocks noGrp="1"/>
          </p:cNvSpPr>
          <p:nvPr>
            <p:ph type="sldNum" sz="quarter" idx="4294967295"/>
          </p:nvPr>
        </p:nvSpPr>
        <p:spPr>
          <a:xfrm>
            <a:off x="832104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46587D"/>
                </a:solidFill>
                <a:latin typeface="Calibri"/>
                <a:ea typeface="Calibri"/>
                <a:cs typeface="Calibri"/>
              </a:defRPr>
            </a:lvl1pPr>
          </a:lstStyle>
          <a:p>
            <a:pPr algn="r"/>
            <a:fld id="{F7021451-1387-4CA6-816F-3879F97B5CBC}" type="slidenum">
              <a:rPr lang="en-US" b="0"/>
              <a:pPr algn="r"/>
              <a:t>7</a:t>
            </a:fld>
            <a:endParaRPr lang="en-US"/>
          </a:p>
        </p:txBody>
      </p:sp>
    </p:spTree>
  </p:cSld>
  <p:clrMapOvr>
    <a:masterClrMapping/>
  </p:clrMapOvr>
  <p:transition spd="med">
    <p:split orient="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p:nvPr>
        </p:nvSpPr>
        <p:spPr>
          <a:xfrm>
            <a:off x="365760" y="201168"/>
            <a:ext cx="8412480" cy="548640"/>
          </a:xfrm>
          <a:prstGeom prst="rect">
            <a:avLst/>
          </a:prstGeom>
          <a:noFill/>
          <a:ln/>
        </p:spPr>
        <p:txBody>
          <a:bodyPr wrap="square" lIns="0" tIns="0" rIns="0" bIns="0" rtlCol="0" anchor="ctr"/>
          <a:lstStyle/>
          <a:p>
            <a:pPr marL="0" indent="0" algn="l">
              <a:buNone/>
            </a:pPr>
            <a:r>
              <a:rPr lang="en-US" sz="2400" b="1" dirty="0">
                <a:solidFill>
                  <a:srgbClr val="1E3A6B"/>
                </a:solidFill>
                <a:latin typeface="Calibri" pitchFamily="34" charset="0"/>
                <a:ea typeface="Calibri" pitchFamily="34" charset="-122"/>
                <a:cs typeface="Calibri" pitchFamily="34" charset="-120"/>
              </a:rPr>
              <a:t>Project Roadmap — 3 Phases</a:t>
            </a:r>
            <a:endParaRPr lang="en-US" sz="2400" dirty="0"/>
          </a:p>
        </p:txBody>
      </p:sp>
      <p:sp>
        <p:nvSpPr>
          <p:cNvPr id="3" name="phase"/>
          <p:cNvSpPr/>
          <p:nvPr/>
        </p:nvSpPr>
        <p:spPr>
          <a:xfrm>
            <a:off x="365760" y="1005840"/>
            <a:ext cx="2377440" cy="411480"/>
          </a:xfrm>
          <a:prstGeom prst="roundRect">
            <a:avLst>
              <a:gd name="adj" fmla="val 48889"/>
            </a:avLst>
          </a:prstGeom>
          <a:solidFill>
            <a:srgbClr val="2762A8"/>
          </a:solidFill>
          <a:ln w="12700">
            <a:solidFill>
              <a:srgbClr val="2762A8"/>
            </a:solidFill>
            <a:prstDash val="solid"/>
          </a:ln>
        </p:spPr>
      </p:sp>
      <p:sp>
        <p:nvSpPr>
          <p:cNvPr id="4" name="Text 2"/>
          <p:cNvSpPr txBox="1"/>
          <p:nvPr/>
        </p:nvSpPr>
        <p:spPr>
          <a:xfrm>
            <a:off x="365760" y="1005840"/>
            <a:ext cx="2377440" cy="411480"/>
          </a:xfrm>
          <a:prstGeom prst="rect">
            <a:avLst/>
          </a:prstGeom>
          <a:noFill/>
          <a:ln/>
        </p:spPr>
        <p:txBody>
          <a:bodyPr wrap="square" lIns="0" tIns="0" rIns="0" bIns="0" rtlCol="0" anchor="ctr"/>
          <a:lstStyle/>
          <a:p>
            <a:pPr marL="0" indent="0" algn="ctr">
              <a:buNone/>
            </a:pPr>
            <a:r>
              <a:rPr lang="en-US" sz="1160" b="1" dirty="0">
                <a:solidFill>
                  <a:srgbClr val="FFFFFF"/>
                </a:solidFill>
                <a:latin typeface="Calibri" pitchFamily="34" charset="0"/>
                <a:ea typeface="Calibri" pitchFamily="34" charset="-122"/>
                <a:cs typeface="Calibri" pitchFamily="34" charset="-120"/>
              </a:rPr>
              <a:t>Phase 1: Data Prep</a:t>
            </a:r>
            <a:endParaRPr lang="en-US" sz="1160" dirty="0"/>
          </a:p>
        </p:txBody>
      </p:sp>
      <p:sp>
        <p:nvSpPr>
          <p:cNvPr id="5" name="arrow"/>
          <p:cNvSpPr/>
          <p:nvPr/>
        </p:nvSpPr>
        <p:spPr>
          <a:xfrm>
            <a:off x="2834640" y="1097280"/>
            <a:ext cx="457200" cy="237744"/>
          </a:xfrm>
          <a:prstGeom prst="rightArrow">
            <a:avLst/>
          </a:prstGeom>
          <a:solidFill>
            <a:srgbClr val="2762A8">
              <a:alpha val="85000"/>
            </a:srgbClr>
          </a:solidFill>
          <a:ln w="12700">
            <a:solidFill>
              <a:srgbClr val="2762A8"/>
            </a:solidFill>
            <a:prstDash val="solid"/>
          </a:ln>
        </p:spPr>
      </p:sp>
      <p:sp>
        <p:nvSpPr>
          <p:cNvPr id="6" name="card"/>
          <p:cNvSpPr/>
          <p:nvPr/>
        </p:nvSpPr>
        <p:spPr>
          <a:xfrm>
            <a:off x="365760" y="1554480"/>
            <a:ext cx="2377440" cy="3108960"/>
          </a:xfrm>
          <a:prstGeom prst="roundRect">
            <a:avLst>
              <a:gd name="adj" fmla="val 3846"/>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7" name="dot"/>
          <p:cNvSpPr/>
          <p:nvPr/>
        </p:nvSpPr>
        <p:spPr>
          <a:xfrm>
            <a:off x="502920" y="1737360"/>
            <a:ext cx="274320" cy="274320"/>
          </a:xfrm>
          <a:prstGeom prst="ellipse">
            <a:avLst/>
          </a:prstGeom>
          <a:solidFill>
            <a:srgbClr val="2762A8"/>
          </a:solidFill>
          <a:ln w="12700">
            <a:solidFill>
              <a:srgbClr val="2762A8"/>
            </a:solidFill>
            <a:prstDash val="solid"/>
          </a:ln>
        </p:spPr>
      </p:sp>
      <p:sp>
        <p:nvSpPr>
          <p:cNvPr id="8" name="Text 6"/>
          <p:cNvSpPr txBox="1"/>
          <p:nvPr/>
        </p:nvSpPr>
        <p:spPr>
          <a:xfrm>
            <a:off x="502920" y="1737360"/>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1</a:t>
            </a:r>
            <a:endParaRPr lang="en-US" sz="990" dirty="0"/>
          </a:p>
        </p:txBody>
      </p:sp>
      <p:sp>
        <p:nvSpPr>
          <p:cNvPr id="9" name="Text 7"/>
          <p:cNvSpPr txBox="1"/>
          <p:nvPr/>
        </p:nvSpPr>
        <p:spPr>
          <a:xfrm>
            <a:off x="868680" y="1664208"/>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Collect / generate dataset</a:t>
            </a:r>
            <a:endParaRPr lang="en-US" sz="1050" dirty="0"/>
          </a:p>
        </p:txBody>
      </p:sp>
      <p:sp>
        <p:nvSpPr>
          <p:cNvPr id="10" name="dot"/>
          <p:cNvSpPr/>
          <p:nvPr/>
        </p:nvSpPr>
        <p:spPr>
          <a:xfrm>
            <a:off x="502920" y="2221992"/>
            <a:ext cx="274320" cy="274320"/>
          </a:xfrm>
          <a:prstGeom prst="ellipse">
            <a:avLst/>
          </a:prstGeom>
          <a:solidFill>
            <a:srgbClr val="2762A8"/>
          </a:solidFill>
          <a:ln w="12700">
            <a:solidFill>
              <a:srgbClr val="2762A8"/>
            </a:solidFill>
            <a:prstDash val="solid"/>
          </a:ln>
        </p:spPr>
      </p:sp>
      <p:sp>
        <p:nvSpPr>
          <p:cNvPr id="11" name="Text 9"/>
          <p:cNvSpPr txBox="1"/>
          <p:nvPr/>
        </p:nvSpPr>
        <p:spPr>
          <a:xfrm>
            <a:off x="502920" y="2221992"/>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2</a:t>
            </a:r>
            <a:endParaRPr lang="en-US" sz="990" dirty="0"/>
          </a:p>
        </p:txBody>
      </p:sp>
      <p:sp>
        <p:nvSpPr>
          <p:cNvPr id="12" name="Text 10"/>
          <p:cNvSpPr txBox="1"/>
          <p:nvPr/>
        </p:nvSpPr>
        <p:spPr>
          <a:xfrm>
            <a:off x="868680" y="2148840"/>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50,000 rows, 10 foods</a:t>
            </a:r>
            <a:endParaRPr lang="en-US" sz="1050" dirty="0"/>
          </a:p>
        </p:txBody>
      </p:sp>
      <p:sp>
        <p:nvSpPr>
          <p:cNvPr id="13" name="dot"/>
          <p:cNvSpPr/>
          <p:nvPr/>
        </p:nvSpPr>
        <p:spPr>
          <a:xfrm>
            <a:off x="502920" y="2706624"/>
            <a:ext cx="274320" cy="274320"/>
          </a:xfrm>
          <a:prstGeom prst="ellipse">
            <a:avLst/>
          </a:prstGeom>
          <a:solidFill>
            <a:srgbClr val="2762A8"/>
          </a:solidFill>
          <a:ln w="12700">
            <a:solidFill>
              <a:srgbClr val="2762A8"/>
            </a:solidFill>
            <a:prstDash val="solid"/>
          </a:ln>
        </p:spPr>
      </p:sp>
      <p:sp>
        <p:nvSpPr>
          <p:cNvPr id="14" name="Text 12"/>
          <p:cNvSpPr txBox="1"/>
          <p:nvPr/>
        </p:nvSpPr>
        <p:spPr>
          <a:xfrm>
            <a:off x="502920" y="2706624"/>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3</a:t>
            </a:r>
            <a:endParaRPr lang="en-US" sz="990" dirty="0"/>
          </a:p>
        </p:txBody>
      </p:sp>
      <p:sp>
        <p:nvSpPr>
          <p:cNvPr id="15" name="Text 13"/>
          <p:cNvSpPr txBox="1"/>
          <p:nvPr/>
        </p:nvSpPr>
        <p:spPr>
          <a:xfrm>
            <a:off x="868680" y="2633472"/>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Target: Annual Damage %</a:t>
            </a:r>
            <a:endParaRPr lang="en-US" sz="1050" dirty="0"/>
          </a:p>
        </p:txBody>
      </p:sp>
      <p:sp>
        <p:nvSpPr>
          <p:cNvPr id="16" name="dot"/>
          <p:cNvSpPr/>
          <p:nvPr/>
        </p:nvSpPr>
        <p:spPr>
          <a:xfrm>
            <a:off x="502920" y="3191256"/>
            <a:ext cx="274320" cy="274320"/>
          </a:xfrm>
          <a:prstGeom prst="ellipse">
            <a:avLst/>
          </a:prstGeom>
          <a:solidFill>
            <a:srgbClr val="2762A8"/>
          </a:solidFill>
          <a:ln w="12700">
            <a:solidFill>
              <a:srgbClr val="2762A8"/>
            </a:solidFill>
            <a:prstDash val="solid"/>
          </a:ln>
        </p:spPr>
      </p:sp>
      <p:sp>
        <p:nvSpPr>
          <p:cNvPr id="17" name="Text 15"/>
          <p:cNvSpPr txBox="1"/>
          <p:nvPr/>
        </p:nvSpPr>
        <p:spPr>
          <a:xfrm>
            <a:off x="502920" y="3191256"/>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4</a:t>
            </a:r>
            <a:endParaRPr lang="en-US" sz="990" dirty="0"/>
          </a:p>
        </p:txBody>
      </p:sp>
      <p:sp>
        <p:nvSpPr>
          <p:cNvPr id="18" name="Text 16"/>
          <p:cNvSpPr txBox="1"/>
          <p:nvPr/>
        </p:nvSpPr>
        <p:spPr>
          <a:xfrm>
            <a:off x="868680" y="3118104"/>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Clean missing values</a:t>
            </a:r>
            <a:endParaRPr lang="en-US" sz="1050" dirty="0"/>
          </a:p>
        </p:txBody>
      </p:sp>
      <p:sp>
        <p:nvSpPr>
          <p:cNvPr id="19" name="dot"/>
          <p:cNvSpPr/>
          <p:nvPr/>
        </p:nvSpPr>
        <p:spPr>
          <a:xfrm>
            <a:off x="502920" y="3675888"/>
            <a:ext cx="274320" cy="274320"/>
          </a:xfrm>
          <a:prstGeom prst="ellipse">
            <a:avLst/>
          </a:prstGeom>
          <a:solidFill>
            <a:srgbClr val="2762A8"/>
          </a:solidFill>
          <a:ln w="12700">
            <a:solidFill>
              <a:srgbClr val="2762A8"/>
            </a:solidFill>
            <a:prstDash val="solid"/>
          </a:ln>
        </p:spPr>
      </p:sp>
      <p:sp>
        <p:nvSpPr>
          <p:cNvPr id="20" name="Text 18"/>
          <p:cNvSpPr txBox="1"/>
          <p:nvPr/>
        </p:nvSpPr>
        <p:spPr>
          <a:xfrm>
            <a:off x="502920" y="3675888"/>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5</a:t>
            </a:r>
            <a:endParaRPr lang="en-US" sz="990" dirty="0"/>
          </a:p>
        </p:txBody>
      </p:sp>
      <p:sp>
        <p:nvSpPr>
          <p:cNvPr id="21" name="Text 19"/>
          <p:cNvSpPr txBox="1"/>
          <p:nvPr/>
        </p:nvSpPr>
        <p:spPr>
          <a:xfrm>
            <a:off x="868680" y="3602736"/>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Check duplicates</a:t>
            </a:r>
            <a:endParaRPr lang="en-US" sz="1050" dirty="0"/>
          </a:p>
        </p:txBody>
      </p:sp>
      <p:sp>
        <p:nvSpPr>
          <p:cNvPr id="22" name="dot"/>
          <p:cNvSpPr/>
          <p:nvPr/>
        </p:nvSpPr>
        <p:spPr>
          <a:xfrm>
            <a:off x="502920" y="4160520"/>
            <a:ext cx="274320" cy="274320"/>
          </a:xfrm>
          <a:prstGeom prst="ellipse">
            <a:avLst/>
          </a:prstGeom>
          <a:solidFill>
            <a:srgbClr val="2762A8"/>
          </a:solidFill>
          <a:ln w="12700">
            <a:solidFill>
              <a:srgbClr val="2762A8"/>
            </a:solidFill>
            <a:prstDash val="solid"/>
          </a:ln>
        </p:spPr>
      </p:sp>
      <p:sp>
        <p:nvSpPr>
          <p:cNvPr id="23" name="Text 21"/>
          <p:cNvSpPr txBox="1"/>
          <p:nvPr/>
        </p:nvSpPr>
        <p:spPr>
          <a:xfrm>
            <a:off x="502920" y="4160520"/>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6</a:t>
            </a:r>
            <a:endParaRPr lang="en-US" sz="990" dirty="0"/>
          </a:p>
        </p:txBody>
      </p:sp>
      <p:sp>
        <p:nvSpPr>
          <p:cNvPr id="24" name="Text 22"/>
          <p:cNvSpPr txBox="1"/>
          <p:nvPr/>
        </p:nvSpPr>
        <p:spPr>
          <a:xfrm>
            <a:off x="868680" y="4087368"/>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Feature list ready</a:t>
            </a:r>
            <a:endParaRPr lang="en-US" sz="1050" dirty="0"/>
          </a:p>
        </p:txBody>
      </p:sp>
      <p:sp>
        <p:nvSpPr>
          <p:cNvPr id="25" name="phase"/>
          <p:cNvSpPr/>
          <p:nvPr/>
        </p:nvSpPr>
        <p:spPr>
          <a:xfrm>
            <a:off x="3383280" y="1005840"/>
            <a:ext cx="2377440" cy="411480"/>
          </a:xfrm>
          <a:prstGeom prst="roundRect">
            <a:avLst>
              <a:gd name="adj" fmla="val 48889"/>
            </a:avLst>
          </a:prstGeom>
          <a:solidFill>
            <a:srgbClr val="7B6BD6"/>
          </a:solidFill>
          <a:ln w="12700">
            <a:solidFill>
              <a:srgbClr val="7B6BD6"/>
            </a:solidFill>
            <a:prstDash val="solid"/>
          </a:ln>
        </p:spPr>
      </p:sp>
      <p:sp>
        <p:nvSpPr>
          <p:cNvPr id="26" name="Text 24"/>
          <p:cNvSpPr txBox="1"/>
          <p:nvPr/>
        </p:nvSpPr>
        <p:spPr>
          <a:xfrm>
            <a:off x="3383280" y="1005840"/>
            <a:ext cx="2377440" cy="411480"/>
          </a:xfrm>
          <a:prstGeom prst="rect">
            <a:avLst/>
          </a:prstGeom>
          <a:noFill/>
          <a:ln/>
        </p:spPr>
        <p:txBody>
          <a:bodyPr wrap="square" lIns="0" tIns="0" rIns="0" bIns="0" rtlCol="0" anchor="ctr"/>
          <a:lstStyle/>
          <a:p>
            <a:pPr marL="0" indent="0" algn="ctr">
              <a:buNone/>
            </a:pPr>
            <a:r>
              <a:rPr lang="en-US" sz="1160" b="1" dirty="0">
                <a:solidFill>
                  <a:srgbClr val="FFFFFF"/>
                </a:solidFill>
                <a:latin typeface="Calibri" pitchFamily="34" charset="0"/>
                <a:ea typeface="Calibri" pitchFamily="34" charset="-122"/>
                <a:cs typeface="Calibri" pitchFamily="34" charset="-120"/>
              </a:rPr>
              <a:t>Phase 2: Training</a:t>
            </a:r>
            <a:endParaRPr lang="en-US" sz="1160" dirty="0"/>
          </a:p>
        </p:txBody>
      </p:sp>
      <p:sp>
        <p:nvSpPr>
          <p:cNvPr id="27" name="arrow"/>
          <p:cNvSpPr/>
          <p:nvPr/>
        </p:nvSpPr>
        <p:spPr>
          <a:xfrm>
            <a:off x="5852160" y="1097280"/>
            <a:ext cx="457200" cy="237744"/>
          </a:xfrm>
          <a:prstGeom prst="rightArrow">
            <a:avLst/>
          </a:prstGeom>
          <a:solidFill>
            <a:srgbClr val="7B6BD6">
              <a:alpha val="85000"/>
            </a:srgbClr>
          </a:solidFill>
          <a:ln w="12700">
            <a:solidFill>
              <a:srgbClr val="7B6BD6"/>
            </a:solidFill>
            <a:prstDash val="solid"/>
          </a:ln>
        </p:spPr>
      </p:sp>
      <p:sp>
        <p:nvSpPr>
          <p:cNvPr id="28" name="card"/>
          <p:cNvSpPr/>
          <p:nvPr/>
        </p:nvSpPr>
        <p:spPr>
          <a:xfrm>
            <a:off x="3383280" y="1554480"/>
            <a:ext cx="2377440" cy="3108960"/>
          </a:xfrm>
          <a:prstGeom prst="roundRect">
            <a:avLst>
              <a:gd name="adj" fmla="val 3846"/>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29" name="dot"/>
          <p:cNvSpPr/>
          <p:nvPr/>
        </p:nvSpPr>
        <p:spPr>
          <a:xfrm>
            <a:off x="3520440" y="1737360"/>
            <a:ext cx="274320" cy="274320"/>
          </a:xfrm>
          <a:prstGeom prst="ellipse">
            <a:avLst/>
          </a:prstGeom>
          <a:solidFill>
            <a:srgbClr val="7B6BD6"/>
          </a:solidFill>
          <a:ln w="12700">
            <a:solidFill>
              <a:srgbClr val="7B6BD6"/>
            </a:solidFill>
            <a:prstDash val="solid"/>
          </a:ln>
        </p:spPr>
      </p:sp>
      <p:sp>
        <p:nvSpPr>
          <p:cNvPr id="30" name="Text 28"/>
          <p:cNvSpPr txBox="1"/>
          <p:nvPr/>
        </p:nvSpPr>
        <p:spPr>
          <a:xfrm>
            <a:off x="3520440" y="1737360"/>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1</a:t>
            </a:r>
            <a:endParaRPr lang="en-US" sz="990" dirty="0"/>
          </a:p>
        </p:txBody>
      </p:sp>
      <p:sp>
        <p:nvSpPr>
          <p:cNvPr id="31" name="Text 29"/>
          <p:cNvSpPr txBox="1"/>
          <p:nvPr/>
        </p:nvSpPr>
        <p:spPr>
          <a:xfrm>
            <a:off x="3886200" y="1664208"/>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Define Features (X)</a:t>
            </a:r>
            <a:endParaRPr lang="en-US" sz="1050" dirty="0"/>
          </a:p>
        </p:txBody>
      </p:sp>
      <p:sp>
        <p:nvSpPr>
          <p:cNvPr id="32" name="dot"/>
          <p:cNvSpPr/>
          <p:nvPr/>
        </p:nvSpPr>
        <p:spPr>
          <a:xfrm>
            <a:off x="3520440" y="2221992"/>
            <a:ext cx="274320" cy="274320"/>
          </a:xfrm>
          <a:prstGeom prst="ellipse">
            <a:avLst/>
          </a:prstGeom>
          <a:solidFill>
            <a:srgbClr val="7B6BD6"/>
          </a:solidFill>
          <a:ln w="12700">
            <a:solidFill>
              <a:srgbClr val="7B6BD6"/>
            </a:solidFill>
            <a:prstDash val="solid"/>
          </a:ln>
        </p:spPr>
      </p:sp>
      <p:sp>
        <p:nvSpPr>
          <p:cNvPr id="33" name="Text 31"/>
          <p:cNvSpPr txBox="1"/>
          <p:nvPr/>
        </p:nvSpPr>
        <p:spPr>
          <a:xfrm>
            <a:off x="3520440" y="2221992"/>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2</a:t>
            </a:r>
            <a:endParaRPr lang="en-US" sz="990" dirty="0"/>
          </a:p>
        </p:txBody>
      </p:sp>
      <p:sp>
        <p:nvSpPr>
          <p:cNvPr id="34" name="Text 32"/>
          <p:cNvSpPr txBox="1"/>
          <p:nvPr/>
        </p:nvSpPr>
        <p:spPr>
          <a:xfrm>
            <a:off x="3886200" y="2148840"/>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Define Target (y)</a:t>
            </a:r>
            <a:endParaRPr lang="en-US" sz="1050" dirty="0"/>
          </a:p>
        </p:txBody>
      </p:sp>
      <p:sp>
        <p:nvSpPr>
          <p:cNvPr id="35" name="dot"/>
          <p:cNvSpPr/>
          <p:nvPr/>
        </p:nvSpPr>
        <p:spPr>
          <a:xfrm>
            <a:off x="3520440" y="2706624"/>
            <a:ext cx="274320" cy="274320"/>
          </a:xfrm>
          <a:prstGeom prst="ellipse">
            <a:avLst/>
          </a:prstGeom>
          <a:solidFill>
            <a:srgbClr val="7B6BD6"/>
          </a:solidFill>
          <a:ln w="12700">
            <a:solidFill>
              <a:srgbClr val="7B6BD6"/>
            </a:solidFill>
            <a:prstDash val="solid"/>
          </a:ln>
        </p:spPr>
      </p:sp>
      <p:sp>
        <p:nvSpPr>
          <p:cNvPr id="36" name="Text 34"/>
          <p:cNvSpPr txBox="1"/>
          <p:nvPr/>
        </p:nvSpPr>
        <p:spPr>
          <a:xfrm>
            <a:off x="3520440" y="2706624"/>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3</a:t>
            </a:r>
            <a:endParaRPr lang="en-US" sz="990" dirty="0"/>
          </a:p>
        </p:txBody>
      </p:sp>
      <p:sp>
        <p:nvSpPr>
          <p:cNvPr id="37" name="Text 35"/>
          <p:cNvSpPr txBox="1"/>
          <p:nvPr/>
        </p:nvSpPr>
        <p:spPr>
          <a:xfrm>
            <a:off x="3886200" y="2633472"/>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Train-Test Split 80/20</a:t>
            </a:r>
            <a:endParaRPr lang="en-US" sz="1050" dirty="0"/>
          </a:p>
        </p:txBody>
      </p:sp>
      <p:sp>
        <p:nvSpPr>
          <p:cNvPr id="38" name="dot"/>
          <p:cNvSpPr/>
          <p:nvPr/>
        </p:nvSpPr>
        <p:spPr>
          <a:xfrm>
            <a:off x="3520440" y="3191256"/>
            <a:ext cx="274320" cy="274320"/>
          </a:xfrm>
          <a:prstGeom prst="ellipse">
            <a:avLst/>
          </a:prstGeom>
          <a:solidFill>
            <a:srgbClr val="7B6BD6"/>
          </a:solidFill>
          <a:ln w="12700">
            <a:solidFill>
              <a:srgbClr val="7B6BD6"/>
            </a:solidFill>
            <a:prstDash val="solid"/>
          </a:ln>
        </p:spPr>
      </p:sp>
      <p:sp>
        <p:nvSpPr>
          <p:cNvPr id="39" name="Text 37"/>
          <p:cNvSpPr txBox="1"/>
          <p:nvPr/>
        </p:nvSpPr>
        <p:spPr>
          <a:xfrm>
            <a:off x="3520440" y="3191256"/>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4</a:t>
            </a:r>
            <a:endParaRPr lang="en-US" sz="990" dirty="0"/>
          </a:p>
        </p:txBody>
      </p:sp>
      <p:sp>
        <p:nvSpPr>
          <p:cNvPr id="40" name="Text 38"/>
          <p:cNvSpPr txBox="1"/>
          <p:nvPr/>
        </p:nvSpPr>
        <p:spPr>
          <a:xfrm>
            <a:off x="3886200" y="3118104"/>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Fit Linear Regression</a:t>
            </a:r>
            <a:endParaRPr lang="en-US" sz="1050" dirty="0"/>
          </a:p>
        </p:txBody>
      </p:sp>
      <p:sp>
        <p:nvSpPr>
          <p:cNvPr id="41" name="dot"/>
          <p:cNvSpPr/>
          <p:nvPr/>
        </p:nvSpPr>
        <p:spPr>
          <a:xfrm>
            <a:off x="3520440" y="3675888"/>
            <a:ext cx="274320" cy="274320"/>
          </a:xfrm>
          <a:prstGeom prst="ellipse">
            <a:avLst/>
          </a:prstGeom>
          <a:solidFill>
            <a:srgbClr val="7B6BD6"/>
          </a:solidFill>
          <a:ln w="12700">
            <a:solidFill>
              <a:srgbClr val="7B6BD6"/>
            </a:solidFill>
            <a:prstDash val="solid"/>
          </a:ln>
        </p:spPr>
      </p:sp>
      <p:sp>
        <p:nvSpPr>
          <p:cNvPr id="42" name="Text 40"/>
          <p:cNvSpPr txBox="1"/>
          <p:nvPr/>
        </p:nvSpPr>
        <p:spPr>
          <a:xfrm>
            <a:off x="3520440" y="3675888"/>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5</a:t>
            </a:r>
            <a:endParaRPr lang="en-US" sz="990" dirty="0"/>
          </a:p>
        </p:txBody>
      </p:sp>
      <p:sp>
        <p:nvSpPr>
          <p:cNvPr id="43" name="Text 41"/>
          <p:cNvSpPr txBox="1"/>
          <p:nvPr/>
        </p:nvSpPr>
        <p:spPr>
          <a:xfrm>
            <a:off x="3886200" y="3602736"/>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Get Coefficients</a:t>
            </a:r>
            <a:endParaRPr lang="en-US" sz="1050" dirty="0"/>
          </a:p>
        </p:txBody>
      </p:sp>
      <p:sp>
        <p:nvSpPr>
          <p:cNvPr id="44" name="dot"/>
          <p:cNvSpPr/>
          <p:nvPr/>
        </p:nvSpPr>
        <p:spPr>
          <a:xfrm>
            <a:off x="3520440" y="4160520"/>
            <a:ext cx="274320" cy="274320"/>
          </a:xfrm>
          <a:prstGeom prst="ellipse">
            <a:avLst/>
          </a:prstGeom>
          <a:solidFill>
            <a:srgbClr val="7B6BD6"/>
          </a:solidFill>
          <a:ln w="12700">
            <a:solidFill>
              <a:srgbClr val="7B6BD6"/>
            </a:solidFill>
            <a:prstDash val="solid"/>
          </a:ln>
        </p:spPr>
      </p:sp>
      <p:sp>
        <p:nvSpPr>
          <p:cNvPr id="45" name="Text 43"/>
          <p:cNvSpPr txBox="1"/>
          <p:nvPr/>
        </p:nvSpPr>
        <p:spPr>
          <a:xfrm>
            <a:off x="3520440" y="4160520"/>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6</a:t>
            </a:r>
            <a:endParaRPr lang="en-US" sz="990" dirty="0"/>
          </a:p>
        </p:txBody>
      </p:sp>
      <p:sp>
        <p:nvSpPr>
          <p:cNvPr id="46" name="Text 44"/>
          <p:cNvSpPr txBox="1"/>
          <p:nvPr/>
        </p:nvSpPr>
        <p:spPr>
          <a:xfrm>
            <a:off x="3886200" y="4087368"/>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Evaluate (R² ≈ 0.96)</a:t>
            </a:r>
            <a:endParaRPr lang="en-US" sz="1050" dirty="0"/>
          </a:p>
        </p:txBody>
      </p:sp>
      <p:sp>
        <p:nvSpPr>
          <p:cNvPr id="47" name="phase"/>
          <p:cNvSpPr/>
          <p:nvPr/>
        </p:nvSpPr>
        <p:spPr>
          <a:xfrm>
            <a:off x="6400800" y="1005840"/>
            <a:ext cx="2377440" cy="411480"/>
          </a:xfrm>
          <a:prstGeom prst="roundRect">
            <a:avLst>
              <a:gd name="adj" fmla="val 48889"/>
            </a:avLst>
          </a:prstGeom>
          <a:solidFill>
            <a:srgbClr val="D6568C"/>
          </a:solidFill>
          <a:ln w="12700">
            <a:solidFill>
              <a:srgbClr val="D6568C"/>
            </a:solidFill>
            <a:prstDash val="solid"/>
          </a:ln>
        </p:spPr>
      </p:sp>
      <p:sp>
        <p:nvSpPr>
          <p:cNvPr id="48" name="Text 46"/>
          <p:cNvSpPr txBox="1"/>
          <p:nvPr/>
        </p:nvSpPr>
        <p:spPr>
          <a:xfrm>
            <a:off x="6400800" y="1005840"/>
            <a:ext cx="2377440" cy="411480"/>
          </a:xfrm>
          <a:prstGeom prst="rect">
            <a:avLst/>
          </a:prstGeom>
          <a:noFill/>
          <a:ln/>
        </p:spPr>
        <p:txBody>
          <a:bodyPr wrap="square" lIns="0" tIns="0" rIns="0" bIns="0" rtlCol="0" anchor="ctr"/>
          <a:lstStyle/>
          <a:p>
            <a:pPr marL="0" indent="0" algn="ctr">
              <a:buNone/>
            </a:pPr>
            <a:r>
              <a:rPr lang="en-US" sz="1160" b="1" dirty="0">
                <a:solidFill>
                  <a:srgbClr val="FFFFFF"/>
                </a:solidFill>
                <a:latin typeface="Calibri" pitchFamily="34" charset="0"/>
                <a:ea typeface="Calibri" pitchFamily="34" charset="-122"/>
                <a:cs typeface="Calibri" pitchFamily="34" charset="-120"/>
              </a:rPr>
              <a:t>Phase 3: App</a:t>
            </a:r>
            <a:endParaRPr lang="en-US" sz="1160" dirty="0"/>
          </a:p>
        </p:txBody>
      </p:sp>
      <p:sp>
        <p:nvSpPr>
          <p:cNvPr id="49" name="card"/>
          <p:cNvSpPr/>
          <p:nvPr/>
        </p:nvSpPr>
        <p:spPr>
          <a:xfrm>
            <a:off x="6400800" y="1554480"/>
            <a:ext cx="2377440" cy="3108960"/>
          </a:xfrm>
          <a:prstGeom prst="roundRect">
            <a:avLst>
              <a:gd name="adj" fmla="val 3846"/>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50" name="dot"/>
          <p:cNvSpPr/>
          <p:nvPr/>
        </p:nvSpPr>
        <p:spPr>
          <a:xfrm>
            <a:off x="6537960" y="1737360"/>
            <a:ext cx="274320" cy="274320"/>
          </a:xfrm>
          <a:prstGeom prst="ellipse">
            <a:avLst/>
          </a:prstGeom>
          <a:solidFill>
            <a:srgbClr val="D6568C"/>
          </a:solidFill>
          <a:ln w="12700">
            <a:solidFill>
              <a:srgbClr val="D6568C"/>
            </a:solidFill>
            <a:prstDash val="solid"/>
          </a:ln>
        </p:spPr>
      </p:sp>
      <p:sp>
        <p:nvSpPr>
          <p:cNvPr id="51" name="Text 49"/>
          <p:cNvSpPr txBox="1"/>
          <p:nvPr/>
        </p:nvSpPr>
        <p:spPr>
          <a:xfrm>
            <a:off x="6537960" y="1737360"/>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1</a:t>
            </a:r>
            <a:endParaRPr lang="en-US" sz="990" dirty="0"/>
          </a:p>
        </p:txBody>
      </p:sp>
      <p:sp>
        <p:nvSpPr>
          <p:cNvPr id="52" name="Text 50"/>
          <p:cNvSpPr txBox="1"/>
          <p:nvPr/>
        </p:nvSpPr>
        <p:spPr>
          <a:xfrm>
            <a:off x="6903720" y="1664208"/>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Build Streamlit UI</a:t>
            </a:r>
            <a:endParaRPr lang="en-US" sz="1050" dirty="0"/>
          </a:p>
        </p:txBody>
      </p:sp>
      <p:sp>
        <p:nvSpPr>
          <p:cNvPr id="53" name="dot"/>
          <p:cNvSpPr/>
          <p:nvPr/>
        </p:nvSpPr>
        <p:spPr>
          <a:xfrm>
            <a:off x="6537960" y="2221992"/>
            <a:ext cx="274320" cy="274320"/>
          </a:xfrm>
          <a:prstGeom prst="ellipse">
            <a:avLst/>
          </a:prstGeom>
          <a:solidFill>
            <a:srgbClr val="D6568C"/>
          </a:solidFill>
          <a:ln w="12700">
            <a:solidFill>
              <a:srgbClr val="D6568C"/>
            </a:solidFill>
            <a:prstDash val="solid"/>
          </a:ln>
        </p:spPr>
      </p:sp>
      <p:sp>
        <p:nvSpPr>
          <p:cNvPr id="54" name="Text 52"/>
          <p:cNvSpPr txBox="1"/>
          <p:nvPr/>
        </p:nvSpPr>
        <p:spPr>
          <a:xfrm>
            <a:off x="6537960" y="2221992"/>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2</a:t>
            </a:r>
            <a:endParaRPr lang="en-US" sz="990" dirty="0"/>
          </a:p>
        </p:txBody>
      </p:sp>
      <p:sp>
        <p:nvSpPr>
          <p:cNvPr id="55" name="Text 53"/>
          <p:cNvSpPr txBox="1"/>
          <p:nvPr/>
        </p:nvSpPr>
        <p:spPr>
          <a:xfrm>
            <a:off x="6903720" y="2148840"/>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30-day input sliders</a:t>
            </a:r>
            <a:endParaRPr lang="en-US" sz="1050" dirty="0"/>
          </a:p>
        </p:txBody>
      </p:sp>
      <p:sp>
        <p:nvSpPr>
          <p:cNvPr id="56" name="dot"/>
          <p:cNvSpPr/>
          <p:nvPr/>
        </p:nvSpPr>
        <p:spPr>
          <a:xfrm>
            <a:off x="6537960" y="2706624"/>
            <a:ext cx="274320" cy="274320"/>
          </a:xfrm>
          <a:prstGeom prst="ellipse">
            <a:avLst/>
          </a:prstGeom>
          <a:solidFill>
            <a:srgbClr val="D6568C"/>
          </a:solidFill>
          <a:ln w="12700">
            <a:solidFill>
              <a:srgbClr val="D6568C"/>
            </a:solidFill>
            <a:prstDash val="solid"/>
          </a:ln>
        </p:spPr>
      </p:sp>
      <p:sp>
        <p:nvSpPr>
          <p:cNvPr id="57" name="Text 55"/>
          <p:cNvSpPr txBox="1"/>
          <p:nvPr/>
        </p:nvSpPr>
        <p:spPr>
          <a:xfrm>
            <a:off x="6537960" y="2706624"/>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3</a:t>
            </a:r>
            <a:endParaRPr lang="en-US" sz="990" dirty="0"/>
          </a:p>
        </p:txBody>
      </p:sp>
      <p:sp>
        <p:nvSpPr>
          <p:cNvPr id="58" name="Text 56"/>
          <p:cNvSpPr txBox="1"/>
          <p:nvPr/>
        </p:nvSpPr>
        <p:spPr>
          <a:xfrm>
            <a:off x="6903720" y="2633472"/>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Calculate button</a:t>
            </a:r>
            <a:endParaRPr lang="en-US" sz="1050" dirty="0"/>
          </a:p>
        </p:txBody>
      </p:sp>
      <p:sp>
        <p:nvSpPr>
          <p:cNvPr id="59" name="dot"/>
          <p:cNvSpPr/>
          <p:nvPr/>
        </p:nvSpPr>
        <p:spPr>
          <a:xfrm>
            <a:off x="6537960" y="3191256"/>
            <a:ext cx="274320" cy="274320"/>
          </a:xfrm>
          <a:prstGeom prst="ellipse">
            <a:avLst/>
          </a:prstGeom>
          <a:solidFill>
            <a:srgbClr val="D6568C"/>
          </a:solidFill>
          <a:ln w="12700">
            <a:solidFill>
              <a:srgbClr val="D6568C"/>
            </a:solidFill>
            <a:prstDash val="solid"/>
          </a:ln>
        </p:spPr>
      </p:sp>
      <p:sp>
        <p:nvSpPr>
          <p:cNvPr id="60" name="Text 58"/>
          <p:cNvSpPr txBox="1"/>
          <p:nvPr/>
        </p:nvSpPr>
        <p:spPr>
          <a:xfrm>
            <a:off x="6537960" y="3191256"/>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4</a:t>
            </a:r>
            <a:endParaRPr lang="en-US" sz="990" dirty="0"/>
          </a:p>
        </p:txBody>
      </p:sp>
      <p:sp>
        <p:nvSpPr>
          <p:cNvPr id="61" name="Text 59"/>
          <p:cNvSpPr txBox="1"/>
          <p:nvPr/>
        </p:nvSpPr>
        <p:spPr>
          <a:xfrm>
            <a:off x="6903720" y="3118104"/>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Show Damage %</a:t>
            </a:r>
            <a:endParaRPr lang="en-US" sz="1050" dirty="0"/>
          </a:p>
        </p:txBody>
      </p:sp>
      <p:sp>
        <p:nvSpPr>
          <p:cNvPr id="62" name="dot"/>
          <p:cNvSpPr/>
          <p:nvPr/>
        </p:nvSpPr>
        <p:spPr>
          <a:xfrm>
            <a:off x="6537960" y="3675888"/>
            <a:ext cx="274320" cy="274320"/>
          </a:xfrm>
          <a:prstGeom prst="ellipse">
            <a:avLst/>
          </a:prstGeom>
          <a:solidFill>
            <a:srgbClr val="D6568C"/>
          </a:solidFill>
          <a:ln w="12700">
            <a:solidFill>
              <a:srgbClr val="D6568C"/>
            </a:solidFill>
            <a:prstDash val="solid"/>
          </a:ln>
        </p:spPr>
      </p:sp>
      <p:sp>
        <p:nvSpPr>
          <p:cNvPr id="63" name="Text 61"/>
          <p:cNvSpPr txBox="1"/>
          <p:nvPr/>
        </p:nvSpPr>
        <p:spPr>
          <a:xfrm>
            <a:off x="6537960" y="3675888"/>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5</a:t>
            </a:r>
            <a:endParaRPr lang="en-US" sz="990" dirty="0"/>
          </a:p>
        </p:txBody>
      </p:sp>
      <p:sp>
        <p:nvSpPr>
          <p:cNvPr id="64" name="Text 62"/>
          <p:cNvSpPr txBox="1"/>
          <p:nvPr/>
        </p:nvSpPr>
        <p:spPr>
          <a:xfrm>
            <a:off x="6903720" y="3602736"/>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Risk level + bars</a:t>
            </a:r>
            <a:endParaRPr lang="en-US" sz="1050" dirty="0"/>
          </a:p>
        </p:txBody>
      </p:sp>
      <p:sp>
        <p:nvSpPr>
          <p:cNvPr id="65" name="dot"/>
          <p:cNvSpPr/>
          <p:nvPr/>
        </p:nvSpPr>
        <p:spPr>
          <a:xfrm>
            <a:off x="6537960" y="4160520"/>
            <a:ext cx="274320" cy="274320"/>
          </a:xfrm>
          <a:prstGeom prst="ellipse">
            <a:avLst/>
          </a:prstGeom>
          <a:solidFill>
            <a:srgbClr val="D6568C"/>
          </a:solidFill>
          <a:ln w="12700">
            <a:solidFill>
              <a:srgbClr val="D6568C"/>
            </a:solidFill>
            <a:prstDash val="solid"/>
          </a:ln>
        </p:spPr>
      </p:sp>
      <p:sp>
        <p:nvSpPr>
          <p:cNvPr id="66" name="Text 64"/>
          <p:cNvSpPr txBox="1"/>
          <p:nvPr/>
        </p:nvSpPr>
        <p:spPr>
          <a:xfrm>
            <a:off x="6537960" y="4160520"/>
            <a:ext cx="274320" cy="274320"/>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6</a:t>
            </a:r>
            <a:endParaRPr lang="en-US" sz="990" dirty="0"/>
          </a:p>
        </p:txBody>
      </p:sp>
      <p:sp>
        <p:nvSpPr>
          <p:cNvPr id="67" name="Text 65"/>
          <p:cNvSpPr txBox="1"/>
          <p:nvPr/>
        </p:nvSpPr>
        <p:spPr>
          <a:xfrm>
            <a:off x="6903720" y="4087368"/>
            <a:ext cx="1783080" cy="420624"/>
          </a:xfrm>
          <a:prstGeom prst="rect">
            <a:avLst/>
          </a:prstGeom>
          <a:noFill/>
          <a:ln/>
        </p:spPr>
        <p:txBody>
          <a:bodyPr wrap="square" lIns="0" tIns="0" rIns="0" bIns="0" rtlCol="0" anchor="ctr"/>
          <a:lstStyle/>
          <a:p>
            <a:pPr marL="0" indent="0">
              <a:buNone/>
            </a:pPr>
            <a:r>
              <a:rPr lang="en-US" sz="1050" dirty="0">
                <a:solidFill>
                  <a:srgbClr val="3F5278"/>
                </a:solidFill>
                <a:latin typeface="Calibri" pitchFamily="34" charset="0"/>
                <a:ea typeface="Calibri" pitchFamily="34" charset="-122"/>
                <a:cs typeface="Calibri" pitchFamily="34" charset="-120"/>
              </a:rPr>
              <a:t>Biggest culprit tip</a:t>
            </a:r>
            <a:endParaRPr lang="en-US" sz="1050" dirty="0"/>
          </a:p>
        </p:txBody>
      </p:sp>
      <p:sp>
        <p:nvSpPr>
          <p:cNvPr id="68" name="Slide Number Placeholder 0"/>
          <p:cNvSpPr>
            <a:spLocks noGrp="1"/>
          </p:cNvSpPr>
          <p:nvPr>
            <p:ph type="sldNum" sz="quarter" idx="4294967295"/>
          </p:nvPr>
        </p:nvSpPr>
        <p:spPr>
          <a:xfrm>
            <a:off x="832104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46587D"/>
                </a:solidFill>
                <a:latin typeface="Calibri"/>
                <a:ea typeface="Calibri"/>
                <a:cs typeface="Calibri"/>
              </a:defRPr>
            </a:lvl1pPr>
          </a:lstStyle>
          <a:p>
            <a:pPr algn="r"/>
            <a:fld id="{F7021451-1387-4CA6-816F-3879F97B5CBC}" type="slidenum">
              <a:rPr lang="en-US" b="0"/>
              <a:pPr algn="r"/>
              <a:t>8</a:t>
            </a:fld>
            <a:endParaRPr lang="en-US"/>
          </a:p>
        </p:txBody>
      </p:sp>
    </p:spTree>
  </p:cSld>
  <p:clrMapOvr>
    <a:masterClrMapping/>
  </p:clrMapOvr>
  <p:transition spd="med">
    <p:split orient="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p:nvPr>
        </p:nvSpPr>
        <p:spPr>
          <a:xfrm>
            <a:off x="365760" y="201168"/>
            <a:ext cx="8412480" cy="548640"/>
          </a:xfrm>
          <a:prstGeom prst="rect">
            <a:avLst/>
          </a:prstGeom>
          <a:noFill/>
          <a:ln/>
        </p:spPr>
        <p:txBody>
          <a:bodyPr wrap="square" lIns="0" tIns="0" rIns="0" bIns="0" rtlCol="0" anchor="ctr"/>
          <a:lstStyle/>
          <a:p>
            <a:pPr marL="0" indent="0" algn="l">
              <a:buNone/>
            </a:pPr>
            <a:r>
              <a:rPr lang="en-US" sz="2400" b="1" dirty="0">
                <a:solidFill>
                  <a:srgbClr val="1E3A6B"/>
                </a:solidFill>
                <a:latin typeface="Calibri" pitchFamily="34" charset="0"/>
                <a:ea typeface="Calibri" pitchFamily="34" charset="-122"/>
                <a:cs typeface="Calibri" pitchFamily="34" charset="-120"/>
              </a:rPr>
              <a:t>Features &amp; Target</a:t>
            </a:r>
            <a:endParaRPr lang="en-US" sz="2400" dirty="0"/>
          </a:p>
        </p:txBody>
      </p:sp>
      <p:sp>
        <p:nvSpPr>
          <p:cNvPr id="3" name="card"/>
          <p:cNvSpPr/>
          <p:nvPr/>
        </p:nvSpPr>
        <p:spPr>
          <a:xfrm>
            <a:off x="365760" y="1005840"/>
            <a:ext cx="4572000" cy="2743200"/>
          </a:xfrm>
          <a:prstGeom prst="roundRect">
            <a:avLst>
              <a:gd name="adj" fmla="val 3333"/>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4" name="Text 2"/>
          <p:cNvSpPr txBox="1"/>
          <p:nvPr/>
        </p:nvSpPr>
        <p:spPr>
          <a:xfrm>
            <a:off x="548640" y="1097280"/>
            <a:ext cx="2926080" cy="274320"/>
          </a:xfrm>
          <a:prstGeom prst="rect">
            <a:avLst/>
          </a:prstGeom>
          <a:noFill/>
          <a:ln/>
        </p:spPr>
        <p:txBody>
          <a:bodyPr wrap="square" lIns="0" tIns="0" rIns="0" bIns="0" rtlCol="0" anchor="ctr"/>
          <a:lstStyle/>
          <a:p>
            <a:pPr marL="0" indent="0">
              <a:buNone/>
            </a:pPr>
            <a:r>
              <a:rPr lang="en-US" sz="990" b="1" kern="0" spc="100" dirty="0">
                <a:solidFill>
                  <a:srgbClr val="2762A8"/>
                </a:solidFill>
                <a:latin typeface="Calibri" pitchFamily="34" charset="0"/>
                <a:ea typeface="Calibri" pitchFamily="34" charset="-122"/>
                <a:cs typeface="Calibri" pitchFamily="34" charset="-120"/>
              </a:rPr>
              <a:t>FEATURES (X)  —  10 INPUTS</a:t>
            </a:r>
            <a:endParaRPr lang="en-US" sz="990" dirty="0"/>
          </a:p>
        </p:txBody>
      </p:sp>
      <p:sp>
        <p:nvSpPr>
          <p:cNvPr id="5" name="Text 3"/>
          <p:cNvSpPr txBox="1"/>
          <p:nvPr/>
        </p:nvSpPr>
        <p:spPr>
          <a:xfrm>
            <a:off x="3657600" y="1097280"/>
            <a:ext cx="1097280" cy="274320"/>
          </a:xfrm>
          <a:prstGeom prst="rect">
            <a:avLst/>
          </a:prstGeom>
          <a:noFill/>
          <a:ln/>
        </p:spPr>
        <p:txBody>
          <a:bodyPr wrap="square" lIns="0" tIns="0" rIns="0" bIns="0" rtlCol="0" anchor="ctr"/>
          <a:lstStyle/>
          <a:p>
            <a:pPr marL="0" indent="0" algn="r">
              <a:buNone/>
            </a:pPr>
            <a:r>
              <a:rPr lang="en-US" sz="880" i="1" dirty="0">
                <a:solidFill>
                  <a:srgbClr val="46587D"/>
                </a:solidFill>
                <a:latin typeface="Calibri" pitchFamily="34" charset="0"/>
                <a:ea typeface="Calibri" pitchFamily="34" charset="-122"/>
                <a:cs typeface="Calibri" pitchFamily="34" charset="-120"/>
              </a:rPr>
              <a:t>times eaten</a:t>
            </a:r>
            <a:endParaRPr lang="en-US" sz="880" dirty="0"/>
          </a:p>
        </p:txBody>
      </p:sp>
      <p:sp>
        <p:nvSpPr>
          <p:cNvPr id="6" name="chip"/>
          <p:cNvSpPr/>
          <p:nvPr/>
        </p:nvSpPr>
        <p:spPr>
          <a:xfrm>
            <a:off x="548640" y="1463040"/>
            <a:ext cx="2011680" cy="347472"/>
          </a:xfrm>
          <a:prstGeom prst="roundRect">
            <a:avLst>
              <a:gd name="adj" fmla="val 50000"/>
            </a:avLst>
          </a:prstGeom>
          <a:solidFill>
            <a:srgbClr val="FFFFFF">
              <a:alpha val="75000"/>
            </a:srgbClr>
          </a:solidFill>
          <a:ln w="9525">
            <a:solidFill>
              <a:srgbClr val="FFFFFF">
                <a:alpha val="60000"/>
              </a:srgbClr>
            </a:solidFill>
            <a:prstDash val="solid"/>
          </a:ln>
        </p:spPr>
      </p:sp>
      <p:sp>
        <p:nvSpPr>
          <p:cNvPr id="7" name="Text 5"/>
          <p:cNvSpPr txBox="1"/>
          <p:nvPr/>
        </p:nvSpPr>
        <p:spPr>
          <a:xfrm>
            <a:off x="548640" y="1463040"/>
            <a:ext cx="2011680" cy="347472"/>
          </a:xfrm>
          <a:prstGeom prst="rect">
            <a:avLst/>
          </a:prstGeom>
          <a:noFill/>
          <a:ln/>
        </p:spPr>
        <p:txBody>
          <a:bodyPr wrap="square" lIns="0" tIns="0" rIns="0" bIns="0" rtlCol="0" anchor="ctr"/>
          <a:lstStyle/>
          <a:p>
            <a:pPr marL="0" indent="0" algn="ctr">
              <a:buNone/>
            </a:pPr>
            <a:r>
              <a:rPr lang="en-US" sz="1100" b="1" dirty="0">
                <a:solidFill>
                  <a:srgbClr val="1E3A6B"/>
                </a:solidFill>
                <a:latin typeface="Calibri" pitchFamily="34" charset="0"/>
                <a:ea typeface="Calibri" pitchFamily="34" charset="-122"/>
                <a:cs typeface="Calibri" pitchFamily="34" charset="-120"/>
              </a:rPr>
              <a:t>Momo</a:t>
            </a:r>
            <a:endParaRPr lang="en-US" sz="1100" dirty="0"/>
          </a:p>
        </p:txBody>
      </p:sp>
      <p:sp>
        <p:nvSpPr>
          <p:cNvPr id="8" name="chip"/>
          <p:cNvSpPr/>
          <p:nvPr/>
        </p:nvSpPr>
        <p:spPr>
          <a:xfrm>
            <a:off x="2697480" y="1463040"/>
            <a:ext cx="2011680" cy="347472"/>
          </a:xfrm>
          <a:prstGeom prst="roundRect">
            <a:avLst>
              <a:gd name="adj" fmla="val 50000"/>
            </a:avLst>
          </a:prstGeom>
          <a:solidFill>
            <a:srgbClr val="FFFFFF">
              <a:alpha val="75000"/>
            </a:srgbClr>
          </a:solidFill>
          <a:ln w="9525">
            <a:solidFill>
              <a:srgbClr val="FFFFFF">
                <a:alpha val="60000"/>
              </a:srgbClr>
            </a:solidFill>
            <a:prstDash val="solid"/>
          </a:ln>
        </p:spPr>
      </p:sp>
      <p:sp>
        <p:nvSpPr>
          <p:cNvPr id="9" name="Text 7"/>
          <p:cNvSpPr txBox="1"/>
          <p:nvPr/>
        </p:nvSpPr>
        <p:spPr>
          <a:xfrm>
            <a:off x="2697480" y="1463040"/>
            <a:ext cx="2011680" cy="347472"/>
          </a:xfrm>
          <a:prstGeom prst="rect">
            <a:avLst/>
          </a:prstGeom>
          <a:noFill/>
          <a:ln/>
        </p:spPr>
        <p:txBody>
          <a:bodyPr wrap="square" lIns="0" tIns="0" rIns="0" bIns="0" rtlCol="0" anchor="ctr"/>
          <a:lstStyle/>
          <a:p>
            <a:pPr marL="0" indent="0" algn="ctr">
              <a:buNone/>
            </a:pPr>
            <a:r>
              <a:rPr lang="en-US" sz="1100" b="1" dirty="0">
                <a:solidFill>
                  <a:srgbClr val="1E3A6B"/>
                </a:solidFill>
                <a:latin typeface="Calibri" pitchFamily="34" charset="0"/>
                <a:ea typeface="Calibri" pitchFamily="34" charset="-122"/>
                <a:cs typeface="Calibri" pitchFamily="34" charset="-120"/>
              </a:rPr>
              <a:t>Pizza</a:t>
            </a:r>
            <a:endParaRPr lang="en-US" sz="1100" dirty="0"/>
          </a:p>
        </p:txBody>
      </p:sp>
      <p:sp>
        <p:nvSpPr>
          <p:cNvPr id="10" name="chip"/>
          <p:cNvSpPr/>
          <p:nvPr/>
        </p:nvSpPr>
        <p:spPr>
          <a:xfrm>
            <a:off x="548640" y="1892808"/>
            <a:ext cx="2011680" cy="347472"/>
          </a:xfrm>
          <a:prstGeom prst="roundRect">
            <a:avLst>
              <a:gd name="adj" fmla="val 50000"/>
            </a:avLst>
          </a:prstGeom>
          <a:solidFill>
            <a:srgbClr val="FFFFFF">
              <a:alpha val="75000"/>
            </a:srgbClr>
          </a:solidFill>
          <a:ln w="9525">
            <a:solidFill>
              <a:srgbClr val="FFFFFF">
                <a:alpha val="60000"/>
              </a:srgbClr>
            </a:solidFill>
            <a:prstDash val="solid"/>
          </a:ln>
        </p:spPr>
      </p:sp>
      <p:sp>
        <p:nvSpPr>
          <p:cNvPr id="11" name="Text 9"/>
          <p:cNvSpPr txBox="1"/>
          <p:nvPr/>
        </p:nvSpPr>
        <p:spPr>
          <a:xfrm>
            <a:off x="548640" y="1892808"/>
            <a:ext cx="2011680" cy="347472"/>
          </a:xfrm>
          <a:prstGeom prst="rect">
            <a:avLst/>
          </a:prstGeom>
          <a:noFill/>
          <a:ln/>
        </p:spPr>
        <p:txBody>
          <a:bodyPr wrap="square" lIns="0" tIns="0" rIns="0" bIns="0" rtlCol="0" anchor="ctr"/>
          <a:lstStyle/>
          <a:p>
            <a:pPr marL="0" indent="0" algn="ctr">
              <a:buNone/>
            </a:pPr>
            <a:r>
              <a:rPr lang="en-US" sz="1100" b="1" dirty="0">
                <a:solidFill>
                  <a:srgbClr val="1E3A6B"/>
                </a:solidFill>
                <a:latin typeface="Calibri" pitchFamily="34" charset="0"/>
                <a:ea typeface="Calibri" pitchFamily="34" charset="-122"/>
                <a:cs typeface="Calibri" pitchFamily="34" charset="-120"/>
              </a:rPr>
              <a:t>Samosa</a:t>
            </a:r>
            <a:endParaRPr lang="en-US" sz="1100" dirty="0"/>
          </a:p>
        </p:txBody>
      </p:sp>
      <p:sp>
        <p:nvSpPr>
          <p:cNvPr id="12" name="chip"/>
          <p:cNvSpPr/>
          <p:nvPr/>
        </p:nvSpPr>
        <p:spPr>
          <a:xfrm>
            <a:off x="2697480" y="1892808"/>
            <a:ext cx="2011680" cy="347472"/>
          </a:xfrm>
          <a:prstGeom prst="roundRect">
            <a:avLst>
              <a:gd name="adj" fmla="val 50000"/>
            </a:avLst>
          </a:prstGeom>
          <a:solidFill>
            <a:srgbClr val="FFFFFF">
              <a:alpha val="75000"/>
            </a:srgbClr>
          </a:solidFill>
          <a:ln w="9525">
            <a:solidFill>
              <a:srgbClr val="FFFFFF">
                <a:alpha val="60000"/>
              </a:srgbClr>
            </a:solidFill>
            <a:prstDash val="solid"/>
          </a:ln>
        </p:spPr>
      </p:sp>
      <p:sp>
        <p:nvSpPr>
          <p:cNvPr id="13" name="Text 11"/>
          <p:cNvSpPr txBox="1"/>
          <p:nvPr/>
        </p:nvSpPr>
        <p:spPr>
          <a:xfrm>
            <a:off x="2697480" y="1892808"/>
            <a:ext cx="2011680" cy="347472"/>
          </a:xfrm>
          <a:prstGeom prst="rect">
            <a:avLst/>
          </a:prstGeom>
          <a:noFill/>
          <a:ln/>
        </p:spPr>
        <p:txBody>
          <a:bodyPr wrap="square" lIns="0" tIns="0" rIns="0" bIns="0" rtlCol="0" anchor="ctr"/>
          <a:lstStyle/>
          <a:p>
            <a:pPr marL="0" indent="0" algn="ctr">
              <a:buNone/>
            </a:pPr>
            <a:r>
              <a:rPr lang="en-US" sz="1100" b="1" dirty="0">
                <a:solidFill>
                  <a:srgbClr val="1E3A6B"/>
                </a:solidFill>
                <a:latin typeface="Calibri" pitchFamily="34" charset="0"/>
                <a:ea typeface="Calibri" pitchFamily="34" charset="-122"/>
                <a:cs typeface="Calibri" pitchFamily="34" charset="-120"/>
              </a:rPr>
              <a:t>Pani Puri</a:t>
            </a:r>
            <a:endParaRPr lang="en-US" sz="1100" dirty="0"/>
          </a:p>
        </p:txBody>
      </p:sp>
      <p:sp>
        <p:nvSpPr>
          <p:cNvPr id="14" name="chip"/>
          <p:cNvSpPr/>
          <p:nvPr/>
        </p:nvSpPr>
        <p:spPr>
          <a:xfrm>
            <a:off x="548640" y="2322576"/>
            <a:ext cx="2011680" cy="347472"/>
          </a:xfrm>
          <a:prstGeom prst="roundRect">
            <a:avLst>
              <a:gd name="adj" fmla="val 50000"/>
            </a:avLst>
          </a:prstGeom>
          <a:solidFill>
            <a:srgbClr val="FFFFFF">
              <a:alpha val="75000"/>
            </a:srgbClr>
          </a:solidFill>
          <a:ln w="9525">
            <a:solidFill>
              <a:srgbClr val="FFFFFF">
                <a:alpha val="60000"/>
              </a:srgbClr>
            </a:solidFill>
            <a:prstDash val="solid"/>
          </a:ln>
        </p:spPr>
      </p:sp>
      <p:sp>
        <p:nvSpPr>
          <p:cNvPr id="15" name="Text 13"/>
          <p:cNvSpPr txBox="1"/>
          <p:nvPr/>
        </p:nvSpPr>
        <p:spPr>
          <a:xfrm>
            <a:off x="548640" y="2322576"/>
            <a:ext cx="2011680" cy="347472"/>
          </a:xfrm>
          <a:prstGeom prst="rect">
            <a:avLst/>
          </a:prstGeom>
          <a:noFill/>
          <a:ln/>
        </p:spPr>
        <p:txBody>
          <a:bodyPr wrap="square" lIns="0" tIns="0" rIns="0" bIns="0" rtlCol="0" anchor="ctr"/>
          <a:lstStyle/>
          <a:p>
            <a:pPr marL="0" indent="0" algn="ctr">
              <a:buNone/>
            </a:pPr>
            <a:r>
              <a:rPr lang="en-US" sz="1100" b="1" dirty="0">
                <a:solidFill>
                  <a:srgbClr val="1E3A6B"/>
                </a:solidFill>
                <a:latin typeface="Calibri" pitchFamily="34" charset="0"/>
                <a:ea typeface="Calibri" pitchFamily="34" charset="-122"/>
                <a:cs typeface="Calibri" pitchFamily="34" charset="-120"/>
              </a:rPr>
              <a:t>French Fries</a:t>
            </a:r>
            <a:endParaRPr lang="en-US" sz="1100" dirty="0"/>
          </a:p>
        </p:txBody>
      </p:sp>
      <p:sp>
        <p:nvSpPr>
          <p:cNvPr id="16" name="chip"/>
          <p:cNvSpPr/>
          <p:nvPr/>
        </p:nvSpPr>
        <p:spPr>
          <a:xfrm>
            <a:off x="2697480" y="2322576"/>
            <a:ext cx="2011680" cy="347472"/>
          </a:xfrm>
          <a:prstGeom prst="roundRect">
            <a:avLst>
              <a:gd name="adj" fmla="val 50000"/>
            </a:avLst>
          </a:prstGeom>
          <a:solidFill>
            <a:srgbClr val="FFFFFF">
              <a:alpha val="75000"/>
            </a:srgbClr>
          </a:solidFill>
          <a:ln w="9525">
            <a:solidFill>
              <a:srgbClr val="FFFFFF">
                <a:alpha val="60000"/>
              </a:srgbClr>
            </a:solidFill>
            <a:prstDash val="solid"/>
          </a:ln>
        </p:spPr>
      </p:sp>
      <p:sp>
        <p:nvSpPr>
          <p:cNvPr id="17" name="Text 15"/>
          <p:cNvSpPr txBox="1"/>
          <p:nvPr/>
        </p:nvSpPr>
        <p:spPr>
          <a:xfrm>
            <a:off x="2697480" y="2322576"/>
            <a:ext cx="2011680" cy="347472"/>
          </a:xfrm>
          <a:prstGeom prst="rect">
            <a:avLst/>
          </a:prstGeom>
          <a:noFill/>
          <a:ln/>
        </p:spPr>
        <p:txBody>
          <a:bodyPr wrap="square" lIns="0" tIns="0" rIns="0" bIns="0" rtlCol="0" anchor="ctr"/>
          <a:lstStyle/>
          <a:p>
            <a:pPr marL="0" indent="0" algn="ctr">
              <a:buNone/>
            </a:pPr>
            <a:r>
              <a:rPr lang="en-US" sz="1100" b="1" dirty="0">
                <a:solidFill>
                  <a:srgbClr val="1E3A6B"/>
                </a:solidFill>
                <a:latin typeface="Calibri" pitchFamily="34" charset="0"/>
                <a:ea typeface="Calibri" pitchFamily="34" charset="-122"/>
                <a:cs typeface="Calibri" pitchFamily="34" charset="-120"/>
              </a:rPr>
              <a:t>Soya Bari</a:t>
            </a:r>
            <a:endParaRPr lang="en-US" sz="1100" dirty="0"/>
          </a:p>
        </p:txBody>
      </p:sp>
      <p:sp>
        <p:nvSpPr>
          <p:cNvPr id="18" name="chip"/>
          <p:cNvSpPr/>
          <p:nvPr/>
        </p:nvSpPr>
        <p:spPr>
          <a:xfrm>
            <a:off x="548640" y="2752344"/>
            <a:ext cx="2011680" cy="347472"/>
          </a:xfrm>
          <a:prstGeom prst="roundRect">
            <a:avLst>
              <a:gd name="adj" fmla="val 50000"/>
            </a:avLst>
          </a:prstGeom>
          <a:solidFill>
            <a:srgbClr val="FFFFFF">
              <a:alpha val="75000"/>
            </a:srgbClr>
          </a:solidFill>
          <a:ln w="9525">
            <a:solidFill>
              <a:srgbClr val="FFFFFF">
                <a:alpha val="60000"/>
              </a:srgbClr>
            </a:solidFill>
            <a:prstDash val="solid"/>
          </a:ln>
        </p:spPr>
      </p:sp>
      <p:sp>
        <p:nvSpPr>
          <p:cNvPr id="19" name="Text 17"/>
          <p:cNvSpPr txBox="1"/>
          <p:nvPr/>
        </p:nvSpPr>
        <p:spPr>
          <a:xfrm>
            <a:off x="548640" y="2752344"/>
            <a:ext cx="2011680" cy="347472"/>
          </a:xfrm>
          <a:prstGeom prst="rect">
            <a:avLst/>
          </a:prstGeom>
          <a:noFill/>
          <a:ln/>
        </p:spPr>
        <p:txBody>
          <a:bodyPr wrap="square" lIns="0" tIns="0" rIns="0" bIns="0" rtlCol="0" anchor="ctr"/>
          <a:lstStyle/>
          <a:p>
            <a:pPr marL="0" indent="0" algn="ctr">
              <a:buNone/>
            </a:pPr>
            <a:r>
              <a:rPr lang="en-US" sz="1100" b="1" dirty="0">
                <a:solidFill>
                  <a:srgbClr val="1E3A6B"/>
                </a:solidFill>
                <a:latin typeface="Calibri" pitchFamily="34" charset="0"/>
                <a:ea typeface="Calibri" pitchFamily="34" charset="-122"/>
                <a:cs typeface="Calibri" pitchFamily="34" charset="-120"/>
              </a:rPr>
              <a:t>Burger</a:t>
            </a:r>
            <a:endParaRPr lang="en-US" sz="1100" dirty="0"/>
          </a:p>
        </p:txBody>
      </p:sp>
      <p:sp>
        <p:nvSpPr>
          <p:cNvPr id="20" name="chip"/>
          <p:cNvSpPr/>
          <p:nvPr/>
        </p:nvSpPr>
        <p:spPr>
          <a:xfrm>
            <a:off x="2697480" y="2752344"/>
            <a:ext cx="2011680" cy="347472"/>
          </a:xfrm>
          <a:prstGeom prst="roundRect">
            <a:avLst>
              <a:gd name="adj" fmla="val 50000"/>
            </a:avLst>
          </a:prstGeom>
          <a:solidFill>
            <a:srgbClr val="FFFFFF">
              <a:alpha val="75000"/>
            </a:srgbClr>
          </a:solidFill>
          <a:ln w="9525">
            <a:solidFill>
              <a:srgbClr val="FFFFFF">
                <a:alpha val="60000"/>
              </a:srgbClr>
            </a:solidFill>
            <a:prstDash val="solid"/>
          </a:ln>
        </p:spPr>
      </p:sp>
      <p:sp>
        <p:nvSpPr>
          <p:cNvPr id="21" name="Text 19"/>
          <p:cNvSpPr txBox="1"/>
          <p:nvPr/>
        </p:nvSpPr>
        <p:spPr>
          <a:xfrm>
            <a:off x="2697480" y="2752344"/>
            <a:ext cx="2011680" cy="347472"/>
          </a:xfrm>
          <a:prstGeom prst="rect">
            <a:avLst/>
          </a:prstGeom>
          <a:noFill/>
          <a:ln/>
        </p:spPr>
        <p:txBody>
          <a:bodyPr wrap="square" lIns="0" tIns="0" rIns="0" bIns="0" rtlCol="0" anchor="ctr"/>
          <a:lstStyle/>
          <a:p>
            <a:pPr marL="0" indent="0" algn="ctr">
              <a:buNone/>
            </a:pPr>
            <a:r>
              <a:rPr lang="en-US" sz="1100" b="1" dirty="0">
                <a:solidFill>
                  <a:srgbClr val="1E3A6B"/>
                </a:solidFill>
                <a:latin typeface="Calibri" pitchFamily="34" charset="0"/>
                <a:ea typeface="Calibri" pitchFamily="34" charset="-122"/>
                <a:cs typeface="Calibri" pitchFamily="34" charset="-120"/>
              </a:rPr>
              <a:t>Patties</a:t>
            </a:r>
            <a:endParaRPr lang="en-US" sz="1100" dirty="0"/>
          </a:p>
        </p:txBody>
      </p:sp>
      <p:sp>
        <p:nvSpPr>
          <p:cNvPr id="22" name="chip"/>
          <p:cNvSpPr/>
          <p:nvPr/>
        </p:nvSpPr>
        <p:spPr>
          <a:xfrm>
            <a:off x="548640" y="3182112"/>
            <a:ext cx="2011680" cy="347472"/>
          </a:xfrm>
          <a:prstGeom prst="roundRect">
            <a:avLst>
              <a:gd name="adj" fmla="val 50000"/>
            </a:avLst>
          </a:prstGeom>
          <a:solidFill>
            <a:srgbClr val="FFFFFF">
              <a:alpha val="75000"/>
            </a:srgbClr>
          </a:solidFill>
          <a:ln w="9525">
            <a:solidFill>
              <a:srgbClr val="FFFFFF">
                <a:alpha val="60000"/>
              </a:srgbClr>
            </a:solidFill>
            <a:prstDash val="solid"/>
          </a:ln>
        </p:spPr>
      </p:sp>
      <p:sp>
        <p:nvSpPr>
          <p:cNvPr id="23" name="Text 21"/>
          <p:cNvSpPr txBox="1"/>
          <p:nvPr/>
        </p:nvSpPr>
        <p:spPr>
          <a:xfrm>
            <a:off x="548640" y="3182112"/>
            <a:ext cx="2011680" cy="347472"/>
          </a:xfrm>
          <a:prstGeom prst="rect">
            <a:avLst/>
          </a:prstGeom>
          <a:noFill/>
          <a:ln/>
        </p:spPr>
        <p:txBody>
          <a:bodyPr wrap="square" lIns="0" tIns="0" rIns="0" bIns="0" rtlCol="0" anchor="ctr"/>
          <a:lstStyle/>
          <a:p>
            <a:pPr marL="0" indent="0" algn="ctr">
              <a:buNone/>
            </a:pPr>
            <a:r>
              <a:rPr lang="en-US" sz="1100" b="1" dirty="0">
                <a:solidFill>
                  <a:srgbClr val="1E3A6B"/>
                </a:solidFill>
                <a:latin typeface="Calibri" pitchFamily="34" charset="0"/>
                <a:ea typeface="Calibri" pitchFamily="34" charset="-122"/>
                <a:cs typeface="Calibri" pitchFamily="34" charset="-120"/>
              </a:rPr>
              <a:t>Chowmein</a:t>
            </a:r>
            <a:endParaRPr lang="en-US" sz="1100" dirty="0"/>
          </a:p>
        </p:txBody>
      </p:sp>
      <p:sp>
        <p:nvSpPr>
          <p:cNvPr id="24" name="chip"/>
          <p:cNvSpPr/>
          <p:nvPr/>
        </p:nvSpPr>
        <p:spPr>
          <a:xfrm>
            <a:off x="2697480" y="3182112"/>
            <a:ext cx="2011680" cy="347472"/>
          </a:xfrm>
          <a:prstGeom prst="roundRect">
            <a:avLst>
              <a:gd name="adj" fmla="val 50000"/>
            </a:avLst>
          </a:prstGeom>
          <a:solidFill>
            <a:srgbClr val="FFFFFF">
              <a:alpha val="75000"/>
            </a:srgbClr>
          </a:solidFill>
          <a:ln w="9525">
            <a:solidFill>
              <a:srgbClr val="FFFFFF">
                <a:alpha val="60000"/>
              </a:srgbClr>
            </a:solidFill>
            <a:prstDash val="solid"/>
          </a:ln>
        </p:spPr>
      </p:sp>
      <p:sp>
        <p:nvSpPr>
          <p:cNvPr id="25" name="Text 23"/>
          <p:cNvSpPr txBox="1"/>
          <p:nvPr/>
        </p:nvSpPr>
        <p:spPr>
          <a:xfrm>
            <a:off x="2697480" y="3182112"/>
            <a:ext cx="2011680" cy="347472"/>
          </a:xfrm>
          <a:prstGeom prst="rect">
            <a:avLst/>
          </a:prstGeom>
          <a:noFill/>
          <a:ln/>
        </p:spPr>
        <p:txBody>
          <a:bodyPr wrap="square" lIns="0" tIns="0" rIns="0" bIns="0" rtlCol="0" anchor="ctr"/>
          <a:lstStyle/>
          <a:p>
            <a:pPr marL="0" indent="0" algn="ctr">
              <a:buNone/>
            </a:pPr>
            <a:r>
              <a:rPr lang="en-US" sz="1100" b="1" dirty="0">
                <a:solidFill>
                  <a:srgbClr val="1E3A6B"/>
                </a:solidFill>
                <a:latin typeface="Calibri" pitchFamily="34" charset="0"/>
                <a:ea typeface="Calibri" pitchFamily="34" charset="-122"/>
                <a:cs typeface="Calibri" pitchFamily="34" charset="-120"/>
              </a:rPr>
              <a:t>Dosa</a:t>
            </a:r>
            <a:endParaRPr lang="en-US" sz="1100" dirty="0"/>
          </a:p>
        </p:txBody>
      </p:sp>
      <p:sp>
        <p:nvSpPr>
          <p:cNvPr id="26" name="arrow"/>
          <p:cNvSpPr/>
          <p:nvPr/>
        </p:nvSpPr>
        <p:spPr>
          <a:xfrm>
            <a:off x="5029200" y="2194560"/>
            <a:ext cx="365760" cy="237744"/>
          </a:xfrm>
          <a:prstGeom prst="rightArrow">
            <a:avLst/>
          </a:prstGeom>
          <a:solidFill>
            <a:srgbClr val="2762A8">
              <a:alpha val="85000"/>
            </a:srgbClr>
          </a:solidFill>
          <a:ln w="12700">
            <a:solidFill>
              <a:srgbClr val="2762A8"/>
            </a:solidFill>
            <a:prstDash val="solid"/>
          </a:ln>
        </p:spPr>
      </p:sp>
      <p:sp>
        <p:nvSpPr>
          <p:cNvPr id="27" name="card"/>
          <p:cNvSpPr/>
          <p:nvPr/>
        </p:nvSpPr>
        <p:spPr>
          <a:xfrm>
            <a:off x="5486400" y="1463040"/>
            <a:ext cx="1371600" cy="1554480"/>
          </a:xfrm>
          <a:prstGeom prst="roundRect">
            <a:avLst>
              <a:gd name="adj" fmla="val 6667"/>
            </a:avLst>
          </a:prstGeom>
          <a:solidFill>
            <a:srgbClr val="7B6BD6"/>
          </a:solidFill>
          <a:ln w="12700">
            <a:solidFill>
              <a:srgbClr val="7B6BD6"/>
            </a:solidFill>
            <a:prstDash val="solid"/>
          </a:ln>
          <a:effectLst>
            <a:outerShdw blurRad="76200" dist="25400" dir="5400000" algn="bl" rotWithShape="0">
              <a:srgbClr val="1E3A6B">
                <a:alpha val="12000"/>
              </a:srgbClr>
            </a:outerShdw>
          </a:effectLst>
        </p:spPr>
      </p:sp>
      <p:pic>
        <p:nvPicPr>
          <p:cNvPr id="28" name="Image 0" descr="model"/>
          <p:cNvPicPr>
            <a:picLocks noChangeAspect="1"/>
          </p:cNvPicPr>
          <p:nvPr/>
        </p:nvPicPr>
        <p:blipFill>
          <a:blip r:embed="rId3"/>
          <a:stretch>
            <a:fillRect/>
          </a:stretch>
        </p:blipFill>
        <p:spPr>
          <a:xfrm>
            <a:off x="5989320" y="1600200"/>
            <a:ext cx="365760" cy="365760"/>
          </a:xfrm>
          <a:prstGeom prst="rect">
            <a:avLst/>
          </a:prstGeom>
        </p:spPr>
      </p:pic>
      <p:sp>
        <p:nvSpPr>
          <p:cNvPr id="29" name="Text 26"/>
          <p:cNvSpPr txBox="1"/>
          <p:nvPr/>
        </p:nvSpPr>
        <p:spPr>
          <a:xfrm>
            <a:off x="5486400" y="2057400"/>
            <a:ext cx="1371600" cy="8229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Linear</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Regression</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p:txBody>
      </p:sp>
      <p:sp>
        <p:nvSpPr>
          <p:cNvPr id="30" name="arrow"/>
          <p:cNvSpPr/>
          <p:nvPr/>
        </p:nvSpPr>
        <p:spPr>
          <a:xfrm>
            <a:off x="6949440" y="2194560"/>
            <a:ext cx="274320" cy="237744"/>
          </a:xfrm>
          <a:prstGeom prst="rightArrow">
            <a:avLst/>
          </a:prstGeom>
          <a:solidFill>
            <a:srgbClr val="2762A8">
              <a:alpha val="85000"/>
            </a:srgbClr>
          </a:solidFill>
          <a:ln w="12700">
            <a:solidFill>
              <a:srgbClr val="2762A8"/>
            </a:solidFill>
            <a:prstDash val="solid"/>
          </a:ln>
        </p:spPr>
      </p:sp>
      <p:sp>
        <p:nvSpPr>
          <p:cNvPr id="31" name="card"/>
          <p:cNvSpPr/>
          <p:nvPr/>
        </p:nvSpPr>
        <p:spPr>
          <a:xfrm>
            <a:off x="7315200" y="1463040"/>
            <a:ext cx="1463040" cy="1554480"/>
          </a:xfrm>
          <a:prstGeom prst="roundRect">
            <a:avLst>
              <a:gd name="adj" fmla="val 6250"/>
            </a:avLst>
          </a:prstGeom>
          <a:solidFill>
            <a:srgbClr val="2EA995"/>
          </a:solidFill>
          <a:ln w="12700">
            <a:solidFill>
              <a:srgbClr val="2EA995"/>
            </a:solidFill>
            <a:prstDash val="solid"/>
          </a:ln>
          <a:effectLst>
            <a:outerShdw blurRad="76200" dist="25400" dir="5400000" algn="bl" rotWithShape="0">
              <a:srgbClr val="1E3A6B">
                <a:alpha val="12000"/>
              </a:srgbClr>
            </a:outerShdw>
          </a:effectLst>
        </p:spPr>
      </p:sp>
      <p:sp>
        <p:nvSpPr>
          <p:cNvPr id="32" name="Text 29"/>
          <p:cNvSpPr txBox="1"/>
          <p:nvPr/>
        </p:nvSpPr>
        <p:spPr>
          <a:xfrm>
            <a:off x="7315200" y="1600200"/>
            <a:ext cx="1463040" cy="228600"/>
          </a:xfrm>
          <a:prstGeom prst="rect">
            <a:avLst/>
          </a:prstGeom>
          <a:noFill/>
          <a:ln/>
        </p:spPr>
        <p:txBody>
          <a:bodyPr wrap="square" lIns="0" tIns="0" rIns="0" bIns="0" rtlCol="0" anchor="ctr"/>
          <a:lstStyle/>
          <a:p>
            <a:pPr marL="0" indent="0" algn="ctr">
              <a:buNone/>
            </a:pPr>
            <a:r>
              <a:rPr lang="en-US" sz="940" b="1" kern="0" spc="100" dirty="0">
                <a:solidFill>
                  <a:srgbClr val="FFFFFF"/>
                </a:solidFill>
                <a:latin typeface="Calibri" pitchFamily="34" charset="0"/>
                <a:ea typeface="Calibri" pitchFamily="34" charset="-122"/>
                <a:cs typeface="Calibri" pitchFamily="34" charset="-120"/>
              </a:rPr>
              <a:t>TARGET (y)</a:t>
            </a:r>
            <a:endParaRPr lang="en-US" sz="940" dirty="0"/>
          </a:p>
        </p:txBody>
      </p:sp>
      <p:sp>
        <p:nvSpPr>
          <p:cNvPr id="33" name="Text 30"/>
          <p:cNvSpPr txBox="1"/>
          <p:nvPr/>
        </p:nvSpPr>
        <p:spPr>
          <a:xfrm>
            <a:off x="7315200" y="1874520"/>
            <a:ext cx="1463040" cy="594360"/>
          </a:xfrm>
          <a:prstGeom prst="rect">
            <a:avLst/>
          </a:prstGeom>
          <a:noFill/>
          <a:ln/>
        </p:spPr>
        <p:txBody>
          <a:bodyPr wrap="square" lIns="0" tIns="0" rIns="0" bIns="0" rtlCol="0" anchor="ctr"/>
          <a:lstStyle/>
          <a:p>
            <a:pPr marL="0" indent="0" algn="ctr">
              <a:buNone/>
            </a:pPr>
            <a:r>
              <a:rPr lang="en-US" sz="1160" b="1" dirty="0">
                <a:solidFill>
                  <a:srgbClr val="FFFFFF"/>
                </a:solidFill>
                <a:latin typeface="Calibri" pitchFamily="34" charset="0"/>
                <a:ea typeface="Calibri" pitchFamily="34" charset="-122"/>
                <a:cs typeface="Calibri" pitchFamily="34" charset="-120"/>
              </a:rPr>
              <a:t>Annual Body</a:t>
            </a:r>
            <a:endParaRPr lang="en-US" sz="1160" dirty="0"/>
          </a:p>
          <a:p>
            <a:pPr marL="0" indent="0" algn="ctr">
              <a:buNone/>
            </a:pPr>
            <a:r>
              <a:rPr lang="en-US" sz="1160" b="1" dirty="0">
                <a:solidFill>
                  <a:srgbClr val="FFFFFF"/>
                </a:solidFill>
                <a:latin typeface="Calibri" pitchFamily="34" charset="0"/>
                <a:ea typeface="Calibri" pitchFamily="34" charset="-122"/>
                <a:cs typeface="Calibri" pitchFamily="34" charset="-120"/>
              </a:rPr>
              <a:t>Damage %</a:t>
            </a:r>
            <a:endParaRPr lang="en-US" sz="1160" dirty="0"/>
          </a:p>
        </p:txBody>
      </p:sp>
      <p:sp>
        <p:nvSpPr>
          <p:cNvPr id="34" name="Text 31"/>
          <p:cNvSpPr txBox="1"/>
          <p:nvPr/>
        </p:nvSpPr>
        <p:spPr>
          <a:xfrm>
            <a:off x="7315200" y="2560320"/>
            <a:ext cx="1463040" cy="274320"/>
          </a:xfrm>
          <a:prstGeom prst="rect">
            <a:avLst/>
          </a:prstGeom>
          <a:noFill/>
          <a:ln/>
        </p:spPr>
        <p:txBody>
          <a:bodyPr wrap="square" lIns="0" tIns="0" rIns="0" bIns="0" rtlCol="0" anchor="ctr"/>
          <a:lstStyle/>
          <a:p>
            <a:pPr marL="0" indent="0" algn="ctr">
              <a:buNone/>
            </a:pPr>
            <a:r>
              <a:rPr lang="en-US" sz="990" dirty="0">
                <a:solidFill>
                  <a:srgbClr val="FFFFFF"/>
                </a:solidFill>
                <a:latin typeface="Calibri" pitchFamily="34" charset="0"/>
                <a:ea typeface="Calibri" pitchFamily="34" charset="-122"/>
                <a:cs typeface="Calibri" pitchFamily="34" charset="-120"/>
              </a:rPr>
              <a:t>0% – 100%</a:t>
            </a:r>
            <a:endParaRPr lang="en-US" sz="990" dirty="0"/>
          </a:p>
        </p:txBody>
      </p:sp>
      <p:sp>
        <p:nvSpPr>
          <p:cNvPr id="35" name="banner"/>
          <p:cNvSpPr/>
          <p:nvPr/>
        </p:nvSpPr>
        <p:spPr>
          <a:xfrm>
            <a:off x="365760" y="3977640"/>
            <a:ext cx="8412480" cy="457200"/>
          </a:xfrm>
          <a:prstGeom prst="roundRect">
            <a:avLst>
              <a:gd name="adj" fmla="val 16000"/>
            </a:avLst>
          </a:prstGeom>
          <a:solidFill>
            <a:srgbClr val="FFFFFF">
              <a:alpha val="85000"/>
            </a:srgbClr>
          </a:solidFill>
          <a:ln w="12700">
            <a:solidFill>
              <a:srgbClr val="2762A8">
                <a:alpha val="85000"/>
              </a:srgbClr>
            </a:solidFill>
            <a:prstDash val="solid"/>
          </a:ln>
          <a:effectLst>
            <a:outerShdw blurRad="76200" dist="25400" dir="5400000" algn="bl" rotWithShape="0">
              <a:srgbClr val="1E3A6B">
                <a:alpha val="12000"/>
              </a:srgbClr>
            </a:outerShdw>
          </a:effectLst>
        </p:spPr>
      </p:sp>
      <p:sp>
        <p:nvSpPr>
          <p:cNvPr id="36" name="Text 33"/>
          <p:cNvSpPr txBox="1"/>
          <p:nvPr/>
        </p:nvSpPr>
        <p:spPr>
          <a:xfrm>
            <a:off x="548640" y="3977640"/>
            <a:ext cx="8046720" cy="457200"/>
          </a:xfrm>
          <a:prstGeom prst="rect">
            <a:avLst/>
          </a:prstGeom>
          <a:noFill/>
          <a:ln/>
        </p:spPr>
        <p:txBody>
          <a:bodyPr wrap="square" lIns="0" tIns="0" rIns="0" bIns="0" rtlCol="0" anchor="ctr"/>
          <a:lstStyle/>
          <a:p>
            <a:pPr marL="0" indent="0">
              <a:buNone/>
            </a:pPr>
            <a:r>
              <a:rPr lang="en-US" sz="1160" b="1" dirty="0">
                <a:solidFill>
                  <a:srgbClr val="1E3A6B"/>
                </a:solidFill>
                <a:latin typeface="Calibri" pitchFamily="34" charset="0"/>
                <a:ea typeface="Calibri" pitchFamily="34" charset="-122"/>
                <a:cs typeface="Calibri" pitchFamily="34" charset="-120"/>
              </a:rPr>
              <a:t>Each input = times eaten in last 30 days (0 to 30).  Higher damage % = more damage.</a:t>
            </a:r>
            <a:endParaRPr lang="en-US" sz="1160" dirty="0"/>
          </a:p>
        </p:txBody>
      </p:sp>
      <p:sp>
        <p:nvSpPr>
          <p:cNvPr id="37" name="Slide Number Placeholder 0"/>
          <p:cNvSpPr>
            <a:spLocks noGrp="1"/>
          </p:cNvSpPr>
          <p:nvPr>
            <p:ph type="sldNum" sz="quarter" idx="4294967295"/>
          </p:nvPr>
        </p:nvSpPr>
        <p:spPr>
          <a:xfrm>
            <a:off x="832104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46587D"/>
                </a:solidFill>
                <a:latin typeface="Calibri"/>
                <a:ea typeface="Calibri"/>
                <a:cs typeface="Calibri"/>
              </a:defRPr>
            </a:lvl1pPr>
          </a:lstStyle>
          <a:p>
            <a:pPr algn="r"/>
            <a:fld id="{F7021451-1387-4CA6-816F-3879F97B5CBC}" type="slidenum">
              <a:rPr lang="en-US" b="0"/>
              <a:pPr algn="r"/>
              <a:t>9</a:t>
            </a:fld>
            <a:endParaRPr lang="en-US"/>
          </a:p>
        </p:txBody>
      </p:sp>
    </p:spTree>
  </p:cSld>
  <p:clrMapOvr>
    <a:masterClrMapping/>
  </p:clrMapOvr>
  <p:transition spd="med">
    <p:split orient="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p:nvPr>
        </p:nvSpPr>
        <p:spPr>
          <a:xfrm>
            <a:off x="365760" y="201168"/>
            <a:ext cx="8412480" cy="548640"/>
          </a:xfrm>
          <a:prstGeom prst="rect">
            <a:avLst/>
          </a:prstGeom>
          <a:noFill/>
          <a:ln/>
        </p:spPr>
        <p:txBody>
          <a:bodyPr wrap="square" lIns="0" tIns="0" rIns="0" bIns="0" rtlCol="0" anchor="ctr"/>
          <a:lstStyle/>
          <a:p>
            <a:pPr marL="0" indent="0" algn="l">
              <a:buNone/>
            </a:pPr>
            <a:r>
              <a:rPr lang="en-US" sz="2400" b="1" dirty="0">
                <a:solidFill>
                  <a:srgbClr val="1E3A6B"/>
                </a:solidFill>
                <a:latin typeface="Calibri" pitchFamily="34" charset="0"/>
                <a:ea typeface="Calibri" pitchFamily="34" charset="-122"/>
                <a:cs typeface="Calibri" pitchFamily="34" charset="-120"/>
              </a:rPr>
              <a:t>How the Model Works</a:t>
            </a:r>
            <a:endParaRPr lang="en-US" sz="2400" dirty="0"/>
          </a:p>
        </p:txBody>
      </p:sp>
      <p:sp>
        <p:nvSpPr>
          <p:cNvPr id="3" name="card"/>
          <p:cNvSpPr/>
          <p:nvPr/>
        </p:nvSpPr>
        <p:spPr>
          <a:xfrm>
            <a:off x="365760" y="1005840"/>
            <a:ext cx="8412480" cy="548640"/>
          </a:xfrm>
          <a:prstGeom prst="roundRect">
            <a:avLst>
              <a:gd name="adj" fmla="val 13333"/>
            </a:avLst>
          </a:prstGeom>
          <a:solidFill>
            <a:srgbClr val="14264B"/>
          </a:solidFill>
          <a:ln w="12700">
            <a:solidFill>
              <a:srgbClr val="14264B"/>
            </a:solidFill>
            <a:prstDash val="solid"/>
          </a:ln>
          <a:effectLst>
            <a:outerShdw blurRad="76200" dist="25400" dir="5400000" algn="bl" rotWithShape="0">
              <a:srgbClr val="1E3A6B">
                <a:alpha val="12000"/>
              </a:srgbClr>
            </a:outerShdw>
          </a:effectLst>
        </p:spPr>
      </p:sp>
      <p:sp>
        <p:nvSpPr>
          <p:cNvPr id="4" name="Text 2"/>
          <p:cNvSpPr txBox="1"/>
          <p:nvPr/>
        </p:nvSpPr>
        <p:spPr>
          <a:xfrm>
            <a:off x="548640" y="1005840"/>
            <a:ext cx="8046720" cy="548640"/>
          </a:xfrm>
          <a:prstGeom prst="rect">
            <a:avLst/>
          </a:prstGeom>
          <a:noFill/>
          <a:ln/>
        </p:spPr>
        <p:txBody>
          <a:bodyPr wrap="square" lIns="0" tIns="0" rIns="0" bIns="0" rtlCol="0" anchor="ctr"/>
          <a:lstStyle/>
          <a:p>
            <a:pPr marL="0" indent="0" algn="ctr">
              <a:buNone/>
            </a:pPr>
            <a:r>
              <a:rPr lang="en-US" sz="1320" b="1" dirty="0">
                <a:solidFill>
                  <a:srgbClr val="FFFFFF"/>
                </a:solidFill>
                <a:latin typeface="Courier New" pitchFamily="34" charset="0"/>
                <a:ea typeface="Courier New" pitchFamily="34" charset="-122"/>
                <a:cs typeface="Courier New" pitchFamily="34" charset="-120"/>
              </a:rPr>
              <a:t>Damage %  =  Intercept  +  Σ (Coefficient × Frequency of each food)</a:t>
            </a:r>
            <a:endParaRPr lang="en-US" sz="1320" dirty="0"/>
          </a:p>
        </p:txBody>
      </p:sp>
      <p:sp>
        <p:nvSpPr>
          <p:cNvPr id="5" name="Text 3"/>
          <p:cNvSpPr txBox="1"/>
          <p:nvPr/>
        </p:nvSpPr>
        <p:spPr>
          <a:xfrm>
            <a:off x="365760" y="1691640"/>
            <a:ext cx="5486400" cy="274320"/>
          </a:xfrm>
          <a:prstGeom prst="rect">
            <a:avLst/>
          </a:prstGeom>
          <a:noFill/>
          <a:ln/>
        </p:spPr>
        <p:txBody>
          <a:bodyPr wrap="square" lIns="0" tIns="0" rIns="0" bIns="0" rtlCol="0" anchor="ctr"/>
          <a:lstStyle/>
          <a:p>
            <a:pPr marL="0" indent="0">
              <a:buNone/>
            </a:pPr>
            <a:r>
              <a:rPr lang="en-US" sz="990" b="1" kern="0" spc="100" dirty="0">
                <a:solidFill>
                  <a:srgbClr val="2762A8"/>
                </a:solidFill>
                <a:latin typeface="Calibri" pitchFamily="34" charset="0"/>
                <a:ea typeface="Calibri" pitchFamily="34" charset="-122"/>
                <a:cs typeface="Calibri" pitchFamily="34" charset="-120"/>
              </a:rPr>
              <a:t>KEY COEFFICIENTS  (higher = more dangerous)</a:t>
            </a:r>
            <a:endParaRPr lang="en-US" sz="990" dirty="0"/>
          </a:p>
        </p:txBody>
      </p:sp>
      <p:sp>
        <p:nvSpPr>
          <p:cNvPr id="6" name="card"/>
          <p:cNvSpPr/>
          <p:nvPr/>
        </p:nvSpPr>
        <p:spPr>
          <a:xfrm>
            <a:off x="365760" y="2011680"/>
            <a:ext cx="4114800" cy="777240"/>
          </a:xfrm>
          <a:prstGeom prst="roundRect">
            <a:avLst>
              <a:gd name="adj" fmla="val 11765"/>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7" name="Text 5"/>
          <p:cNvSpPr txBox="1"/>
          <p:nvPr/>
        </p:nvSpPr>
        <p:spPr>
          <a:xfrm>
            <a:off x="548640" y="2084832"/>
            <a:ext cx="2286000" cy="320040"/>
          </a:xfrm>
          <a:prstGeom prst="rect">
            <a:avLst/>
          </a:prstGeom>
          <a:noFill/>
          <a:ln/>
        </p:spPr>
        <p:txBody>
          <a:bodyPr wrap="square" lIns="0" tIns="0" rIns="0" bIns="0" rtlCol="0" anchor="ctr"/>
          <a:lstStyle/>
          <a:p>
            <a:pPr marL="0" indent="0">
              <a:buNone/>
            </a:pPr>
            <a:r>
              <a:rPr lang="en-US" sz="1270" b="1" dirty="0">
                <a:solidFill>
                  <a:srgbClr val="1E3A6B"/>
                </a:solidFill>
                <a:latin typeface="Calibri" pitchFamily="34" charset="0"/>
                <a:ea typeface="Calibri" pitchFamily="34" charset="-122"/>
                <a:cs typeface="Calibri" pitchFamily="34" charset="-120"/>
              </a:rPr>
              <a:t>Samosa</a:t>
            </a:r>
            <a:endParaRPr lang="en-US" sz="1270" dirty="0"/>
          </a:p>
        </p:txBody>
      </p:sp>
      <p:sp>
        <p:nvSpPr>
          <p:cNvPr id="8" name="Text 6"/>
          <p:cNvSpPr txBox="1"/>
          <p:nvPr/>
        </p:nvSpPr>
        <p:spPr>
          <a:xfrm>
            <a:off x="3291840" y="2084832"/>
            <a:ext cx="1005840" cy="320040"/>
          </a:xfrm>
          <a:prstGeom prst="rect">
            <a:avLst/>
          </a:prstGeom>
          <a:noFill/>
          <a:ln/>
        </p:spPr>
        <p:txBody>
          <a:bodyPr wrap="square" lIns="0" tIns="0" rIns="0" bIns="0" rtlCol="0" anchor="ctr"/>
          <a:lstStyle/>
          <a:p>
            <a:pPr marL="0" indent="0" algn="r">
              <a:buNone/>
            </a:pPr>
            <a:r>
              <a:rPr lang="en-US" sz="1430" b="1" dirty="0">
                <a:solidFill>
                  <a:srgbClr val="E76F51"/>
                </a:solidFill>
                <a:latin typeface="Calibri" pitchFamily="34" charset="0"/>
                <a:ea typeface="Calibri" pitchFamily="34" charset="-122"/>
                <a:cs typeface="Calibri" pitchFamily="34" charset="-120"/>
              </a:rPr>
              <a:t>0.755</a:t>
            </a:r>
            <a:endParaRPr lang="en-US" sz="1430" dirty="0"/>
          </a:p>
        </p:txBody>
      </p:sp>
      <p:sp>
        <p:nvSpPr>
          <p:cNvPr id="9" name="track"/>
          <p:cNvSpPr/>
          <p:nvPr/>
        </p:nvSpPr>
        <p:spPr>
          <a:xfrm>
            <a:off x="548640" y="2532888"/>
            <a:ext cx="3749040" cy="118872"/>
          </a:xfrm>
          <a:prstGeom prst="roundRect">
            <a:avLst>
              <a:gd name="adj" fmla="val 50000"/>
            </a:avLst>
          </a:prstGeom>
          <a:solidFill>
            <a:srgbClr val="FFFFFF">
              <a:alpha val="80000"/>
            </a:srgbClr>
          </a:solidFill>
          <a:ln w="6350">
            <a:solidFill>
              <a:srgbClr val="B5C8E6"/>
            </a:solidFill>
            <a:prstDash val="solid"/>
          </a:ln>
        </p:spPr>
      </p:sp>
      <p:sp>
        <p:nvSpPr>
          <p:cNvPr id="10" name="bar"/>
          <p:cNvSpPr/>
          <p:nvPr/>
        </p:nvSpPr>
        <p:spPr>
          <a:xfrm>
            <a:off x="548640" y="2532888"/>
            <a:ext cx="3538157" cy="118872"/>
          </a:xfrm>
          <a:prstGeom prst="roundRect">
            <a:avLst>
              <a:gd name="adj" fmla="val 50000"/>
            </a:avLst>
          </a:prstGeom>
          <a:solidFill>
            <a:srgbClr val="E76F51"/>
          </a:solidFill>
          <a:ln w="12700">
            <a:solidFill>
              <a:srgbClr val="E76F51"/>
            </a:solidFill>
            <a:prstDash val="solid"/>
          </a:ln>
        </p:spPr>
      </p:sp>
      <p:sp>
        <p:nvSpPr>
          <p:cNvPr id="11" name="card"/>
          <p:cNvSpPr/>
          <p:nvPr/>
        </p:nvSpPr>
        <p:spPr>
          <a:xfrm>
            <a:off x="4663440" y="2011680"/>
            <a:ext cx="4114800" cy="777240"/>
          </a:xfrm>
          <a:prstGeom prst="roundRect">
            <a:avLst>
              <a:gd name="adj" fmla="val 11765"/>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12" name="Text 10"/>
          <p:cNvSpPr txBox="1"/>
          <p:nvPr/>
        </p:nvSpPr>
        <p:spPr>
          <a:xfrm>
            <a:off x="4846320" y="2084832"/>
            <a:ext cx="2286000" cy="320040"/>
          </a:xfrm>
          <a:prstGeom prst="rect">
            <a:avLst/>
          </a:prstGeom>
          <a:noFill/>
          <a:ln/>
        </p:spPr>
        <p:txBody>
          <a:bodyPr wrap="square" lIns="0" tIns="0" rIns="0" bIns="0" rtlCol="0" anchor="ctr"/>
          <a:lstStyle/>
          <a:p>
            <a:pPr marL="0" indent="0">
              <a:buNone/>
            </a:pPr>
            <a:r>
              <a:rPr lang="en-US" sz="1270" b="1" dirty="0">
                <a:solidFill>
                  <a:srgbClr val="1E3A6B"/>
                </a:solidFill>
                <a:latin typeface="Calibri" pitchFamily="34" charset="0"/>
                <a:ea typeface="Calibri" pitchFamily="34" charset="-122"/>
                <a:cs typeface="Calibri" pitchFamily="34" charset="-120"/>
              </a:rPr>
              <a:t>Momo</a:t>
            </a:r>
            <a:endParaRPr lang="en-US" sz="1270" dirty="0"/>
          </a:p>
        </p:txBody>
      </p:sp>
      <p:sp>
        <p:nvSpPr>
          <p:cNvPr id="13" name="Text 11"/>
          <p:cNvSpPr txBox="1"/>
          <p:nvPr/>
        </p:nvSpPr>
        <p:spPr>
          <a:xfrm>
            <a:off x="7589520" y="2084832"/>
            <a:ext cx="1005840" cy="320040"/>
          </a:xfrm>
          <a:prstGeom prst="rect">
            <a:avLst/>
          </a:prstGeom>
          <a:noFill/>
          <a:ln/>
        </p:spPr>
        <p:txBody>
          <a:bodyPr wrap="square" lIns="0" tIns="0" rIns="0" bIns="0" rtlCol="0" anchor="ctr"/>
          <a:lstStyle/>
          <a:p>
            <a:pPr marL="0" indent="0" algn="r">
              <a:buNone/>
            </a:pPr>
            <a:r>
              <a:rPr lang="en-US" sz="1430" b="1" dirty="0">
                <a:solidFill>
                  <a:srgbClr val="2762A8"/>
                </a:solidFill>
                <a:latin typeface="Calibri" pitchFamily="34" charset="0"/>
                <a:ea typeface="Calibri" pitchFamily="34" charset="-122"/>
                <a:cs typeface="Calibri" pitchFamily="34" charset="-120"/>
              </a:rPr>
              <a:t>0.736</a:t>
            </a:r>
            <a:endParaRPr lang="en-US" sz="1430" dirty="0"/>
          </a:p>
        </p:txBody>
      </p:sp>
      <p:sp>
        <p:nvSpPr>
          <p:cNvPr id="14" name="track"/>
          <p:cNvSpPr/>
          <p:nvPr/>
        </p:nvSpPr>
        <p:spPr>
          <a:xfrm>
            <a:off x="4846320" y="2532888"/>
            <a:ext cx="3749040" cy="118872"/>
          </a:xfrm>
          <a:prstGeom prst="roundRect">
            <a:avLst>
              <a:gd name="adj" fmla="val 50000"/>
            </a:avLst>
          </a:prstGeom>
          <a:solidFill>
            <a:srgbClr val="FFFFFF">
              <a:alpha val="80000"/>
            </a:srgbClr>
          </a:solidFill>
          <a:ln w="6350">
            <a:solidFill>
              <a:srgbClr val="B5C8E6"/>
            </a:solidFill>
            <a:prstDash val="solid"/>
          </a:ln>
        </p:spPr>
      </p:sp>
      <p:sp>
        <p:nvSpPr>
          <p:cNvPr id="15" name="bar"/>
          <p:cNvSpPr/>
          <p:nvPr/>
        </p:nvSpPr>
        <p:spPr>
          <a:xfrm>
            <a:off x="4846320" y="2532888"/>
            <a:ext cx="3449117" cy="118872"/>
          </a:xfrm>
          <a:prstGeom prst="roundRect">
            <a:avLst>
              <a:gd name="adj" fmla="val 50000"/>
            </a:avLst>
          </a:prstGeom>
          <a:solidFill>
            <a:srgbClr val="2762A8"/>
          </a:solidFill>
          <a:ln w="12700">
            <a:solidFill>
              <a:srgbClr val="2762A8"/>
            </a:solidFill>
            <a:prstDash val="solid"/>
          </a:ln>
        </p:spPr>
      </p:sp>
      <p:sp>
        <p:nvSpPr>
          <p:cNvPr id="16" name="card"/>
          <p:cNvSpPr/>
          <p:nvPr/>
        </p:nvSpPr>
        <p:spPr>
          <a:xfrm>
            <a:off x="365760" y="2907792"/>
            <a:ext cx="4114800" cy="777240"/>
          </a:xfrm>
          <a:prstGeom prst="roundRect">
            <a:avLst>
              <a:gd name="adj" fmla="val 11765"/>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17" name="Text 15"/>
          <p:cNvSpPr txBox="1"/>
          <p:nvPr/>
        </p:nvSpPr>
        <p:spPr>
          <a:xfrm>
            <a:off x="548640" y="2980944"/>
            <a:ext cx="2286000" cy="320040"/>
          </a:xfrm>
          <a:prstGeom prst="rect">
            <a:avLst/>
          </a:prstGeom>
          <a:noFill/>
          <a:ln/>
        </p:spPr>
        <p:txBody>
          <a:bodyPr wrap="square" lIns="0" tIns="0" rIns="0" bIns="0" rtlCol="0" anchor="ctr"/>
          <a:lstStyle/>
          <a:p>
            <a:pPr marL="0" indent="0">
              <a:buNone/>
            </a:pPr>
            <a:r>
              <a:rPr lang="en-US" sz="1270" b="1" dirty="0">
                <a:solidFill>
                  <a:srgbClr val="1E3A6B"/>
                </a:solidFill>
                <a:latin typeface="Calibri" pitchFamily="34" charset="0"/>
                <a:ea typeface="Calibri" pitchFamily="34" charset="-122"/>
                <a:cs typeface="Calibri" pitchFamily="34" charset="-120"/>
              </a:rPr>
              <a:t>Chowmein</a:t>
            </a:r>
            <a:endParaRPr lang="en-US" sz="1270" dirty="0"/>
          </a:p>
        </p:txBody>
      </p:sp>
      <p:sp>
        <p:nvSpPr>
          <p:cNvPr id="18" name="Text 16"/>
          <p:cNvSpPr txBox="1"/>
          <p:nvPr/>
        </p:nvSpPr>
        <p:spPr>
          <a:xfrm>
            <a:off x="3291840" y="2980944"/>
            <a:ext cx="1005840" cy="320040"/>
          </a:xfrm>
          <a:prstGeom prst="rect">
            <a:avLst/>
          </a:prstGeom>
          <a:noFill/>
          <a:ln/>
        </p:spPr>
        <p:txBody>
          <a:bodyPr wrap="square" lIns="0" tIns="0" rIns="0" bIns="0" rtlCol="0" anchor="ctr"/>
          <a:lstStyle/>
          <a:p>
            <a:pPr marL="0" indent="0" algn="r">
              <a:buNone/>
            </a:pPr>
            <a:r>
              <a:rPr lang="en-US" sz="1430" b="1" dirty="0">
                <a:solidFill>
                  <a:srgbClr val="2762A8"/>
                </a:solidFill>
                <a:latin typeface="Calibri" pitchFamily="34" charset="0"/>
                <a:ea typeface="Calibri" pitchFamily="34" charset="-122"/>
                <a:cs typeface="Calibri" pitchFamily="34" charset="-120"/>
              </a:rPr>
              <a:t>0.694</a:t>
            </a:r>
            <a:endParaRPr lang="en-US" sz="1430" dirty="0"/>
          </a:p>
        </p:txBody>
      </p:sp>
      <p:sp>
        <p:nvSpPr>
          <p:cNvPr id="19" name="track"/>
          <p:cNvSpPr/>
          <p:nvPr/>
        </p:nvSpPr>
        <p:spPr>
          <a:xfrm>
            <a:off x="548640" y="3429000"/>
            <a:ext cx="3749040" cy="118872"/>
          </a:xfrm>
          <a:prstGeom prst="roundRect">
            <a:avLst>
              <a:gd name="adj" fmla="val 50000"/>
            </a:avLst>
          </a:prstGeom>
          <a:solidFill>
            <a:srgbClr val="FFFFFF">
              <a:alpha val="80000"/>
            </a:srgbClr>
          </a:solidFill>
          <a:ln w="6350">
            <a:solidFill>
              <a:srgbClr val="B5C8E6"/>
            </a:solidFill>
            <a:prstDash val="solid"/>
          </a:ln>
        </p:spPr>
      </p:sp>
      <p:sp>
        <p:nvSpPr>
          <p:cNvPr id="20" name="bar"/>
          <p:cNvSpPr/>
          <p:nvPr/>
        </p:nvSpPr>
        <p:spPr>
          <a:xfrm>
            <a:off x="548640" y="3429000"/>
            <a:ext cx="3252292" cy="118872"/>
          </a:xfrm>
          <a:prstGeom prst="roundRect">
            <a:avLst>
              <a:gd name="adj" fmla="val 50000"/>
            </a:avLst>
          </a:prstGeom>
          <a:solidFill>
            <a:srgbClr val="2762A8"/>
          </a:solidFill>
          <a:ln w="12700">
            <a:solidFill>
              <a:srgbClr val="2762A8"/>
            </a:solidFill>
            <a:prstDash val="solid"/>
          </a:ln>
        </p:spPr>
      </p:sp>
      <p:sp>
        <p:nvSpPr>
          <p:cNvPr id="21" name="card"/>
          <p:cNvSpPr/>
          <p:nvPr/>
        </p:nvSpPr>
        <p:spPr>
          <a:xfrm>
            <a:off x="4663440" y="2907792"/>
            <a:ext cx="4114800" cy="777240"/>
          </a:xfrm>
          <a:prstGeom prst="roundRect">
            <a:avLst>
              <a:gd name="adj" fmla="val 11765"/>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22" name="Text 20"/>
          <p:cNvSpPr txBox="1"/>
          <p:nvPr/>
        </p:nvSpPr>
        <p:spPr>
          <a:xfrm>
            <a:off x="4846320" y="2980944"/>
            <a:ext cx="2286000" cy="320040"/>
          </a:xfrm>
          <a:prstGeom prst="rect">
            <a:avLst/>
          </a:prstGeom>
          <a:noFill/>
          <a:ln/>
        </p:spPr>
        <p:txBody>
          <a:bodyPr wrap="square" lIns="0" tIns="0" rIns="0" bIns="0" rtlCol="0" anchor="ctr"/>
          <a:lstStyle/>
          <a:p>
            <a:pPr marL="0" indent="0">
              <a:buNone/>
            </a:pPr>
            <a:r>
              <a:rPr lang="en-US" sz="1270" b="1" dirty="0">
                <a:solidFill>
                  <a:srgbClr val="1E3A6B"/>
                </a:solidFill>
                <a:latin typeface="Calibri" pitchFamily="34" charset="0"/>
                <a:ea typeface="Calibri" pitchFamily="34" charset="-122"/>
                <a:cs typeface="Calibri" pitchFamily="34" charset="-120"/>
              </a:rPr>
              <a:t>Patties</a:t>
            </a:r>
            <a:endParaRPr lang="en-US" sz="1270" dirty="0"/>
          </a:p>
        </p:txBody>
      </p:sp>
      <p:sp>
        <p:nvSpPr>
          <p:cNvPr id="23" name="Text 21"/>
          <p:cNvSpPr txBox="1"/>
          <p:nvPr/>
        </p:nvSpPr>
        <p:spPr>
          <a:xfrm>
            <a:off x="7589520" y="2980944"/>
            <a:ext cx="1005840" cy="320040"/>
          </a:xfrm>
          <a:prstGeom prst="rect">
            <a:avLst/>
          </a:prstGeom>
          <a:noFill/>
          <a:ln/>
        </p:spPr>
        <p:txBody>
          <a:bodyPr wrap="square" lIns="0" tIns="0" rIns="0" bIns="0" rtlCol="0" anchor="ctr"/>
          <a:lstStyle/>
          <a:p>
            <a:pPr marL="0" indent="0" algn="r">
              <a:buNone/>
            </a:pPr>
            <a:r>
              <a:rPr lang="en-US" sz="1430" b="1" dirty="0">
                <a:solidFill>
                  <a:srgbClr val="2762A8"/>
                </a:solidFill>
                <a:latin typeface="Calibri" pitchFamily="34" charset="0"/>
                <a:ea typeface="Calibri" pitchFamily="34" charset="-122"/>
                <a:cs typeface="Calibri" pitchFamily="34" charset="-120"/>
              </a:rPr>
              <a:t>0.674</a:t>
            </a:r>
            <a:endParaRPr lang="en-US" sz="1430" dirty="0"/>
          </a:p>
        </p:txBody>
      </p:sp>
      <p:sp>
        <p:nvSpPr>
          <p:cNvPr id="24" name="track"/>
          <p:cNvSpPr/>
          <p:nvPr/>
        </p:nvSpPr>
        <p:spPr>
          <a:xfrm>
            <a:off x="4846320" y="3429000"/>
            <a:ext cx="3749040" cy="118872"/>
          </a:xfrm>
          <a:prstGeom prst="roundRect">
            <a:avLst>
              <a:gd name="adj" fmla="val 50000"/>
            </a:avLst>
          </a:prstGeom>
          <a:solidFill>
            <a:srgbClr val="FFFFFF">
              <a:alpha val="80000"/>
            </a:srgbClr>
          </a:solidFill>
          <a:ln w="6350">
            <a:solidFill>
              <a:srgbClr val="B5C8E6"/>
            </a:solidFill>
            <a:prstDash val="solid"/>
          </a:ln>
        </p:spPr>
      </p:sp>
      <p:sp>
        <p:nvSpPr>
          <p:cNvPr id="25" name="bar"/>
          <p:cNvSpPr/>
          <p:nvPr/>
        </p:nvSpPr>
        <p:spPr>
          <a:xfrm>
            <a:off x="4846320" y="3429000"/>
            <a:ext cx="3158566" cy="118872"/>
          </a:xfrm>
          <a:prstGeom prst="roundRect">
            <a:avLst>
              <a:gd name="adj" fmla="val 50000"/>
            </a:avLst>
          </a:prstGeom>
          <a:solidFill>
            <a:srgbClr val="2762A8"/>
          </a:solidFill>
          <a:ln w="12700">
            <a:solidFill>
              <a:srgbClr val="2762A8"/>
            </a:solidFill>
            <a:prstDash val="solid"/>
          </a:ln>
        </p:spPr>
      </p:sp>
      <p:sp>
        <p:nvSpPr>
          <p:cNvPr id="26" name="card"/>
          <p:cNvSpPr/>
          <p:nvPr/>
        </p:nvSpPr>
        <p:spPr>
          <a:xfrm>
            <a:off x="365760" y="3803904"/>
            <a:ext cx="4114800" cy="777240"/>
          </a:xfrm>
          <a:prstGeom prst="roundRect">
            <a:avLst>
              <a:gd name="adj" fmla="val 11765"/>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27" name="Text 25"/>
          <p:cNvSpPr txBox="1"/>
          <p:nvPr/>
        </p:nvSpPr>
        <p:spPr>
          <a:xfrm>
            <a:off x="548640" y="3877056"/>
            <a:ext cx="2286000" cy="320040"/>
          </a:xfrm>
          <a:prstGeom prst="rect">
            <a:avLst/>
          </a:prstGeom>
          <a:noFill/>
          <a:ln/>
        </p:spPr>
        <p:txBody>
          <a:bodyPr wrap="square" lIns="0" tIns="0" rIns="0" bIns="0" rtlCol="0" anchor="ctr"/>
          <a:lstStyle/>
          <a:p>
            <a:pPr marL="0" indent="0">
              <a:buNone/>
            </a:pPr>
            <a:r>
              <a:rPr lang="en-US" sz="1270" b="1" dirty="0">
                <a:solidFill>
                  <a:srgbClr val="1E3A6B"/>
                </a:solidFill>
                <a:latin typeface="Calibri" pitchFamily="34" charset="0"/>
                <a:ea typeface="Calibri" pitchFamily="34" charset="-122"/>
                <a:cs typeface="Calibri" pitchFamily="34" charset="-120"/>
              </a:rPr>
              <a:t>Burger</a:t>
            </a:r>
            <a:endParaRPr lang="en-US" sz="1270" dirty="0"/>
          </a:p>
        </p:txBody>
      </p:sp>
      <p:sp>
        <p:nvSpPr>
          <p:cNvPr id="28" name="Text 26"/>
          <p:cNvSpPr txBox="1"/>
          <p:nvPr/>
        </p:nvSpPr>
        <p:spPr>
          <a:xfrm>
            <a:off x="3291840" y="3877056"/>
            <a:ext cx="1005840" cy="320040"/>
          </a:xfrm>
          <a:prstGeom prst="rect">
            <a:avLst/>
          </a:prstGeom>
          <a:noFill/>
          <a:ln/>
        </p:spPr>
        <p:txBody>
          <a:bodyPr wrap="square" lIns="0" tIns="0" rIns="0" bIns="0" rtlCol="0" anchor="ctr"/>
          <a:lstStyle/>
          <a:p>
            <a:pPr marL="0" indent="0" algn="r">
              <a:buNone/>
            </a:pPr>
            <a:r>
              <a:rPr lang="en-US" sz="1430" b="1" dirty="0">
                <a:solidFill>
                  <a:srgbClr val="2762A8"/>
                </a:solidFill>
                <a:latin typeface="Calibri" pitchFamily="34" charset="0"/>
                <a:ea typeface="Calibri" pitchFamily="34" charset="-122"/>
                <a:cs typeface="Calibri" pitchFamily="34" charset="-120"/>
              </a:rPr>
              <a:t>0.604</a:t>
            </a:r>
            <a:endParaRPr lang="en-US" sz="1430" dirty="0"/>
          </a:p>
        </p:txBody>
      </p:sp>
      <p:sp>
        <p:nvSpPr>
          <p:cNvPr id="29" name="track"/>
          <p:cNvSpPr/>
          <p:nvPr/>
        </p:nvSpPr>
        <p:spPr>
          <a:xfrm>
            <a:off x="548640" y="4325112"/>
            <a:ext cx="3749040" cy="118872"/>
          </a:xfrm>
          <a:prstGeom prst="roundRect">
            <a:avLst>
              <a:gd name="adj" fmla="val 50000"/>
            </a:avLst>
          </a:prstGeom>
          <a:solidFill>
            <a:srgbClr val="FFFFFF">
              <a:alpha val="80000"/>
            </a:srgbClr>
          </a:solidFill>
          <a:ln w="6350">
            <a:solidFill>
              <a:srgbClr val="B5C8E6"/>
            </a:solidFill>
            <a:prstDash val="solid"/>
          </a:ln>
        </p:spPr>
      </p:sp>
      <p:sp>
        <p:nvSpPr>
          <p:cNvPr id="30" name="bar"/>
          <p:cNvSpPr/>
          <p:nvPr/>
        </p:nvSpPr>
        <p:spPr>
          <a:xfrm>
            <a:off x="548640" y="4325112"/>
            <a:ext cx="2830525" cy="118872"/>
          </a:xfrm>
          <a:prstGeom prst="roundRect">
            <a:avLst>
              <a:gd name="adj" fmla="val 50000"/>
            </a:avLst>
          </a:prstGeom>
          <a:solidFill>
            <a:srgbClr val="2762A8"/>
          </a:solidFill>
          <a:ln w="12700">
            <a:solidFill>
              <a:srgbClr val="2762A8"/>
            </a:solidFill>
            <a:prstDash val="solid"/>
          </a:ln>
        </p:spPr>
      </p:sp>
      <p:sp>
        <p:nvSpPr>
          <p:cNvPr id="31" name="card"/>
          <p:cNvSpPr/>
          <p:nvPr/>
        </p:nvSpPr>
        <p:spPr>
          <a:xfrm>
            <a:off x="4663440" y="3803904"/>
            <a:ext cx="4114800" cy="777240"/>
          </a:xfrm>
          <a:prstGeom prst="roundRect">
            <a:avLst>
              <a:gd name="adj" fmla="val 11765"/>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32" name="Text 30"/>
          <p:cNvSpPr txBox="1"/>
          <p:nvPr/>
        </p:nvSpPr>
        <p:spPr>
          <a:xfrm>
            <a:off x="4846320" y="3877056"/>
            <a:ext cx="2286000" cy="320040"/>
          </a:xfrm>
          <a:prstGeom prst="rect">
            <a:avLst/>
          </a:prstGeom>
          <a:noFill/>
          <a:ln/>
        </p:spPr>
        <p:txBody>
          <a:bodyPr wrap="square" lIns="0" tIns="0" rIns="0" bIns="0" rtlCol="0" anchor="ctr"/>
          <a:lstStyle/>
          <a:p>
            <a:pPr marL="0" indent="0">
              <a:buNone/>
            </a:pPr>
            <a:r>
              <a:rPr lang="en-US" sz="1270" b="1" dirty="0">
                <a:solidFill>
                  <a:srgbClr val="1E3A6B"/>
                </a:solidFill>
                <a:latin typeface="Calibri" pitchFamily="34" charset="0"/>
                <a:ea typeface="Calibri" pitchFamily="34" charset="-122"/>
                <a:cs typeface="Calibri" pitchFamily="34" charset="-120"/>
              </a:rPr>
              <a:t>Pani Puri</a:t>
            </a:r>
            <a:endParaRPr lang="en-US" sz="1270" dirty="0"/>
          </a:p>
        </p:txBody>
      </p:sp>
      <p:sp>
        <p:nvSpPr>
          <p:cNvPr id="33" name="Text 31"/>
          <p:cNvSpPr txBox="1"/>
          <p:nvPr/>
        </p:nvSpPr>
        <p:spPr>
          <a:xfrm>
            <a:off x="7589520" y="3877056"/>
            <a:ext cx="1005840" cy="320040"/>
          </a:xfrm>
          <a:prstGeom prst="rect">
            <a:avLst/>
          </a:prstGeom>
          <a:noFill/>
          <a:ln/>
        </p:spPr>
        <p:txBody>
          <a:bodyPr wrap="square" lIns="0" tIns="0" rIns="0" bIns="0" rtlCol="0" anchor="ctr"/>
          <a:lstStyle/>
          <a:p>
            <a:pPr marL="0" indent="0" algn="r">
              <a:buNone/>
            </a:pPr>
            <a:r>
              <a:rPr lang="en-US" sz="1430" b="1" dirty="0">
                <a:solidFill>
                  <a:srgbClr val="2762A8"/>
                </a:solidFill>
                <a:latin typeface="Calibri" pitchFamily="34" charset="0"/>
                <a:ea typeface="Calibri" pitchFamily="34" charset="-122"/>
                <a:cs typeface="Calibri" pitchFamily="34" charset="-120"/>
              </a:rPr>
              <a:t>0.475</a:t>
            </a:r>
            <a:endParaRPr lang="en-US" sz="1430" dirty="0"/>
          </a:p>
        </p:txBody>
      </p:sp>
      <p:sp>
        <p:nvSpPr>
          <p:cNvPr id="34" name="track"/>
          <p:cNvSpPr/>
          <p:nvPr/>
        </p:nvSpPr>
        <p:spPr>
          <a:xfrm>
            <a:off x="4846320" y="4325112"/>
            <a:ext cx="3749040" cy="118872"/>
          </a:xfrm>
          <a:prstGeom prst="roundRect">
            <a:avLst>
              <a:gd name="adj" fmla="val 50000"/>
            </a:avLst>
          </a:prstGeom>
          <a:solidFill>
            <a:srgbClr val="FFFFFF">
              <a:alpha val="80000"/>
            </a:srgbClr>
          </a:solidFill>
          <a:ln w="6350">
            <a:solidFill>
              <a:srgbClr val="B5C8E6"/>
            </a:solidFill>
            <a:prstDash val="solid"/>
          </a:ln>
        </p:spPr>
      </p:sp>
      <p:sp>
        <p:nvSpPr>
          <p:cNvPr id="35" name="bar"/>
          <p:cNvSpPr/>
          <p:nvPr/>
        </p:nvSpPr>
        <p:spPr>
          <a:xfrm>
            <a:off x="4846320" y="4325112"/>
            <a:ext cx="2225992" cy="118872"/>
          </a:xfrm>
          <a:prstGeom prst="roundRect">
            <a:avLst>
              <a:gd name="adj" fmla="val 50000"/>
            </a:avLst>
          </a:prstGeom>
          <a:solidFill>
            <a:srgbClr val="2762A8"/>
          </a:solidFill>
          <a:ln w="12700">
            <a:solidFill>
              <a:srgbClr val="2762A8"/>
            </a:solidFill>
            <a:prstDash val="solid"/>
          </a:ln>
        </p:spPr>
      </p:sp>
      <p:sp>
        <p:nvSpPr>
          <p:cNvPr id="36" name="Slide Number Placeholder 0"/>
          <p:cNvSpPr>
            <a:spLocks noGrp="1"/>
          </p:cNvSpPr>
          <p:nvPr>
            <p:ph type="sldNum" sz="quarter" idx="4294967295"/>
          </p:nvPr>
        </p:nvSpPr>
        <p:spPr>
          <a:xfrm>
            <a:off x="832104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46587D"/>
                </a:solidFill>
                <a:latin typeface="Calibri"/>
                <a:ea typeface="Calibri"/>
                <a:cs typeface="Calibri"/>
              </a:defRPr>
            </a:lvl1pPr>
          </a:lstStyle>
          <a:p>
            <a:pPr algn="r"/>
            <a:fld id="{F7021451-1387-4CA6-816F-3879F97B5CBC}" type="slidenum">
              <a:rPr lang="en-US" b="0"/>
              <a:pPr algn="r"/>
              <a:t>10</a:t>
            </a:fld>
            <a:endParaRPr lang="en-US"/>
          </a:p>
        </p:txBody>
      </p:sp>
    </p:spTree>
  </p:cSld>
  <p:clrMapOvr>
    <a:masterClrMapping/>
  </p:clrMapOvr>
  <p:transition spd="med">
    <p:split orient="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p:nvPr>
        </p:nvSpPr>
        <p:spPr>
          <a:xfrm>
            <a:off x="365760" y="201168"/>
            <a:ext cx="8412480" cy="548640"/>
          </a:xfrm>
          <a:prstGeom prst="rect">
            <a:avLst/>
          </a:prstGeom>
          <a:noFill/>
          <a:ln/>
        </p:spPr>
        <p:txBody>
          <a:bodyPr wrap="square" lIns="0" tIns="0" rIns="0" bIns="0" rtlCol="0" anchor="ctr"/>
          <a:lstStyle/>
          <a:p>
            <a:pPr marL="0" indent="0" algn="l">
              <a:buNone/>
            </a:pPr>
            <a:r>
              <a:rPr lang="en-US" sz="2400" b="1" dirty="0">
                <a:solidFill>
                  <a:srgbClr val="1E3A6B"/>
                </a:solidFill>
                <a:latin typeface="Calibri" pitchFamily="34" charset="0"/>
                <a:ea typeface="Calibri" pitchFamily="34" charset="-122"/>
                <a:cs typeface="Calibri" pitchFamily="34" charset="-120"/>
              </a:rPr>
              <a:t>Model Evaluation: How Good Is the Model?</a:t>
            </a:r>
            <a:endParaRPr lang="en-US" sz="2400" dirty="0"/>
          </a:p>
        </p:txBody>
      </p:sp>
      <p:sp>
        <p:nvSpPr>
          <p:cNvPr id="3" name="card"/>
          <p:cNvSpPr/>
          <p:nvPr/>
        </p:nvSpPr>
        <p:spPr>
          <a:xfrm>
            <a:off x="365760" y="960120"/>
            <a:ext cx="4114800" cy="1554480"/>
          </a:xfrm>
          <a:prstGeom prst="roundRect">
            <a:avLst>
              <a:gd name="adj" fmla="val 5882"/>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4" name="iconcircle"/>
          <p:cNvSpPr/>
          <p:nvPr/>
        </p:nvSpPr>
        <p:spPr>
          <a:xfrm>
            <a:off x="548640" y="1097280"/>
            <a:ext cx="548640" cy="548640"/>
          </a:xfrm>
          <a:prstGeom prst="ellipse">
            <a:avLst/>
          </a:prstGeom>
          <a:solidFill>
            <a:srgbClr val="2762A8"/>
          </a:solidFill>
          <a:ln w="12700">
            <a:solidFill>
              <a:srgbClr val="2762A8"/>
            </a:solidFill>
            <a:prstDash val="solid"/>
          </a:ln>
        </p:spPr>
      </p:sp>
      <p:pic>
        <p:nvPicPr>
          <p:cNvPr id="5" name="Image 0" descr="FaBullseye"/>
          <p:cNvPicPr>
            <a:picLocks noChangeAspect="1"/>
          </p:cNvPicPr>
          <p:nvPr/>
        </p:nvPicPr>
        <p:blipFill>
          <a:blip r:embed="rId3"/>
          <a:stretch>
            <a:fillRect/>
          </a:stretch>
        </p:blipFill>
        <p:spPr>
          <a:xfrm>
            <a:off x="685800" y="1234440"/>
            <a:ext cx="274320" cy="274320"/>
          </a:xfrm>
          <a:prstGeom prst="rect">
            <a:avLst/>
          </a:prstGeom>
        </p:spPr>
      </p:pic>
      <p:sp>
        <p:nvSpPr>
          <p:cNvPr id="6" name="Text 3"/>
          <p:cNvSpPr txBox="1"/>
          <p:nvPr/>
        </p:nvSpPr>
        <p:spPr>
          <a:xfrm>
            <a:off x="1234440" y="1069848"/>
            <a:ext cx="2103120" cy="320040"/>
          </a:xfrm>
          <a:prstGeom prst="rect">
            <a:avLst/>
          </a:prstGeom>
          <a:noFill/>
          <a:ln/>
        </p:spPr>
        <p:txBody>
          <a:bodyPr wrap="square" lIns="0" tIns="0" rIns="0" bIns="0" rtlCol="0" anchor="ctr"/>
          <a:lstStyle/>
          <a:p>
            <a:pPr marL="0" indent="0">
              <a:buNone/>
            </a:pPr>
            <a:r>
              <a:rPr lang="en-US" sz="1540" b="1" dirty="0">
                <a:solidFill>
                  <a:srgbClr val="1E3A6B"/>
                </a:solidFill>
                <a:latin typeface="Calibri" pitchFamily="34" charset="0"/>
                <a:ea typeface="Calibri" pitchFamily="34" charset="-122"/>
                <a:cs typeface="Calibri" pitchFamily="34" charset="-120"/>
              </a:rPr>
              <a:t>MAE</a:t>
            </a:r>
            <a:endParaRPr lang="en-US" sz="1540" dirty="0"/>
          </a:p>
        </p:txBody>
      </p:sp>
      <p:sp>
        <p:nvSpPr>
          <p:cNvPr id="7" name="Text 4"/>
          <p:cNvSpPr txBox="1"/>
          <p:nvPr/>
        </p:nvSpPr>
        <p:spPr>
          <a:xfrm>
            <a:off x="1234440" y="1371600"/>
            <a:ext cx="2377440" cy="228600"/>
          </a:xfrm>
          <a:prstGeom prst="rect">
            <a:avLst/>
          </a:prstGeom>
          <a:noFill/>
          <a:ln/>
        </p:spPr>
        <p:txBody>
          <a:bodyPr wrap="square" lIns="0" tIns="0" rIns="0" bIns="0" rtlCol="0" anchor="ctr"/>
          <a:lstStyle/>
          <a:p>
            <a:pPr marL="0" indent="0">
              <a:buNone/>
            </a:pPr>
            <a:r>
              <a:rPr lang="en-US" sz="940" dirty="0">
                <a:solidFill>
                  <a:srgbClr val="46587D"/>
                </a:solidFill>
                <a:latin typeface="Calibri" pitchFamily="34" charset="0"/>
                <a:ea typeface="Calibri" pitchFamily="34" charset="-122"/>
                <a:cs typeface="Calibri" pitchFamily="34" charset="-120"/>
              </a:rPr>
              <a:t>Mean Absolute Error</a:t>
            </a:r>
            <a:endParaRPr lang="en-US" sz="940" dirty="0"/>
          </a:p>
        </p:txBody>
      </p:sp>
      <p:sp>
        <p:nvSpPr>
          <p:cNvPr id="8" name="pill"/>
          <p:cNvSpPr/>
          <p:nvPr/>
        </p:nvSpPr>
        <p:spPr>
          <a:xfrm>
            <a:off x="3429000" y="1207008"/>
            <a:ext cx="914400" cy="292608"/>
          </a:xfrm>
          <a:prstGeom prst="roundRect">
            <a:avLst>
              <a:gd name="adj" fmla="val 50000"/>
            </a:avLst>
          </a:prstGeom>
          <a:solidFill>
            <a:srgbClr val="2762A8"/>
          </a:solidFill>
          <a:ln w="12700">
            <a:solidFill>
              <a:srgbClr val="2762A8"/>
            </a:solidFill>
            <a:prstDash val="solid"/>
          </a:ln>
        </p:spPr>
      </p:sp>
      <p:sp>
        <p:nvSpPr>
          <p:cNvPr id="9" name="Text 6"/>
          <p:cNvSpPr txBox="1"/>
          <p:nvPr/>
        </p:nvSpPr>
        <p:spPr>
          <a:xfrm>
            <a:off x="3429000" y="1207008"/>
            <a:ext cx="914400" cy="292608"/>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Ours: ~1.6</a:t>
            </a:r>
            <a:endParaRPr lang="en-US" sz="990" dirty="0"/>
          </a:p>
        </p:txBody>
      </p:sp>
      <p:sp>
        <p:nvSpPr>
          <p:cNvPr id="10" name="Text 7"/>
          <p:cNvSpPr txBox="1"/>
          <p:nvPr/>
        </p:nvSpPr>
        <p:spPr>
          <a:xfrm>
            <a:off x="548640" y="1709928"/>
            <a:ext cx="3749040" cy="256032"/>
          </a:xfrm>
          <a:prstGeom prst="rect">
            <a:avLst/>
          </a:prstGeom>
          <a:noFill/>
          <a:ln/>
        </p:spPr>
        <p:txBody>
          <a:bodyPr wrap="square" lIns="0" tIns="0" rIns="0" bIns="0" rtlCol="0" anchor="ctr"/>
          <a:lstStyle/>
          <a:p>
            <a:pPr marL="0" indent="0">
              <a:buNone/>
            </a:pPr>
            <a:r>
              <a:rPr lang="en-US" sz="990" b="1" dirty="0">
                <a:solidFill>
                  <a:srgbClr val="2762A8"/>
                </a:solidFill>
                <a:latin typeface="Courier New" pitchFamily="34" charset="0"/>
                <a:ea typeface="Courier New" pitchFamily="34" charset="-122"/>
                <a:cs typeface="Courier New" pitchFamily="34" charset="-120"/>
              </a:rPr>
              <a:t>MAE = average of |y_actual − y_pred|</a:t>
            </a:r>
            <a:endParaRPr lang="en-US" sz="990" dirty="0"/>
          </a:p>
        </p:txBody>
      </p:sp>
      <p:sp>
        <p:nvSpPr>
          <p:cNvPr id="11" name="Text 8"/>
          <p:cNvSpPr txBox="1"/>
          <p:nvPr/>
        </p:nvSpPr>
        <p:spPr>
          <a:xfrm>
            <a:off x="548640" y="1965960"/>
            <a:ext cx="3749040" cy="292608"/>
          </a:xfrm>
          <a:prstGeom prst="rect">
            <a:avLst/>
          </a:prstGeom>
          <a:noFill/>
          <a:ln/>
        </p:spPr>
        <p:txBody>
          <a:bodyPr wrap="square" lIns="0" tIns="0" rIns="0" bIns="0" rtlCol="0" anchor="t"/>
          <a:lstStyle/>
          <a:p>
            <a:pPr marL="0" indent="0">
              <a:buNone/>
            </a:pPr>
            <a:r>
              <a:rPr lang="en-US" sz="990" dirty="0">
                <a:solidFill>
                  <a:srgbClr val="1E3A6B"/>
                </a:solidFill>
                <a:latin typeface="Calibri" pitchFamily="34" charset="0"/>
                <a:ea typeface="Calibri" pitchFamily="34" charset="-122"/>
                <a:cs typeface="Calibri" pitchFamily="34" charset="-120"/>
              </a:rPr>
              <a:t>Average gap between actual and predicted damage %.</a:t>
            </a:r>
            <a:endParaRPr lang="en-US" sz="990" dirty="0"/>
          </a:p>
        </p:txBody>
      </p:sp>
      <p:sp>
        <p:nvSpPr>
          <p:cNvPr id="12" name="Text 9"/>
          <p:cNvSpPr txBox="1"/>
          <p:nvPr/>
        </p:nvSpPr>
        <p:spPr>
          <a:xfrm>
            <a:off x="548640" y="2258568"/>
            <a:ext cx="3749040" cy="201168"/>
          </a:xfrm>
          <a:prstGeom prst="rect">
            <a:avLst/>
          </a:prstGeom>
          <a:noFill/>
          <a:ln/>
        </p:spPr>
        <p:txBody>
          <a:bodyPr wrap="square" lIns="0" tIns="0" rIns="0" bIns="0" rtlCol="0" anchor="ctr"/>
          <a:lstStyle/>
          <a:p>
            <a:pPr marL="0" indent="0">
              <a:buNone/>
            </a:pPr>
            <a:r>
              <a:rPr lang="en-US" sz="940" b="1" dirty="0">
                <a:solidFill>
                  <a:srgbClr val="2762A8"/>
                </a:solidFill>
                <a:latin typeface="Calibri" pitchFamily="34" charset="0"/>
                <a:ea typeface="Calibri" pitchFamily="34" charset="-122"/>
                <a:cs typeface="Calibri" pitchFamily="34" charset="-120"/>
              </a:rPr>
              <a:t>Goal: lower is better</a:t>
            </a:r>
            <a:endParaRPr lang="en-US" sz="940" dirty="0"/>
          </a:p>
        </p:txBody>
      </p:sp>
      <p:sp>
        <p:nvSpPr>
          <p:cNvPr id="13" name="card"/>
          <p:cNvSpPr/>
          <p:nvPr/>
        </p:nvSpPr>
        <p:spPr>
          <a:xfrm>
            <a:off x="4663440" y="960120"/>
            <a:ext cx="4114800" cy="1554480"/>
          </a:xfrm>
          <a:prstGeom prst="roundRect">
            <a:avLst>
              <a:gd name="adj" fmla="val 5882"/>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14" name="iconcircle"/>
          <p:cNvSpPr/>
          <p:nvPr/>
        </p:nvSpPr>
        <p:spPr>
          <a:xfrm>
            <a:off x="4846320" y="1097280"/>
            <a:ext cx="548640" cy="548640"/>
          </a:xfrm>
          <a:prstGeom prst="ellipse">
            <a:avLst/>
          </a:prstGeom>
          <a:solidFill>
            <a:srgbClr val="7B6BD6"/>
          </a:solidFill>
          <a:ln w="12700">
            <a:solidFill>
              <a:srgbClr val="7B6BD6"/>
            </a:solidFill>
            <a:prstDash val="solid"/>
          </a:ln>
        </p:spPr>
      </p:sp>
      <p:pic>
        <p:nvPicPr>
          <p:cNvPr id="15" name="Image 1" descr="FaSuperscript"/>
          <p:cNvPicPr>
            <a:picLocks noChangeAspect="1"/>
          </p:cNvPicPr>
          <p:nvPr/>
        </p:nvPicPr>
        <p:blipFill>
          <a:blip r:embed="rId4"/>
          <a:stretch>
            <a:fillRect/>
          </a:stretch>
        </p:blipFill>
        <p:spPr>
          <a:xfrm>
            <a:off x="4983480" y="1234440"/>
            <a:ext cx="274320" cy="274320"/>
          </a:xfrm>
          <a:prstGeom prst="rect">
            <a:avLst/>
          </a:prstGeom>
        </p:spPr>
      </p:pic>
      <p:sp>
        <p:nvSpPr>
          <p:cNvPr id="16" name="Text 12"/>
          <p:cNvSpPr txBox="1"/>
          <p:nvPr/>
        </p:nvSpPr>
        <p:spPr>
          <a:xfrm>
            <a:off x="5532120" y="1069848"/>
            <a:ext cx="2103120" cy="320040"/>
          </a:xfrm>
          <a:prstGeom prst="rect">
            <a:avLst/>
          </a:prstGeom>
          <a:noFill/>
          <a:ln/>
        </p:spPr>
        <p:txBody>
          <a:bodyPr wrap="square" lIns="0" tIns="0" rIns="0" bIns="0" rtlCol="0" anchor="ctr"/>
          <a:lstStyle/>
          <a:p>
            <a:pPr marL="0" indent="0">
              <a:buNone/>
            </a:pPr>
            <a:r>
              <a:rPr lang="en-US" sz="1540" b="1" dirty="0">
                <a:solidFill>
                  <a:srgbClr val="1E3A6B"/>
                </a:solidFill>
                <a:latin typeface="Calibri" pitchFamily="34" charset="0"/>
                <a:ea typeface="Calibri" pitchFamily="34" charset="-122"/>
                <a:cs typeface="Calibri" pitchFamily="34" charset="-120"/>
              </a:rPr>
              <a:t>MSE</a:t>
            </a:r>
            <a:endParaRPr lang="en-US" sz="1540" dirty="0"/>
          </a:p>
        </p:txBody>
      </p:sp>
      <p:sp>
        <p:nvSpPr>
          <p:cNvPr id="17" name="Text 13"/>
          <p:cNvSpPr txBox="1"/>
          <p:nvPr/>
        </p:nvSpPr>
        <p:spPr>
          <a:xfrm>
            <a:off x="5532120" y="1371600"/>
            <a:ext cx="2377440" cy="228600"/>
          </a:xfrm>
          <a:prstGeom prst="rect">
            <a:avLst/>
          </a:prstGeom>
          <a:noFill/>
          <a:ln/>
        </p:spPr>
        <p:txBody>
          <a:bodyPr wrap="square" lIns="0" tIns="0" rIns="0" bIns="0" rtlCol="0" anchor="ctr"/>
          <a:lstStyle/>
          <a:p>
            <a:pPr marL="0" indent="0">
              <a:buNone/>
            </a:pPr>
            <a:r>
              <a:rPr lang="en-US" sz="940" dirty="0">
                <a:solidFill>
                  <a:srgbClr val="46587D"/>
                </a:solidFill>
                <a:latin typeface="Calibri" pitchFamily="34" charset="0"/>
                <a:ea typeface="Calibri" pitchFamily="34" charset="-122"/>
                <a:cs typeface="Calibri" pitchFamily="34" charset="-120"/>
              </a:rPr>
              <a:t>Mean Squared Error</a:t>
            </a:r>
            <a:endParaRPr lang="en-US" sz="940" dirty="0"/>
          </a:p>
        </p:txBody>
      </p:sp>
      <p:sp>
        <p:nvSpPr>
          <p:cNvPr id="18" name="Text 14"/>
          <p:cNvSpPr txBox="1"/>
          <p:nvPr/>
        </p:nvSpPr>
        <p:spPr>
          <a:xfrm>
            <a:off x="4846320" y="1709928"/>
            <a:ext cx="3749040" cy="256032"/>
          </a:xfrm>
          <a:prstGeom prst="rect">
            <a:avLst/>
          </a:prstGeom>
          <a:noFill/>
          <a:ln/>
        </p:spPr>
        <p:txBody>
          <a:bodyPr wrap="square" lIns="0" tIns="0" rIns="0" bIns="0" rtlCol="0" anchor="ctr"/>
          <a:lstStyle/>
          <a:p>
            <a:pPr marL="0" indent="0">
              <a:buNone/>
            </a:pPr>
            <a:r>
              <a:rPr lang="en-US" sz="990" b="1" dirty="0">
                <a:solidFill>
                  <a:srgbClr val="7B6BD6"/>
                </a:solidFill>
                <a:latin typeface="Courier New" pitchFamily="34" charset="0"/>
                <a:ea typeface="Courier New" pitchFamily="34" charset="-122"/>
                <a:cs typeface="Courier New" pitchFamily="34" charset="-120"/>
              </a:rPr>
              <a:t>MSE = average of (y_actual − y_pred)²</a:t>
            </a:r>
            <a:endParaRPr lang="en-US" sz="990" dirty="0"/>
          </a:p>
        </p:txBody>
      </p:sp>
      <p:sp>
        <p:nvSpPr>
          <p:cNvPr id="19" name="Text 15"/>
          <p:cNvSpPr txBox="1"/>
          <p:nvPr/>
        </p:nvSpPr>
        <p:spPr>
          <a:xfrm>
            <a:off x="4846320" y="1965960"/>
            <a:ext cx="3749040" cy="292608"/>
          </a:xfrm>
          <a:prstGeom prst="rect">
            <a:avLst/>
          </a:prstGeom>
          <a:noFill/>
          <a:ln/>
        </p:spPr>
        <p:txBody>
          <a:bodyPr wrap="square" lIns="0" tIns="0" rIns="0" bIns="0" rtlCol="0" anchor="t"/>
          <a:lstStyle/>
          <a:p>
            <a:pPr marL="0" indent="0">
              <a:buNone/>
            </a:pPr>
            <a:r>
              <a:rPr lang="en-US" sz="990" dirty="0">
                <a:solidFill>
                  <a:srgbClr val="1E3A6B"/>
                </a:solidFill>
                <a:latin typeface="Calibri" pitchFamily="34" charset="0"/>
                <a:ea typeface="Calibri" pitchFamily="34" charset="-122"/>
                <a:cs typeface="Calibri" pitchFamily="34" charset="-120"/>
              </a:rPr>
              <a:t>Squares each error, so big mistakes are punished more.</a:t>
            </a:r>
            <a:endParaRPr lang="en-US" sz="990" dirty="0"/>
          </a:p>
        </p:txBody>
      </p:sp>
      <p:sp>
        <p:nvSpPr>
          <p:cNvPr id="20" name="Text 16"/>
          <p:cNvSpPr txBox="1"/>
          <p:nvPr/>
        </p:nvSpPr>
        <p:spPr>
          <a:xfrm>
            <a:off x="4846320" y="2258568"/>
            <a:ext cx="3749040" cy="201168"/>
          </a:xfrm>
          <a:prstGeom prst="rect">
            <a:avLst/>
          </a:prstGeom>
          <a:noFill/>
          <a:ln/>
        </p:spPr>
        <p:txBody>
          <a:bodyPr wrap="square" lIns="0" tIns="0" rIns="0" bIns="0" rtlCol="0" anchor="ctr"/>
          <a:lstStyle/>
          <a:p>
            <a:pPr marL="0" indent="0">
              <a:buNone/>
            </a:pPr>
            <a:r>
              <a:rPr lang="en-US" sz="940" b="1" dirty="0">
                <a:solidFill>
                  <a:srgbClr val="7B6BD6"/>
                </a:solidFill>
                <a:latin typeface="Calibri" pitchFamily="34" charset="0"/>
                <a:ea typeface="Calibri" pitchFamily="34" charset="-122"/>
                <a:cs typeface="Calibri" pitchFamily="34" charset="-120"/>
              </a:rPr>
              <a:t>Goal: lower is better</a:t>
            </a:r>
            <a:endParaRPr lang="en-US" sz="940" dirty="0"/>
          </a:p>
        </p:txBody>
      </p:sp>
      <p:sp>
        <p:nvSpPr>
          <p:cNvPr id="21" name="card"/>
          <p:cNvSpPr/>
          <p:nvPr/>
        </p:nvSpPr>
        <p:spPr>
          <a:xfrm>
            <a:off x="365760" y="2606040"/>
            <a:ext cx="4114800" cy="1554480"/>
          </a:xfrm>
          <a:prstGeom prst="roundRect">
            <a:avLst>
              <a:gd name="adj" fmla="val 5882"/>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22" name="iconcircle"/>
          <p:cNvSpPr/>
          <p:nvPr/>
        </p:nvSpPr>
        <p:spPr>
          <a:xfrm>
            <a:off x="548640" y="2743200"/>
            <a:ext cx="548640" cy="548640"/>
          </a:xfrm>
          <a:prstGeom prst="ellipse">
            <a:avLst/>
          </a:prstGeom>
          <a:solidFill>
            <a:srgbClr val="D6568C"/>
          </a:solidFill>
          <a:ln w="12700">
            <a:solidFill>
              <a:srgbClr val="D6568C"/>
            </a:solidFill>
            <a:prstDash val="solid"/>
          </a:ln>
        </p:spPr>
      </p:sp>
      <p:pic>
        <p:nvPicPr>
          <p:cNvPr id="23" name="Image 2" descr="FaSquareRootAlt"/>
          <p:cNvPicPr>
            <a:picLocks noChangeAspect="1"/>
          </p:cNvPicPr>
          <p:nvPr/>
        </p:nvPicPr>
        <p:blipFill>
          <a:blip r:embed="rId5"/>
          <a:stretch>
            <a:fillRect/>
          </a:stretch>
        </p:blipFill>
        <p:spPr>
          <a:xfrm>
            <a:off x="685800" y="2880360"/>
            <a:ext cx="274320" cy="274320"/>
          </a:xfrm>
          <a:prstGeom prst="rect">
            <a:avLst/>
          </a:prstGeom>
        </p:spPr>
      </p:pic>
      <p:sp>
        <p:nvSpPr>
          <p:cNvPr id="24" name="Text 19"/>
          <p:cNvSpPr txBox="1"/>
          <p:nvPr/>
        </p:nvSpPr>
        <p:spPr>
          <a:xfrm>
            <a:off x="1234440" y="2715768"/>
            <a:ext cx="2103120" cy="320040"/>
          </a:xfrm>
          <a:prstGeom prst="rect">
            <a:avLst/>
          </a:prstGeom>
          <a:noFill/>
          <a:ln/>
        </p:spPr>
        <p:txBody>
          <a:bodyPr wrap="square" lIns="0" tIns="0" rIns="0" bIns="0" rtlCol="0" anchor="ctr"/>
          <a:lstStyle/>
          <a:p>
            <a:pPr marL="0" indent="0">
              <a:buNone/>
            </a:pPr>
            <a:r>
              <a:rPr lang="en-US" sz="1540" b="1" dirty="0">
                <a:solidFill>
                  <a:srgbClr val="1E3A6B"/>
                </a:solidFill>
                <a:latin typeface="Calibri" pitchFamily="34" charset="0"/>
                <a:ea typeface="Calibri" pitchFamily="34" charset="-122"/>
                <a:cs typeface="Calibri" pitchFamily="34" charset="-120"/>
              </a:rPr>
              <a:t>RMSE</a:t>
            </a:r>
            <a:endParaRPr lang="en-US" sz="1540" dirty="0"/>
          </a:p>
        </p:txBody>
      </p:sp>
      <p:sp>
        <p:nvSpPr>
          <p:cNvPr id="25" name="Text 20"/>
          <p:cNvSpPr txBox="1"/>
          <p:nvPr/>
        </p:nvSpPr>
        <p:spPr>
          <a:xfrm>
            <a:off x="1234440" y="3017520"/>
            <a:ext cx="2377440" cy="228600"/>
          </a:xfrm>
          <a:prstGeom prst="rect">
            <a:avLst/>
          </a:prstGeom>
          <a:noFill/>
          <a:ln/>
        </p:spPr>
        <p:txBody>
          <a:bodyPr wrap="square" lIns="0" tIns="0" rIns="0" bIns="0" rtlCol="0" anchor="ctr"/>
          <a:lstStyle/>
          <a:p>
            <a:pPr marL="0" indent="0">
              <a:buNone/>
            </a:pPr>
            <a:r>
              <a:rPr lang="en-US" sz="940" dirty="0">
                <a:solidFill>
                  <a:srgbClr val="46587D"/>
                </a:solidFill>
                <a:latin typeface="Calibri" pitchFamily="34" charset="0"/>
                <a:ea typeface="Calibri" pitchFamily="34" charset="-122"/>
                <a:cs typeface="Calibri" pitchFamily="34" charset="-120"/>
              </a:rPr>
              <a:t>Root Mean Squared Error</a:t>
            </a:r>
            <a:endParaRPr lang="en-US" sz="940" dirty="0"/>
          </a:p>
        </p:txBody>
      </p:sp>
      <p:sp>
        <p:nvSpPr>
          <p:cNvPr id="26" name="Text 21"/>
          <p:cNvSpPr txBox="1"/>
          <p:nvPr/>
        </p:nvSpPr>
        <p:spPr>
          <a:xfrm>
            <a:off x="548640" y="3355848"/>
            <a:ext cx="3749040" cy="256032"/>
          </a:xfrm>
          <a:prstGeom prst="rect">
            <a:avLst/>
          </a:prstGeom>
          <a:noFill/>
          <a:ln/>
        </p:spPr>
        <p:txBody>
          <a:bodyPr wrap="square" lIns="0" tIns="0" rIns="0" bIns="0" rtlCol="0" anchor="ctr"/>
          <a:lstStyle/>
          <a:p>
            <a:pPr marL="0" indent="0">
              <a:buNone/>
            </a:pPr>
            <a:r>
              <a:rPr lang="en-US" sz="990" b="1" dirty="0">
                <a:solidFill>
                  <a:srgbClr val="D6568C"/>
                </a:solidFill>
                <a:latin typeface="Courier New" pitchFamily="34" charset="0"/>
                <a:ea typeface="Courier New" pitchFamily="34" charset="-122"/>
                <a:cs typeface="Courier New" pitchFamily="34" charset="-120"/>
              </a:rPr>
              <a:t>RMSE = √MSE</a:t>
            </a:r>
            <a:endParaRPr lang="en-US" sz="990" dirty="0"/>
          </a:p>
        </p:txBody>
      </p:sp>
      <p:sp>
        <p:nvSpPr>
          <p:cNvPr id="27" name="Text 22"/>
          <p:cNvSpPr txBox="1"/>
          <p:nvPr/>
        </p:nvSpPr>
        <p:spPr>
          <a:xfrm>
            <a:off x="548640" y="3611880"/>
            <a:ext cx="3749040" cy="292608"/>
          </a:xfrm>
          <a:prstGeom prst="rect">
            <a:avLst/>
          </a:prstGeom>
          <a:noFill/>
          <a:ln/>
        </p:spPr>
        <p:txBody>
          <a:bodyPr wrap="square" lIns="0" tIns="0" rIns="0" bIns="0" rtlCol="0" anchor="t"/>
          <a:lstStyle/>
          <a:p>
            <a:pPr marL="0" indent="0">
              <a:buNone/>
            </a:pPr>
            <a:r>
              <a:rPr lang="en-US" sz="990" dirty="0">
                <a:solidFill>
                  <a:srgbClr val="1E3A6B"/>
                </a:solidFill>
                <a:latin typeface="Calibri" pitchFamily="34" charset="0"/>
                <a:ea typeface="Calibri" pitchFamily="34" charset="-122"/>
                <a:cs typeface="Calibri" pitchFamily="34" charset="-120"/>
              </a:rPr>
              <a:t>Square root of MSE, so it comes back to damage % units.</a:t>
            </a:r>
            <a:endParaRPr lang="en-US" sz="990" dirty="0"/>
          </a:p>
        </p:txBody>
      </p:sp>
      <p:sp>
        <p:nvSpPr>
          <p:cNvPr id="28" name="Text 23"/>
          <p:cNvSpPr txBox="1"/>
          <p:nvPr/>
        </p:nvSpPr>
        <p:spPr>
          <a:xfrm>
            <a:off x="548640" y="3904488"/>
            <a:ext cx="3749040" cy="201168"/>
          </a:xfrm>
          <a:prstGeom prst="rect">
            <a:avLst/>
          </a:prstGeom>
          <a:noFill/>
          <a:ln/>
        </p:spPr>
        <p:txBody>
          <a:bodyPr wrap="square" lIns="0" tIns="0" rIns="0" bIns="0" rtlCol="0" anchor="ctr"/>
          <a:lstStyle/>
          <a:p>
            <a:pPr marL="0" indent="0">
              <a:buNone/>
            </a:pPr>
            <a:r>
              <a:rPr lang="en-US" sz="940" b="1" dirty="0">
                <a:solidFill>
                  <a:srgbClr val="D6568C"/>
                </a:solidFill>
                <a:latin typeface="Calibri" pitchFamily="34" charset="0"/>
                <a:ea typeface="Calibri" pitchFamily="34" charset="-122"/>
                <a:cs typeface="Calibri" pitchFamily="34" charset="-120"/>
              </a:rPr>
              <a:t>Goal: lower is better</a:t>
            </a:r>
            <a:endParaRPr lang="en-US" sz="940" dirty="0"/>
          </a:p>
        </p:txBody>
      </p:sp>
      <p:sp>
        <p:nvSpPr>
          <p:cNvPr id="29" name="card"/>
          <p:cNvSpPr/>
          <p:nvPr/>
        </p:nvSpPr>
        <p:spPr>
          <a:xfrm>
            <a:off x="4663440" y="2606040"/>
            <a:ext cx="4114800" cy="1554480"/>
          </a:xfrm>
          <a:prstGeom prst="roundRect">
            <a:avLst>
              <a:gd name="adj" fmla="val 5882"/>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30" name="iconcircle"/>
          <p:cNvSpPr/>
          <p:nvPr/>
        </p:nvSpPr>
        <p:spPr>
          <a:xfrm>
            <a:off x="4846320" y="2743200"/>
            <a:ext cx="548640" cy="548640"/>
          </a:xfrm>
          <a:prstGeom prst="ellipse">
            <a:avLst/>
          </a:prstGeom>
          <a:solidFill>
            <a:srgbClr val="2EA995"/>
          </a:solidFill>
          <a:ln w="12700">
            <a:solidFill>
              <a:srgbClr val="2EA995"/>
            </a:solidFill>
            <a:prstDash val="solid"/>
          </a:ln>
        </p:spPr>
      </p:sp>
      <p:pic>
        <p:nvPicPr>
          <p:cNvPr id="31" name="Image 3" descr="FaChartPie"/>
          <p:cNvPicPr>
            <a:picLocks noChangeAspect="1"/>
          </p:cNvPicPr>
          <p:nvPr/>
        </p:nvPicPr>
        <p:blipFill>
          <a:blip r:embed="rId6"/>
          <a:stretch>
            <a:fillRect/>
          </a:stretch>
        </p:blipFill>
        <p:spPr>
          <a:xfrm>
            <a:off x="4983480" y="2880360"/>
            <a:ext cx="274320" cy="274320"/>
          </a:xfrm>
          <a:prstGeom prst="rect">
            <a:avLst/>
          </a:prstGeom>
        </p:spPr>
      </p:pic>
      <p:sp>
        <p:nvSpPr>
          <p:cNvPr id="32" name="Text 26"/>
          <p:cNvSpPr txBox="1"/>
          <p:nvPr/>
        </p:nvSpPr>
        <p:spPr>
          <a:xfrm>
            <a:off x="5532120" y="2715768"/>
            <a:ext cx="2103120" cy="320040"/>
          </a:xfrm>
          <a:prstGeom prst="rect">
            <a:avLst/>
          </a:prstGeom>
          <a:noFill/>
          <a:ln/>
        </p:spPr>
        <p:txBody>
          <a:bodyPr wrap="square" lIns="0" tIns="0" rIns="0" bIns="0" rtlCol="0" anchor="ctr"/>
          <a:lstStyle/>
          <a:p>
            <a:pPr marL="0" indent="0">
              <a:buNone/>
            </a:pPr>
            <a:r>
              <a:rPr lang="en-US" sz="1540" b="1" dirty="0">
                <a:solidFill>
                  <a:srgbClr val="1E3A6B"/>
                </a:solidFill>
                <a:latin typeface="Calibri" pitchFamily="34" charset="0"/>
                <a:ea typeface="Calibri" pitchFamily="34" charset="-122"/>
                <a:cs typeface="Calibri" pitchFamily="34" charset="-120"/>
              </a:rPr>
              <a:t>R² Score</a:t>
            </a:r>
            <a:endParaRPr lang="en-US" sz="1540" dirty="0"/>
          </a:p>
        </p:txBody>
      </p:sp>
      <p:sp>
        <p:nvSpPr>
          <p:cNvPr id="33" name="Text 27"/>
          <p:cNvSpPr txBox="1"/>
          <p:nvPr/>
        </p:nvSpPr>
        <p:spPr>
          <a:xfrm>
            <a:off x="5532120" y="3017520"/>
            <a:ext cx="2377440" cy="228600"/>
          </a:xfrm>
          <a:prstGeom prst="rect">
            <a:avLst/>
          </a:prstGeom>
          <a:noFill/>
          <a:ln/>
        </p:spPr>
        <p:txBody>
          <a:bodyPr wrap="square" lIns="0" tIns="0" rIns="0" bIns="0" rtlCol="0" anchor="ctr"/>
          <a:lstStyle/>
          <a:p>
            <a:pPr marL="0" indent="0">
              <a:buNone/>
            </a:pPr>
            <a:r>
              <a:rPr lang="en-US" sz="940" dirty="0">
                <a:solidFill>
                  <a:srgbClr val="46587D"/>
                </a:solidFill>
                <a:latin typeface="Calibri" pitchFamily="34" charset="0"/>
                <a:ea typeface="Calibri" pitchFamily="34" charset="-122"/>
                <a:cs typeface="Calibri" pitchFamily="34" charset="-120"/>
              </a:rPr>
              <a:t>Coefficient of Determination</a:t>
            </a:r>
            <a:endParaRPr lang="en-US" sz="940" dirty="0"/>
          </a:p>
        </p:txBody>
      </p:sp>
      <p:sp>
        <p:nvSpPr>
          <p:cNvPr id="34" name="pill"/>
          <p:cNvSpPr/>
          <p:nvPr/>
        </p:nvSpPr>
        <p:spPr>
          <a:xfrm>
            <a:off x="7726680" y="2852928"/>
            <a:ext cx="914400" cy="292608"/>
          </a:xfrm>
          <a:prstGeom prst="roundRect">
            <a:avLst>
              <a:gd name="adj" fmla="val 50000"/>
            </a:avLst>
          </a:prstGeom>
          <a:solidFill>
            <a:srgbClr val="2EA995"/>
          </a:solidFill>
          <a:ln w="12700">
            <a:solidFill>
              <a:srgbClr val="2EA995"/>
            </a:solidFill>
            <a:prstDash val="solid"/>
          </a:ln>
        </p:spPr>
      </p:sp>
      <p:sp>
        <p:nvSpPr>
          <p:cNvPr id="35" name="Text 29"/>
          <p:cNvSpPr txBox="1"/>
          <p:nvPr/>
        </p:nvSpPr>
        <p:spPr>
          <a:xfrm>
            <a:off x="7726680" y="2852928"/>
            <a:ext cx="914400" cy="292608"/>
          </a:xfrm>
          <a:prstGeom prst="rect">
            <a:avLst/>
          </a:prstGeom>
          <a:noFill/>
          <a:ln/>
        </p:spPr>
        <p:txBody>
          <a:bodyPr wrap="square" lIns="0" tIns="0" rIns="0" bIns="0" rtlCol="0" anchor="ctr"/>
          <a:lstStyle/>
          <a:p>
            <a:pPr marL="0" indent="0" algn="ctr">
              <a:buNone/>
            </a:pPr>
            <a:r>
              <a:rPr lang="en-US" sz="990" b="1" dirty="0">
                <a:solidFill>
                  <a:srgbClr val="FFFFFF"/>
                </a:solidFill>
                <a:latin typeface="Calibri" pitchFamily="34" charset="0"/>
                <a:ea typeface="Calibri" pitchFamily="34" charset="-122"/>
                <a:cs typeface="Calibri" pitchFamily="34" charset="-120"/>
              </a:rPr>
              <a:t>Ours: 0.96</a:t>
            </a:r>
            <a:endParaRPr lang="en-US" sz="990" dirty="0"/>
          </a:p>
        </p:txBody>
      </p:sp>
      <p:sp>
        <p:nvSpPr>
          <p:cNvPr id="36" name="Text 30"/>
          <p:cNvSpPr txBox="1"/>
          <p:nvPr/>
        </p:nvSpPr>
        <p:spPr>
          <a:xfrm>
            <a:off x="4846320" y="3355848"/>
            <a:ext cx="3749040" cy="256032"/>
          </a:xfrm>
          <a:prstGeom prst="rect">
            <a:avLst/>
          </a:prstGeom>
          <a:noFill/>
          <a:ln/>
        </p:spPr>
        <p:txBody>
          <a:bodyPr wrap="square" lIns="0" tIns="0" rIns="0" bIns="0" rtlCol="0" anchor="ctr"/>
          <a:lstStyle/>
          <a:p>
            <a:pPr marL="0" indent="0">
              <a:buNone/>
            </a:pPr>
            <a:r>
              <a:rPr lang="en-US" sz="990" b="1" dirty="0">
                <a:solidFill>
                  <a:srgbClr val="2EA995"/>
                </a:solidFill>
                <a:latin typeface="Courier New" pitchFamily="34" charset="0"/>
                <a:ea typeface="Courier New" pitchFamily="34" charset="-122"/>
                <a:cs typeface="Courier New" pitchFamily="34" charset="-120"/>
              </a:rPr>
              <a:t>R² = 1 − (model error ÷ total variation)</a:t>
            </a:r>
            <a:endParaRPr lang="en-US" sz="990" dirty="0"/>
          </a:p>
        </p:txBody>
      </p:sp>
      <p:sp>
        <p:nvSpPr>
          <p:cNvPr id="37" name="Text 31"/>
          <p:cNvSpPr txBox="1"/>
          <p:nvPr/>
        </p:nvSpPr>
        <p:spPr>
          <a:xfrm>
            <a:off x="4846320" y="3611880"/>
            <a:ext cx="3749040" cy="292608"/>
          </a:xfrm>
          <a:prstGeom prst="rect">
            <a:avLst/>
          </a:prstGeom>
          <a:noFill/>
          <a:ln/>
        </p:spPr>
        <p:txBody>
          <a:bodyPr wrap="square" lIns="0" tIns="0" rIns="0" bIns="0" rtlCol="0" anchor="t"/>
          <a:lstStyle/>
          <a:p>
            <a:pPr marL="0" indent="0">
              <a:buNone/>
            </a:pPr>
            <a:r>
              <a:rPr lang="en-US" sz="990" dirty="0">
                <a:solidFill>
                  <a:srgbClr val="1E3A6B"/>
                </a:solidFill>
                <a:latin typeface="Calibri" pitchFamily="34" charset="0"/>
                <a:ea typeface="Calibri" pitchFamily="34" charset="-122"/>
                <a:cs typeface="Calibri" pitchFamily="34" charset="-120"/>
              </a:rPr>
              <a:t>How much of the damage % the model explains. 1 = perfect.</a:t>
            </a:r>
            <a:endParaRPr lang="en-US" sz="990" dirty="0"/>
          </a:p>
        </p:txBody>
      </p:sp>
      <p:sp>
        <p:nvSpPr>
          <p:cNvPr id="38" name="Text 32"/>
          <p:cNvSpPr txBox="1"/>
          <p:nvPr/>
        </p:nvSpPr>
        <p:spPr>
          <a:xfrm>
            <a:off x="4846320" y="3904488"/>
            <a:ext cx="3749040" cy="201168"/>
          </a:xfrm>
          <a:prstGeom prst="rect">
            <a:avLst/>
          </a:prstGeom>
          <a:noFill/>
          <a:ln/>
        </p:spPr>
        <p:txBody>
          <a:bodyPr wrap="square" lIns="0" tIns="0" rIns="0" bIns="0" rtlCol="0" anchor="ctr"/>
          <a:lstStyle/>
          <a:p>
            <a:pPr marL="0" indent="0">
              <a:buNone/>
            </a:pPr>
            <a:r>
              <a:rPr lang="en-US" sz="940" b="1" dirty="0">
                <a:solidFill>
                  <a:srgbClr val="2EA995"/>
                </a:solidFill>
                <a:latin typeface="Calibri" pitchFamily="34" charset="0"/>
                <a:ea typeface="Calibri" pitchFamily="34" charset="-122"/>
                <a:cs typeface="Calibri" pitchFamily="34" charset="-120"/>
              </a:rPr>
              <a:t>Goal: closer to 1 is better</a:t>
            </a:r>
            <a:endParaRPr lang="en-US" sz="940" dirty="0"/>
          </a:p>
        </p:txBody>
      </p:sp>
      <p:sp>
        <p:nvSpPr>
          <p:cNvPr id="39" name="banner"/>
          <p:cNvSpPr/>
          <p:nvPr/>
        </p:nvSpPr>
        <p:spPr>
          <a:xfrm>
            <a:off x="365760" y="4279392"/>
            <a:ext cx="8412480" cy="384048"/>
          </a:xfrm>
          <a:prstGeom prst="roundRect">
            <a:avLst>
              <a:gd name="adj" fmla="val 19048"/>
            </a:avLst>
          </a:prstGeom>
          <a:solidFill>
            <a:srgbClr val="FFFFFF">
              <a:alpha val="85000"/>
            </a:srgbClr>
          </a:solidFill>
          <a:ln w="12700">
            <a:solidFill>
              <a:srgbClr val="D9870B">
                <a:alpha val="85000"/>
              </a:srgbClr>
            </a:solidFill>
            <a:prstDash val="solid"/>
          </a:ln>
          <a:effectLst>
            <a:outerShdw blurRad="76200" dist="25400" dir="5400000" algn="bl" rotWithShape="0">
              <a:srgbClr val="1E3A6B">
                <a:alpha val="12000"/>
              </a:srgbClr>
            </a:outerShdw>
          </a:effectLst>
        </p:spPr>
      </p:sp>
      <p:sp>
        <p:nvSpPr>
          <p:cNvPr id="40" name="Text 34"/>
          <p:cNvSpPr txBox="1"/>
          <p:nvPr/>
        </p:nvSpPr>
        <p:spPr>
          <a:xfrm>
            <a:off x="548640" y="4279392"/>
            <a:ext cx="8046720" cy="384048"/>
          </a:xfrm>
          <a:prstGeom prst="rect">
            <a:avLst/>
          </a:prstGeom>
          <a:noFill/>
          <a:ln/>
        </p:spPr>
        <p:txBody>
          <a:bodyPr wrap="square" lIns="0" tIns="0" rIns="0" bIns="0" rtlCol="0" anchor="ctr"/>
          <a:lstStyle/>
          <a:p>
            <a:pPr marL="0" indent="0">
              <a:buNone/>
            </a:pPr>
            <a:r>
              <a:rPr lang="en-US" sz="1160" b="1" dirty="0">
                <a:solidFill>
                  <a:srgbClr val="1E3A6B"/>
                </a:solidFill>
                <a:latin typeface="Calibri" pitchFamily="34" charset="0"/>
                <a:ea typeface="Calibri" pitchFamily="34" charset="-122"/>
                <a:cs typeface="Calibri" pitchFamily="34" charset="-120"/>
              </a:rPr>
              <a:t>All scores are checked on the 20% test data, which the model never saw during training.</a:t>
            </a:r>
            <a:endParaRPr lang="en-US" sz="1160" dirty="0"/>
          </a:p>
        </p:txBody>
      </p:sp>
      <p:sp>
        <p:nvSpPr>
          <p:cNvPr id="41" name="Slide Number Placeholder 0"/>
          <p:cNvSpPr>
            <a:spLocks noGrp="1"/>
          </p:cNvSpPr>
          <p:nvPr>
            <p:ph type="sldNum" sz="quarter" idx="4294967295"/>
          </p:nvPr>
        </p:nvSpPr>
        <p:spPr>
          <a:xfrm>
            <a:off x="832104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46587D"/>
                </a:solidFill>
                <a:latin typeface="Calibri"/>
                <a:ea typeface="Calibri"/>
                <a:cs typeface="Calibri"/>
              </a:defRPr>
            </a:lvl1pPr>
          </a:lstStyle>
          <a:p>
            <a:pPr algn="r"/>
            <a:fld id="{F7021451-1387-4CA6-816F-3879F97B5CBC}" type="slidenum">
              <a:rPr lang="en-US" b="0"/>
              <a:pPr algn="r"/>
              <a:t>11</a:t>
            </a:fld>
            <a:endParaRPr lang="en-US"/>
          </a:p>
        </p:txBody>
      </p:sp>
    </p:spTree>
  </p:cSld>
  <p:clrMapOvr>
    <a:masterClrMapping/>
  </p:clrMapOvr>
  <p:transition spd="med">
    <p:split orient="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p:nvPr>
        </p:nvSpPr>
        <p:spPr>
          <a:xfrm>
            <a:off x="365760" y="201168"/>
            <a:ext cx="8412480" cy="548640"/>
          </a:xfrm>
          <a:prstGeom prst="rect">
            <a:avLst/>
          </a:prstGeom>
          <a:noFill/>
          <a:ln/>
        </p:spPr>
        <p:txBody>
          <a:bodyPr wrap="square" lIns="0" tIns="0" rIns="0" bIns="0" rtlCol="0" anchor="ctr"/>
          <a:lstStyle/>
          <a:p>
            <a:pPr marL="0" indent="0" algn="l">
              <a:buNone/>
            </a:pPr>
            <a:r>
              <a:rPr lang="en-US" sz="2400" b="1" dirty="0">
                <a:solidFill>
                  <a:srgbClr val="1E3A6B"/>
                </a:solidFill>
                <a:latin typeface="Calibri" pitchFamily="34" charset="0"/>
                <a:ea typeface="Calibri" pitchFamily="34" charset="-122"/>
                <a:cs typeface="Calibri" pitchFamily="34" charset="-120"/>
              </a:rPr>
              <a:t>Model Performance</a:t>
            </a:r>
            <a:endParaRPr lang="en-US" sz="2400" dirty="0"/>
          </a:p>
        </p:txBody>
      </p:sp>
      <p:sp>
        <p:nvSpPr>
          <p:cNvPr id="3" name="card"/>
          <p:cNvSpPr/>
          <p:nvPr/>
        </p:nvSpPr>
        <p:spPr>
          <a:xfrm>
            <a:off x="365760" y="1005840"/>
            <a:ext cx="1920240" cy="1554480"/>
          </a:xfrm>
          <a:prstGeom prst="roundRect">
            <a:avLst>
              <a:gd name="adj" fmla="val 5882"/>
            </a:avLst>
          </a:prstGeom>
          <a:solidFill>
            <a:srgbClr val="2762A8"/>
          </a:solidFill>
          <a:ln w="12700">
            <a:solidFill>
              <a:srgbClr val="2762A8"/>
            </a:solidFill>
            <a:prstDash val="solid"/>
          </a:ln>
          <a:effectLst>
            <a:outerShdw blurRad="76200" dist="25400" dir="5400000" algn="bl" rotWithShape="0">
              <a:srgbClr val="1E3A6B">
                <a:alpha val="12000"/>
              </a:srgbClr>
            </a:outerShdw>
          </a:effectLst>
        </p:spPr>
      </p:sp>
      <p:sp>
        <p:nvSpPr>
          <p:cNvPr id="4" name="Text 2"/>
          <p:cNvSpPr txBox="1"/>
          <p:nvPr/>
        </p:nvSpPr>
        <p:spPr>
          <a:xfrm>
            <a:off x="548640" y="1115568"/>
            <a:ext cx="1554480" cy="274320"/>
          </a:xfrm>
          <a:prstGeom prst="rect">
            <a:avLst/>
          </a:prstGeom>
          <a:noFill/>
          <a:ln/>
        </p:spPr>
        <p:txBody>
          <a:bodyPr wrap="square" lIns="0" tIns="0" rIns="0" bIns="0" rtlCol="0" anchor="ctr"/>
          <a:lstStyle/>
          <a:p>
            <a:pPr marL="0" indent="0">
              <a:buNone/>
            </a:pPr>
            <a:r>
              <a:rPr lang="en-US" sz="990" b="1" kern="0" spc="100" dirty="0">
                <a:solidFill>
                  <a:srgbClr val="FFFFFF"/>
                </a:solidFill>
                <a:latin typeface="Calibri" pitchFamily="34" charset="0"/>
                <a:ea typeface="Calibri" pitchFamily="34" charset="-122"/>
                <a:cs typeface="Calibri" pitchFamily="34" charset="-120"/>
              </a:rPr>
              <a:t>R² SCORE</a:t>
            </a:r>
            <a:endParaRPr lang="en-US" sz="990" dirty="0"/>
          </a:p>
        </p:txBody>
      </p:sp>
      <p:sp>
        <p:nvSpPr>
          <p:cNvPr id="5" name="Text 3"/>
          <p:cNvSpPr txBox="1"/>
          <p:nvPr/>
        </p:nvSpPr>
        <p:spPr>
          <a:xfrm>
            <a:off x="548640" y="1417320"/>
            <a:ext cx="1645920" cy="548640"/>
          </a:xfrm>
          <a:prstGeom prst="rect">
            <a:avLst/>
          </a:prstGeom>
          <a:noFill/>
          <a:ln/>
        </p:spPr>
        <p:txBody>
          <a:bodyPr wrap="square" lIns="0" tIns="0" rIns="0" bIns="0" rtlCol="0" anchor="ctr"/>
          <a:lstStyle/>
          <a:p>
            <a:pPr marL="0" indent="0">
              <a:buNone/>
            </a:pPr>
            <a:r>
              <a:rPr lang="en-US" sz="2860" b="1" dirty="0">
                <a:solidFill>
                  <a:srgbClr val="FFFFFF"/>
                </a:solidFill>
                <a:latin typeface="Calibri" pitchFamily="34" charset="0"/>
                <a:ea typeface="Calibri" pitchFamily="34" charset="-122"/>
                <a:cs typeface="Calibri" pitchFamily="34" charset="-120"/>
              </a:rPr>
              <a:t>0.96</a:t>
            </a:r>
            <a:endParaRPr lang="en-US" sz="2860" dirty="0"/>
          </a:p>
        </p:txBody>
      </p:sp>
      <p:sp>
        <p:nvSpPr>
          <p:cNvPr id="6" name="Text 4"/>
          <p:cNvSpPr txBox="1"/>
          <p:nvPr/>
        </p:nvSpPr>
        <p:spPr>
          <a:xfrm>
            <a:off x="548640" y="2057400"/>
            <a:ext cx="1645920" cy="365760"/>
          </a:xfrm>
          <a:prstGeom prst="rect">
            <a:avLst/>
          </a:prstGeom>
          <a:noFill/>
          <a:ln/>
        </p:spPr>
        <p:txBody>
          <a:bodyPr wrap="square" lIns="0" tIns="0" rIns="0" bIns="0" rtlCol="0" anchor="ctr"/>
          <a:lstStyle/>
          <a:p>
            <a:pPr marL="0" indent="0">
              <a:buNone/>
            </a:pPr>
            <a:r>
              <a:rPr lang="en-US" sz="990" dirty="0">
                <a:solidFill>
                  <a:srgbClr val="FFFFFF"/>
                </a:solidFill>
                <a:latin typeface="Calibri" pitchFamily="34" charset="0"/>
                <a:ea typeface="Calibri" pitchFamily="34" charset="-122"/>
                <a:cs typeface="Calibri" pitchFamily="34" charset="-120"/>
              </a:rPr>
              <a:t>96% variance explained</a:t>
            </a:r>
            <a:endParaRPr lang="en-US" sz="990" dirty="0"/>
          </a:p>
        </p:txBody>
      </p:sp>
      <p:sp>
        <p:nvSpPr>
          <p:cNvPr id="7" name="card"/>
          <p:cNvSpPr/>
          <p:nvPr/>
        </p:nvSpPr>
        <p:spPr>
          <a:xfrm>
            <a:off x="2532888" y="1005840"/>
            <a:ext cx="1920240" cy="1554480"/>
          </a:xfrm>
          <a:prstGeom prst="roundRect">
            <a:avLst>
              <a:gd name="adj" fmla="val 5882"/>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8" name="Text 6"/>
          <p:cNvSpPr txBox="1"/>
          <p:nvPr/>
        </p:nvSpPr>
        <p:spPr>
          <a:xfrm>
            <a:off x="2715768" y="1115568"/>
            <a:ext cx="1554480" cy="274320"/>
          </a:xfrm>
          <a:prstGeom prst="rect">
            <a:avLst/>
          </a:prstGeom>
          <a:noFill/>
          <a:ln/>
        </p:spPr>
        <p:txBody>
          <a:bodyPr wrap="square" lIns="0" tIns="0" rIns="0" bIns="0" rtlCol="0" anchor="ctr"/>
          <a:lstStyle/>
          <a:p>
            <a:pPr marL="0" indent="0">
              <a:buNone/>
            </a:pPr>
            <a:r>
              <a:rPr lang="en-US" sz="990" b="1" kern="0" spc="100" dirty="0">
                <a:solidFill>
                  <a:srgbClr val="3B82C4"/>
                </a:solidFill>
                <a:latin typeface="Calibri" pitchFamily="34" charset="0"/>
                <a:ea typeface="Calibri" pitchFamily="34" charset="-122"/>
                <a:cs typeface="Calibri" pitchFamily="34" charset="-120"/>
              </a:rPr>
              <a:t>MAE</a:t>
            </a:r>
            <a:endParaRPr lang="en-US" sz="990" dirty="0"/>
          </a:p>
        </p:txBody>
      </p:sp>
      <p:sp>
        <p:nvSpPr>
          <p:cNvPr id="9" name="Text 7"/>
          <p:cNvSpPr txBox="1"/>
          <p:nvPr/>
        </p:nvSpPr>
        <p:spPr>
          <a:xfrm>
            <a:off x="2715768" y="1417320"/>
            <a:ext cx="1645920" cy="548640"/>
          </a:xfrm>
          <a:prstGeom prst="rect">
            <a:avLst/>
          </a:prstGeom>
          <a:noFill/>
          <a:ln/>
        </p:spPr>
        <p:txBody>
          <a:bodyPr wrap="square" lIns="0" tIns="0" rIns="0" bIns="0" rtlCol="0" anchor="ctr"/>
          <a:lstStyle/>
          <a:p>
            <a:pPr marL="0" indent="0">
              <a:buNone/>
            </a:pPr>
            <a:r>
              <a:rPr lang="en-US" sz="2860" b="1" dirty="0">
                <a:solidFill>
                  <a:srgbClr val="1E3A6B"/>
                </a:solidFill>
                <a:latin typeface="Calibri" pitchFamily="34" charset="0"/>
                <a:ea typeface="Calibri" pitchFamily="34" charset="-122"/>
                <a:cs typeface="Calibri" pitchFamily="34" charset="-120"/>
              </a:rPr>
              <a:t>~1.6</a:t>
            </a:r>
            <a:endParaRPr lang="en-US" sz="2860" dirty="0"/>
          </a:p>
        </p:txBody>
      </p:sp>
      <p:sp>
        <p:nvSpPr>
          <p:cNvPr id="10" name="Text 8"/>
          <p:cNvSpPr txBox="1"/>
          <p:nvPr/>
        </p:nvSpPr>
        <p:spPr>
          <a:xfrm>
            <a:off x="2715768" y="2057400"/>
            <a:ext cx="1645920" cy="365760"/>
          </a:xfrm>
          <a:prstGeom prst="rect">
            <a:avLst/>
          </a:prstGeom>
          <a:noFill/>
          <a:ln/>
        </p:spPr>
        <p:txBody>
          <a:bodyPr wrap="square" lIns="0" tIns="0" rIns="0" bIns="0" rtlCol="0" anchor="ctr"/>
          <a:lstStyle/>
          <a:p>
            <a:pPr marL="0" indent="0">
              <a:buNone/>
            </a:pPr>
            <a:r>
              <a:rPr lang="en-US" sz="990" dirty="0">
                <a:solidFill>
                  <a:srgbClr val="3F5278"/>
                </a:solidFill>
                <a:latin typeface="Calibri" pitchFamily="34" charset="0"/>
                <a:ea typeface="Calibri" pitchFamily="34" charset="-122"/>
                <a:cs typeface="Calibri" pitchFamily="34" charset="-120"/>
              </a:rPr>
              <a:t>Mean Absolute Error</a:t>
            </a:r>
            <a:endParaRPr lang="en-US" sz="990" dirty="0"/>
          </a:p>
        </p:txBody>
      </p:sp>
      <p:sp>
        <p:nvSpPr>
          <p:cNvPr id="11" name="card"/>
          <p:cNvSpPr/>
          <p:nvPr/>
        </p:nvSpPr>
        <p:spPr>
          <a:xfrm>
            <a:off x="4700016" y="1005840"/>
            <a:ext cx="1920240" cy="1554480"/>
          </a:xfrm>
          <a:prstGeom prst="roundRect">
            <a:avLst>
              <a:gd name="adj" fmla="val 5882"/>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12" name="Text 10"/>
          <p:cNvSpPr txBox="1"/>
          <p:nvPr/>
        </p:nvSpPr>
        <p:spPr>
          <a:xfrm>
            <a:off x="4882896" y="1115568"/>
            <a:ext cx="1554480" cy="274320"/>
          </a:xfrm>
          <a:prstGeom prst="rect">
            <a:avLst/>
          </a:prstGeom>
          <a:noFill/>
          <a:ln/>
        </p:spPr>
        <p:txBody>
          <a:bodyPr wrap="square" lIns="0" tIns="0" rIns="0" bIns="0" rtlCol="0" anchor="ctr"/>
          <a:lstStyle/>
          <a:p>
            <a:pPr marL="0" indent="0">
              <a:buNone/>
            </a:pPr>
            <a:r>
              <a:rPr lang="en-US" sz="990" b="1" kern="0" spc="100" dirty="0">
                <a:solidFill>
                  <a:srgbClr val="3B82C4"/>
                </a:solidFill>
                <a:latin typeface="Calibri" pitchFamily="34" charset="0"/>
                <a:ea typeface="Calibri" pitchFamily="34" charset="-122"/>
                <a:cs typeface="Calibri" pitchFamily="34" charset="-120"/>
              </a:rPr>
              <a:t>ALGORITHM</a:t>
            </a:r>
            <a:endParaRPr lang="en-US" sz="990" dirty="0"/>
          </a:p>
        </p:txBody>
      </p:sp>
      <p:sp>
        <p:nvSpPr>
          <p:cNvPr id="13" name="Text 11"/>
          <p:cNvSpPr txBox="1"/>
          <p:nvPr/>
        </p:nvSpPr>
        <p:spPr>
          <a:xfrm>
            <a:off x="4882896" y="1417320"/>
            <a:ext cx="1645920" cy="548640"/>
          </a:xfrm>
          <a:prstGeom prst="rect">
            <a:avLst/>
          </a:prstGeom>
          <a:noFill/>
          <a:ln/>
        </p:spPr>
        <p:txBody>
          <a:bodyPr wrap="square" lIns="0" tIns="0" rIns="0" bIns="0" rtlCol="0" anchor="ctr"/>
          <a:lstStyle/>
          <a:p>
            <a:pPr marL="0" indent="0">
              <a:buNone/>
            </a:pPr>
            <a:r>
              <a:rPr lang="en-US" sz="2860" b="1" dirty="0">
                <a:solidFill>
                  <a:srgbClr val="1E3A6B"/>
                </a:solidFill>
                <a:latin typeface="Calibri" pitchFamily="34" charset="0"/>
                <a:ea typeface="Calibri" pitchFamily="34" charset="-122"/>
                <a:cs typeface="Calibri" pitchFamily="34" charset="-120"/>
              </a:rPr>
              <a:t>Linear</a:t>
            </a:r>
            <a:endParaRPr lang="en-US" sz="2860" dirty="0"/>
          </a:p>
        </p:txBody>
      </p:sp>
      <p:sp>
        <p:nvSpPr>
          <p:cNvPr id="14" name="Text 12"/>
          <p:cNvSpPr txBox="1"/>
          <p:nvPr/>
        </p:nvSpPr>
        <p:spPr>
          <a:xfrm>
            <a:off x="4882896" y="2057400"/>
            <a:ext cx="1645920" cy="365760"/>
          </a:xfrm>
          <a:prstGeom prst="rect">
            <a:avLst/>
          </a:prstGeom>
          <a:noFill/>
          <a:ln/>
        </p:spPr>
        <p:txBody>
          <a:bodyPr wrap="square" lIns="0" tIns="0" rIns="0" bIns="0" rtlCol="0" anchor="ctr"/>
          <a:lstStyle/>
          <a:p>
            <a:pPr marL="0" indent="0">
              <a:buNone/>
            </a:pPr>
            <a:r>
              <a:rPr lang="en-US" sz="990" dirty="0">
                <a:solidFill>
                  <a:srgbClr val="3F5278"/>
                </a:solidFill>
                <a:latin typeface="Calibri" pitchFamily="34" charset="0"/>
                <a:ea typeface="Calibri" pitchFamily="34" charset="-122"/>
                <a:cs typeface="Calibri" pitchFamily="34" charset="-120"/>
              </a:rPr>
              <a:t>Regression only</a:t>
            </a:r>
            <a:endParaRPr lang="en-US" sz="990" dirty="0"/>
          </a:p>
        </p:txBody>
      </p:sp>
      <p:sp>
        <p:nvSpPr>
          <p:cNvPr id="15" name="card"/>
          <p:cNvSpPr/>
          <p:nvPr/>
        </p:nvSpPr>
        <p:spPr>
          <a:xfrm>
            <a:off x="6867144" y="1005840"/>
            <a:ext cx="1920240" cy="1554480"/>
          </a:xfrm>
          <a:prstGeom prst="roundRect">
            <a:avLst>
              <a:gd name="adj" fmla="val 5882"/>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16" name="Text 14"/>
          <p:cNvSpPr txBox="1"/>
          <p:nvPr/>
        </p:nvSpPr>
        <p:spPr>
          <a:xfrm>
            <a:off x="7050024" y="1115568"/>
            <a:ext cx="1554480" cy="274320"/>
          </a:xfrm>
          <a:prstGeom prst="rect">
            <a:avLst/>
          </a:prstGeom>
          <a:noFill/>
          <a:ln/>
        </p:spPr>
        <p:txBody>
          <a:bodyPr wrap="square" lIns="0" tIns="0" rIns="0" bIns="0" rtlCol="0" anchor="ctr"/>
          <a:lstStyle/>
          <a:p>
            <a:pPr marL="0" indent="0">
              <a:buNone/>
            </a:pPr>
            <a:r>
              <a:rPr lang="en-US" sz="990" b="1" kern="0" spc="100" dirty="0">
                <a:solidFill>
                  <a:srgbClr val="3B82C4"/>
                </a:solidFill>
                <a:latin typeface="Calibri" pitchFamily="34" charset="0"/>
                <a:ea typeface="Calibri" pitchFamily="34" charset="-122"/>
                <a:cs typeface="Calibri" pitchFamily="34" charset="-120"/>
              </a:rPr>
              <a:t>SAMPLES</a:t>
            </a:r>
            <a:endParaRPr lang="en-US" sz="990" dirty="0"/>
          </a:p>
        </p:txBody>
      </p:sp>
      <p:sp>
        <p:nvSpPr>
          <p:cNvPr id="17" name="Text 15"/>
          <p:cNvSpPr txBox="1"/>
          <p:nvPr/>
        </p:nvSpPr>
        <p:spPr>
          <a:xfrm>
            <a:off x="7050024" y="1417320"/>
            <a:ext cx="1645920" cy="548640"/>
          </a:xfrm>
          <a:prstGeom prst="rect">
            <a:avLst/>
          </a:prstGeom>
          <a:noFill/>
          <a:ln/>
        </p:spPr>
        <p:txBody>
          <a:bodyPr wrap="square" lIns="0" tIns="0" rIns="0" bIns="0" rtlCol="0" anchor="ctr"/>
          <a:lstStyle/>
          <a:p>
            <a:pPr marL="0" indent="0">
              <a:buNone/>
            </a:pPr>
            <a:r>
              <a:rPr lang="en-US" sz="2860" b="1" dirty="0">
                <a:solidFill>
                  <a:srgbClr val="1E3A6B"/>
                </a:solidFill>
                <a:latin typeface="Calibri" pitchFamily="34" charset="0"/>
                <a:ea typeface="Calibri" pitchFamily="34" charset="-122"/>
                <a:cs typeface="Calibri" pitchFamily="34" charset="-120"/>
              </a:rPr>
              <a:t>50,000</a:t>
            </a:r>
            <a:endParaRPr lang="en-US" sz="2860" dirty="0"/>
          </a:p>
        </p:txBody>
      </p:sp>
      <p:sp>
        <p:nvSpPr>
          <p:cNvPr id="18" name="Text 16"/>
          <p:cNvSpPr txBox="1"/>
          <p:nvPr/>
        </p:nvSpPr>
        <p:spPr>
          <a:xfrm>
            <a:off x="7050024" y="2057400"/>
            <a:ext cx="1645920" cy="365760"/>
          </a:xfrm>
          <a:prstGeom prst="rect">
            <a:avLst/>
          </a:prstGeom>
          <a:noFill/>
          <a:ln/>
        </p:spPr>
        <p:txBody>
          <a:bodyPr wrap="square" lIns="0" tIns="0" rIns="0" bIns="0" rtlCol="0" anchor="ctr"/>
          <a:lstStyle/>
          <a:p>
            <a:pPr marL="0" indent="0">
              <a:buNone/>
            </a:pPr>
            <a:r>
              <a:rPr lang="en-US" sz="990" dirty="0">
                <a:solidFill>
                  <a:srgbClr val="3F5278"/>
                </a:solidFill>
                <a:latin typeface="Calibri" pitchFamily="34" charset="0"/>
                <a:ea typeface="Calibri" pitchFamily="34" charset="-122"/>
                <a:cs typeface="Calibri" pitchFamily="34" charset="-120"/>
              </a:rPr>
              <a:t>Training data size</a:t>
            </a:r>
            <a:endParaRPr lang="en-US" sz="990" dirty="0"/>
          </a:p>
        </p:txBody>
      </p:sp>
      <p:sp>
        <p:nvSpPr>
          <p:cNvPr id="19" name="card"/>
          <p:cNvSpPr/>
          <p:nvPr/>
        </p:nvSpPr>
        <p:spPr>
          <a:xfrm>
            <a:off x="365760" y="2788920"/>
            <a:ext cx="8412480" cy="1005840"/>
          </a:xfrm>
          <a:prstGeom prst="roundRect">
            <a:avLst>
              <a:gd name="adj" fmla="val 7273"/>
            </a:avLst>
          </a:prstGeom>
          <a:solidFill>
            <a:srgbClr val="FCEBC0"/>
          </a:solidFill>
          <a:ln w="12700">
            <a:solidFill>
              <a:srgbClr val="FCEBC0">
                <a:alpha val="70000"/>
              </a:srgbClr>
            </a:solidFill>
            <a:prstDash val="solid"/>
          </a:ln>
          <a:effectLst>
            <a:outerShdw blurRad="76200" dist="25400" dir="5400000" algn="bl" rotWithShape="0">
              <a:srgbClr val="1E3A6B">
                <a:alpha val="12000"/>
              </a:srgbClr>
            </a:outerShdw>
          </a:effectLst>
        </p:spPr>
      </p:sp>
      <p:sp>
        <p:nvSpPr>
          <p:cNvPr id="20" name="Text 18"/>
          <p:cNvSpPr txBox="1"/>
          <p:nvPr/>
        </p:nvSpPr>
        <p:spPr>
          <a:xfrm>
            <a:off x="548640" y="2788920"/>
            <a:ext cx="8046720" cy="1005840"/>
          </a:xfrm>
          <a:prstGeom prst="rect">
            <a:avLst/>
          </a:prstGeom>
          <a:noFill/>
          <a:ln/>
        </p:spPr>
        <p:txBody>
          <a:bodyPr wrap="square" lIns="0" tIns="0" rIns="0" bIns="0" rtlCol="0" anchor="ctr"/>
          <a:lstStyle/>
          <a:p>
            <a:pPr marL="0" indent="0">
              <a:buNone/>
            </a:pPr>
            <a:r>
              <a:rPr lang="en-US" sz="1100" b="1" dirty="0">
                <a:solidFill>
                  <a:srgbClr val="A66A00"/>
                </a:solidFill>
                <a:latin typeface="Calibri" pitchFamily="34" charset="0"/>
                <a:ea typeface="Calibri" pitchFamily="34" charset="-122"/>
                <a:cs typeface="Calibri" pitchFamily="34" charset="-120"/>
              </a:rPr>
              <a:t>Why Linear Regression?  </a:t>
            </a:r>
            <a:r>
              <a:rPr lang="en-US" sz="1100" dirty="0">
                <a:solidFill>
                  <a:srgbClr val="1E3A6B"/>
                </a:solidFill>
                <a:latin typeface="Calibri" pitchFamily="34" charset="0"/>
                <a:ea typeface="Calibri" pitchFamily="34" charset="-122"/>
                <a:cs typeface="Calibri" pitchFamily="34" charset="-120"/>
              </a:rPr>
              <a:t>Damage % is a continuous value and the patterns are linear. The model is fully explainable: every coefficient shows which food is more harmful. Perfect for a student project and a health awareness tool.</a:t>
            </a:r>
            <a:endParaRPr lang="en-US" sz="1100" dirty="0"/>
          </a:p>
        </p:txBody>
      </p:sp>
      <p:sp>
        <p:nvSpPr>
          <p:cNvPr id="21" name="banner"/>
          <p:cNvSpPr/>
          <p:nvPr/>
        </p:nvSpPr>
        <p:spPr>
          <a:xfrm>
            <a:off x="365760" y="3977640"/>
            <a:ext cx="8412480" cy="457200"/>
          </a:xfrm>
          <a:prstGeom prst="roundRect">
            <a:avLst>
              <a:gd name="adj" fmla="val 16000"/>
            </a:avLst>
          </a:prstGeom>
          <a:solidFill>
            <a:srgbClr val="FFFFFF">
              <a:alpha val="85000"/>
            </a:srgbClr>
          </a:solidFill>
          <a:ln w="12700">
            <a:solidFill>
              <a:srgbClr val="2EA995">
                <a:alpha val="85000"/>
              </a:srgbClr>
            </a:solidFill>
            <a:prstDash val="solid"/>
          </a:ln>
          <a:effectLst>
            <a:outerShdw blurRad="76200" dist="25400" dir="5400000" algn="bl" rotWithShape="0">
              <a:srgbClr val="1E3A6B">
                <a:alpha val="12000"/>
              </a:srgbClr>
            </a:outerShdw>
          </a:effectLst>
        </p:spPr>
      </p:sp>
      <p:sp>
        <p:nvSpPr>
          <p:cNvPr id="22" name="Text 20"/>
          <p:cNvSpPr txBox="1"/>
          <p:nvPr/>
        </p:nvSpPr>
        <p:spPr>
          <a:xfrm>
            <a:off x="548640" y="3977640"/>
            <a:ext cx="8046720" cy="457200"/>
          </a:xfrm>
          <a:prstGeom prst="rect">
            <a:avLst/>
          </a:prstGeom>
          <a:noFill/>
          <a:ln/>
        </p:spPr>
        <p:txBody>
          <a:bodyPr wrap="square" lIns="0" tIns="0" rIns="0" bIns="0" rtlCol="0" anchor="ctr"/>
          <a:lstStyle/>
          <a:p>
            <a:pPr marL="0" indent="0">
              <a:buNone/>
            </a:pPr>
            <a:r>
              <a:rPr lang="en-US" sz="1160" b="1" dirty="0">
                <a:solidFill>
                  <a:srgbClr val="1E3A6B"/>
                </a:solidFill>
                <a:latin typeface="Calibri" pitchFamily="34" charset="0"/>
                <a:ea typeface="Calibri" pitchFamily="34" charset="-122"/>
                <a:cs typeface="Calibri" pitchFamily="34" charset="-120"/>
              </a:rPr>
              <a:t>Higher R² (close to 1) and lower MAE = a better model.</a:t>
            </a:r>
            <a:endParaRPr lang="en-US" sz="1160" dirty="0"/>
          </a:p>
        </p:txBody>
      </p:sp>
      <p:sp>
        <p:nvSpPr>
          <p:cNvPr id="25" name="Slide Number Placeholder 0"/>
          <p:cNvSpPr>
            <a:spLocks noGrp="1"/>
          </p:cNvSpPr>
          <p:nvPr>
            <p:ph type="sldNum" sz="quarter" idx="4294967295"/>
          </p:nvPr>
        </p:nvSpPr>
        <p:spPr>
          <a:xfrm>
            <a:off x="832104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46587D"/>
                </a:solidFill>
                <a:latin typeface="Calibri"/>
                <a:ea typeface="Calibri"/>
                <a:cs typeface="Calibri"/>
              </a:defRPr>
            </a:lvl1pPr>
          </a:lstStyle>
          <a:p>
            <a:pPr algn="r"/>
            <a:fld id="{F7021451-1387-4CA6-816F-3879F97B5CBC}" type="slidenum">
              <a:rPr lang="en-US" b="0"/>
              <a:pPr algn="r"/>
              <a:t>12</a:t>
            </a:fld>
            <a:endParaRPr lang="en-US"/>
          </a:p>
        </p:txBody>
      </p:sp>
    </p:spTree>
  </p:cSld>
  <p:clrMapOvr>
    <a:masterClrMapping/>
  </p:clrMapOvr>
  <p:transition spd="med">
    <p:split orient="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p:nvPr>
        </p:nvSpPr>
        <p:spPr>
          <a:xfrm>
            <a:off x="365760" y="201168"/>
            <a:ext cx="8412480" cy="548640"/>
          </a:xfrm>
          <a:prstGeom prst="rect">
            <a:avLst/>
          </a:prstGeom>
          <a:noFill/>
          <a:ln/>
        </p:spPr>
        <p:txBody>
          <a:bodyPr wrap="square" lIns="0" tIns="0" rIns="0" bIns="0" rtlCol="0" anchor="ctr"/>
          <a:lstStyle/>
          <a:p>
            <a:pPr marL="0" indent="0" algn="l">
              <a:buNone/>
            </a:pPr>
            <a:r>
              <a:rPr lang="en-US" sz="2400" b="1" dirty="0">
                <a:solidFill>
                  <a:srgbClr val="1E3A6B"/>
                </a:solidFill>
                <a:latin typeface="Calibri" pitchFamily="34" charset="0"/>
                <a:ea typeface="Calibri" pitchFamily="34" charset="-122"/>
                <a:cs typeface="Calibri" pitchFamily="34" charset="-120"/>
              </a:rPr>
              <a:t>How the App Works (User Flow)</a:t>
            </a:r>
            <a:endParaRPr lang="en-US" sz="2400" dirty="0"/>
          </a:p>
        </p:txBody>
      </p:sp>
      <p:sp>
        <p:nvSpPr>
          <p:cNvPr id="3" name="card"/>
          <p:cNvSpPr/>
          <p:nvPr/>
        </p:nvSpPr>
        <p:spPr>
          <a:xfrm>
            <a:off x="365760" y="1051560"/>
            <a:ext cx="1828800" cy="2468880"/>
          </a:xfrm>
          <a:prstGeom prst="roundRect">
            <a:avLst>
              <a:gd name="adj" fmla="val 5000"/>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4" name="iconcircle"/>
          <p:cNvSpPr/>
          <p:nvPr/>
        </p:nvSpPr>
        <p:spPr>
          <a:xfrm>
            <a:off x="914400" y="1280160"/>
            <a:ext cx="731520" cy="731520"/>
          </a:xfrm>
          <a:prstGeom prst="ellipse">
            <a:avLst/>
          </a:prstGeom>
          <a:solidFill>
            <a:srgbClr val="2762A8"/>
          </a:solidFill>
          <a:ln w="12700">
            <a:solidFill>
              <a:srgbClr val="2762A8"/>
            </a:solidFill>
            <a:prstDash val="solid"/>
          </a:ln>
        </p:spPr>
      </p:sp>
      <p:pic>
        <p:nvPicPr>
          <p:cNvPr id="5" name="Image 0" descr="FaPlay"/>
          <p:cNvPicPr>
            <a:picLocks noChangeAspect="1"/>
          </p:cNvPicPr>
          <p:nvPr/>
        </p:nvPicPr>
        <p:blipFill>
          <a:blip r:embed="rId3"/>
          <a:stretch>
            <a:fillRect/>
          </a:stretch>
        </p:blipFill>
        <p:spPr>
          <a:xfrm>
            <a:off x="1097280" y="1463040"/>
            <a:ext cx="365760" cy="365760"/>
          </a:xfrm>
          <a:prstGeom prst="rect">
            <a:avLst/>
          </a:prstGeom>
        </p:spPr>
      </p:pic>
      <p:sp>
        <p:nvSpPr>
          <p:cNvPr id="6" name="dot"/>
          <p:cNvSpPr/>
          <p:nvPr/>
        </p:nvSpPr>
        <p:spPr>
          <a:xfrm>
            <a:off x="457200" y="1143000"/>
            <a:ext cx="292608" cy="292608"/>
          </a:xfrm>
          <a:prstGeom prst="ellipse">
            <a:avLst/>
          </a:prstGeom>
          <a:solidFill>
            <a:srgbClr val="1E3A6B"/>
          </a:solidFill>
          <a:ln w="12700">
            <a:solidFill>
              <a:srgbClr val="1E3A6B"/>
            </a:solidFill>
            <a:prstDash val="solid"/>
          </a:ln>
        </p:spPr>
      </p:sp>
      <p:sp>
        <p:nvSpPr>
          <p:cNvPr id="7" name="stepring"/>
          <p:cNvSpPr/>
          <p:nvPr/>
        </p:nvSpPr>
        <p:spPr>
          <a:xfrm>
            <a:off x="457200" y="1143000"/>
            <a:ext cx="292608" cy="292608"/>
          </a:xfrm>
          <a:prstGeom prst="ellipse">
            <a:avLst/>
          </a:prstGeom>
          <a:solidFill>
            <a:srgbClr val="2762A8">
              <a:alpha val="0"/>
            </a:srgbClr>
          </a:solidFill>
          <a:ln w="15875">
            <a:solidFill>
              <a:srgbClr val="2762A8"/>
            </a:solidFill>
            <a:prstDash val="solid"/>
          </a:ln>
        </p:spPr>
      </p:sp>
      <p:sp>
        <p:nvSpPr>
          <p:cNvPr id="8" name="Text 5"/>
          <p:cNvSpPr txBox="1"/>
          <p:nvPr/>
        </p:nvSpPr>
        <p:spPr>
          <a:xfrm>
            <a:off x="457200" y="114300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9" name="Text 6"/>
          <p:cNvSpPr txBox="1"/>
          <p:nvPr/>
        </p:nvSpPr>
        <p:spPr>
          <a:xfrm>
            <a:off x="457200" y="2148840"/>
            <a:ext cx="1645920" cy="320040"/>
          </a:xfrm>
          <a:prstGeom prst="rect">
            <a:avLst/>
          </a:prstGeom>
          <a:noFill/>
          <a:ln/>
        </p:spPr>
        <p:txBody>
          <a:bodyPr wrap="square" lIns="0" tIns="0" rIns="0" bIns="0" rtlCol="0" anchor="ctr"/>
          <a:lstStyle/>
          <a:p>
            <a:pPr marL="0" indent="0" algn="ctr">
              <a:buNone/>
            </a:pPr>
            <a:r>
              <a:rPr lang="en-US" sz="1320" b="1" dirty="0">
                <a:solidFill>
                  <a:srgbClr val="1E3A6B"/>
                </a:solidFill>
                <a:latin typeface="Calibri" pitchFamily="34" charset="0"/>
                <a:ea typeface="Calibri" pitchFamily="34" charset="-122"/>
                <a:cs typeface="Calibri" pitchFamily="34" charset="-120"/>
              </a:rPr>
              <a:t>Open App</a:t>
            </a:r>
            <a:endParaRPr lang="en-US" sz="1320" dirty="0"/>
          </a:p>
        </p:txBody>
      </p:sp>
      <p:sp>
        <p:nvSpPr>
          <p:cNvPr id="10" name="Text 7"/>
          <p:cNvSpPr txBox="1"/>
          <p:nvPr/>
        </p:nvSpPr>
        <p:spPr>
          <a:xfrm>
            <a:off x="502920" y="2514600"/>
            <a:ext cx="1554480" cy="914400"/>
          </a:xfrm>
          <a:prstGeom prst="rect">
            <a:avLst/>
          </a:prstGeom>
          <a:noFill/>
          <a:ln/>
        </p:spPr>
        <p:txBody>
          <a:bodyPr wrap="square" lIns="0" tIns="0" rIns="0" bIns="0" rtlCol="0" anchor="t"/>
          <a:lstStyle/>
          <a:p>
            <a:pPr marL="0" indent="0" algn="ctr">
              <a:buNone/>
            </a:pPr>
            <a:r>
              <a:rPr lang="en-US" sz="990" dirty="0">
                <a:solidFill>
                  <a:srgbClr val="3F5278"/>
                </a:solidFill>
                <a:latin typeface="Calibri" pitchFamily="34" charset="0"/>
                <a:ea typeface="Calibri" pitchFamily="34" charset="-122"/>
                <a:cs typeface="Calibri" pitchFamily="34" charset="-120"/>
              </a:rPr>
              <a:t>Streamlit web app opens in browser</a:t>
            </a:r>
            <a:endParaRPr lang="en-US" sz="990" dirty="0"/>
          </a:p>
        </p:txBody>
      </p:sp>
      <p:sp>
        <p:nvSpPr>
          <p:cNvPr id="11" name="arrow"/>
          <p:cNvSpPr/>
          <p:nvPr/>
        </p:nvSpPr>
        <p:spPr>
          <a:xfrm>
            <a:off x="2221992" y="2194560"/>
            <a:ext cx="310896" cy="237744"/>
          </a:xfrm>
          <a:prstGeom prst="rightArrow">
            <a:avLst/>
          </a:prstGeom>
          <a:solidFill>
            <a:srgbClr val="2762A8">
              <a:alpha val="85000"/>
            </a:srgbClr>
          </a:solidFill>
          <a:ln w="12700">
            <a:solidFill>
              <a:srgbClr val="2762A8"/>
            </a:solidFill>
            <a:prstDash val="solid"/>
          </a:ln>
        </p:spPr>
      </p:sp>
      <p:sp>
        <p:nvSpPr>
          <p:cNvPr id="12" name="card"/>
          <p:cNvSpPr/>
          <p:nvPr/>
        </p:nvSpPr>
        <p:spPr>
          <a:xfrm>
            <a:off x="2560320" y="1051560"/>
            <a:ext cx="1828800" cy="2468880"/>
          </a:xfrm>
          <a:prstGeom prst="roundRect">
            <a:avLst>
              <a:gd name="adj" fmla="val 5000"/>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13" name="iconcircle"/>
          <p:cNvSpPr/>
          <p:nvPr/>
        </p:nvSpPr>
        <p:spPr>
          <a:xfrm>
            <a:off x="3108960" y="1280160"/>
            <a:ext cx="731520" cy="731520"/>
          </a:xfrm>
          <a:prstGeom prst="ellipse">
            <a:avLst/>
          </a:prstGeom>
          <a:solidFill>
            <a:srgbClr val="7B6BD6"/>
          </a:solidFill>
          <a:ln w="12700">
            <a:solidFill>
              <a:srgbClr val="7B6BD6"/>
            </a:solidFill>
            <a:prstDash val="solid"/>
          </a:ln>
        </p:spPr>
      </p:sp>
      <p:pic>
        <p:nvPicPr>
          <p:cNvPr id="14" name="Image 1" descr="FaSlidersH"/>
          <p:cNvPicPr>
            <a:picLocks noChangeAspect="1"/>
          </p:cNvPicPr>
          <p:nvPr/>
        </p:nvPicPr>
        <p:blipFill>
          <a:blip r:embed="rId4"/>
          <a:stretch>
            <a:fillRect/>
          </a:stretch>
        </p:blipFill>
        <p:spPr>
          <a:xfrm>
            <a:off x="3291840" y="1463040"/>
            <a:ext cx="365760" cy="365760"/>
          </a:xfrm>
          <a:prstGeom prst="rect">
            <a:avLst/>
          </a:prstGeom>
        </p:spPr>
      </p:pic>
      <p:sp>
        <p:nvSpPr>
          <p:cNvPr id="15" name="dot"/>
          <p:cNvSpPr/>
          <p:nvPr/>
        </p:nvSpPr>
        <p:spPr>
          <a:xfrm>
            <a:off x="2651760" y="1143000"/>
            <a:ext cx="292608" cy="292608"/>
          </a:xfrm>
          <a:prstGeom prst="ellipse">
            <a:avLst/>
          </a:prstGeom>
          <a:solidFill>
            <a:srgbClr val="1E3A6B"/>
          </a:solidFill>
          <a:ln w="12700">
            <a:solidFill>
              <a:srgbClr val="1E3A6B"/>
            </a:solidFill>
            <a:prstDash val="solid"/>
          </a:ln>
        </p:spPr>
      </p:sp>
      <p:sp>
        <p:nvSpPr>
          <p:cNvPr id="16" name="stepring"/>
          <p:cNvSpPr/>
          <p:nvPr/>
        </p:nvSpPr>
        <p:spPr>
          <a:xfrm>
            <a:off x="2651760" y="1143000"/>
            <a:ext cx="292608" cy="292608"/>
          </a:xfrm>
          <a:prstGeom prst="ellipse">
            <a:avLst/>
          </a:prstGeom>
          <a:solidFill>
            <a:srgbClr val="7B6BD6">
              <a:alpha val="0"/>
            </a:srgbClr>
          </a:solidFill>
          <a:ln w="15875">
            <a:solidFill>
              <a:srgbClr val="7B6BD6"/>
            </a:solidFill>
            <a:prstDash val="solid"/>
          </a:ln>
        </p:spPr>
      </p:sp>
      <p:sp>
        <p:nvSpPr>
          <p:cNvPr id="17" name="Text 13"/>
          <p:cNvSpPr txBox="1"/>
          <p:nvPr/>
        </p:nvSpPr>
        <p:spPr>
          <a:xfrm>
            <a:off x="2651760" y="114300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8" name="Text 14"/>
          <p:cNvSpPr txBox="1"/>
          <p:nvPr/>
        </p:nvSpPr>
        <p:spPr>
          <a:xfrm>
            <a:off x="2651760" y="2148840"/>
            <a:ext cx="1645920" cy="320040"/>
          </a:xfrm>
          <a:prstGeom prst="rect">
            <a:avLst/>
          </a:prstGeom>
          <a:noFill/>
          <a:ln/>
        </p:spPr>
        <p:txBody>
          <a:bodyPr wrap="square" lIns="0" tIns="0" rIns="0" bIns="0" rtlCol="0" anchor="ctr"/>
          <a:lstStyle/>
          <a:p>
            <a:pPr marL="0" indent="0" algn="ctr">
              <a:buNone/>
            </a:pPr>
            <a:r>
              <a:rPr lang="en-US" sz="1320" b="1" dirty="0">
                <a:solidFill>
                  <a:srgbClr val="1E3A6B"/>
                </a:solidFill>
                <a:latin typeface="Calibri" pitchFamily="34" charset="0"/>
                <a:ea typeface="Calibri" pitchFamily="34" charset="-122"/>
                <a:cs typeface="Calibri" pitchFamily="34" charset="-120"/>
              </a:rPr>
              <a:t>Set Sliders</a:t>
            </a:r>
            <a:endParaRPr lang="en-US" sz="1320" dirty="0"/>
          </a:p>
        </p:txBody>
      </p:sp>
      <p:sp>
        <p:nvSpPr>
          <p:cNvPr id="19" name="Text 15"/>
          <p:cNvSpPr txBox="1"/>
          <p:nvPr/>
        </p:nvSpPr>
        <p:spPr>
          <a:xfrm>
            <a:off x="2697480" y="2514600"/>
            <a:ext cx="1554480" cy="914400"/>
          </a:xfrm>
          <a:prstGeom prst="rect">
            <a:avLst/>
          </a:prstGeom>
          <a:noFill/>
          <a:ln/>
        </p:spPr>
        <p:txBody>
          <a:bodyPr wrap="square" lIns="0" tIns="0" rIns="0" bIns="0" rtlCol="0" anchor="t"/>
          <a:lstStyle/>
          <a:p>
            <a:pPr marL="0" indent="0" algn="ctr">
              <a:buNone/>
            </a:pPr>
            <a:r>
              <a:rPr lang="en-US" sz="990" dirty="0">
                <a:solidFill>
                  <a:srgbClr val="3F5278"/>
                </a:solidFill>
                <a:latin typeface="Calibri" pitchFamily="34" charset="0"/>
                <a:ea typeface="Calibri" pitchFamily="34" charset="-122"/>
                <a:cs typeface="Calibri" pitchFamily="34" charset="-120"/>
              </a:rPr>
              <a:t>Set how many times each food was eaten in the last 30 days</a:t>
            </a:r>
            <a:endParaRPr lang="en-US" sz="990" dirty="0"/>
          </a:p>
        </p:txBody>
      </p:sp>
      <p:sp>
        <p:nvSpPr>
          <p:cNvPr id="20" name="arrow"/>
          <p:cNvSpPr/>
          <p:nvPr/>
        </p:nvSpPr>
        <p:spPr>
          <a:xfrm>
            <a:off x="4416552" y="2194560"/>
            <a:ext cx="310896" cy="237744"/>
          </a:xfrm>
          <a:prstGeom prst="rightArrow">
            <a:avLst/>
          </a:prstGeom>
          <a:solidFill>
            <a:srgbClr val="2762A8">
              <a:alpha val="85000"/>
            </a:srgbClr>
          </a:solidFill>
          <a:ln w="12700">
            <a:solidFill>
              <a:srgbClr val="2762A8"/>
            </a:solidFill>
            <a:prstDash val="solid"/>
          </a:ln>
        </p:spPr>
      </p:sp>
      <p:sp>
        <p:nvSpPr>
          <p:cNvPr id="21" name="card"/>
          <p:cNvSpPr/>
          <p:nvPr/>
        </p:nvSpPr>
        <p:spPr>
          <a:xfrm>
            <a:off x="4754880" y="1051560"/>
            <a:ext cx="1828800" cy="2468880"/>
          </a:xfrm>
          <a:prstGeom prst="roundRect">
            <a:avLst>
              <a:gd name="adj" fmla="val 5000"/>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22" name="iconcircle"/>
          <p:cNvSpPr/>
          <p:nvPr/>
        </p:nvSpPr>
        <p:spPr>
          <a:xfrm>
            <a:off x="5303520" y="1280160"/>
            <a:ext cx="731520" cy="731520"/>
          </a:xfrm>
          <a:prstGeom prst="ellipse">
            <a:avLst/>
          </a:prstGeom>
          <a:solidFill>
            <a:srgbClr val="D6568C"/>
          </a:solidFill>
          <a:ln w="12700">
            <a:solidFill>
              <a:srgbClr val="D6568C"/>
            </a:solidFill>
            <a:prstDash val="solid"/>
          </a:ln>
        </p:spPr>
      </p:sp>
      <p:pic>
        <p:nvPicPr>
          <p:cNvPr id="23" name="Image 2" descr="FaMousePointer"/>
          <p:cNvPicPr>
            <a:picLocks noChangeAspect="1"/>
          </p:cNvPicPr>
          <p:nvPr/>
        </p:nvPicPr>
        <p:blipFill>
          <a:blip r:embed="rId5"/>
          <a:stretch>
            <a:fillRect/>
          </a:stretch>
        </p:blipFill>
        <p:spPr>
          <a:xfrm>
            <a:off x="5486400" y="1463040"/>
            <a:ext cx="365760" cy="365760"/>
          </a:xfrm>
          <a:prstGeom prst="rect">
            <a:avLst/>
          </a:prstGeom>
        </p:spPr>
      </p:pic>
      <p:sp>
        <p:nvSpPr>
          <p:cNvPr id="24" name="dot"/>
          <p:cNvSpPr/>
          <p:nvPr/>
        </p:nvSpPr>
        <p:spPr>
          <a:xfrm>
            <a:off x="4846320" y="1143000"/>
            <a:ext cx="292608" cy="292608"/>
          </a:xfrm>
          <a:prstGeom prst="ellipse">
            <a:avLst/>
          </a:prstGeom>
          <a:solidFill>
            <a:srgbClr val="1E3A6B"/>
          </a:solidFill>
          <a:ln w="12700">
            <a:solidFill>
              <a:srgbClr val="1E3A6B"/>
            </a:solidFill>
            <a:prstDash val="solid"/>
          </a:ln>
        </p:spPr>
      </p:sp>
      <p:sp>
        <p:nvSpPr>
          <p:cNvPr id="25" name="stepring"/>
          <p:cNvSpPr/>
          <p:nvPr/>
        </p:nvSpPr>
        <p:spPr>
          <a:xfrm>
            <a:off x="4846320" y="1143000"/>
            <a:ext cx="292608" cy="292608"/>
          </a:xfrm>
          <a:prstGeom prst="ellipse">
            <a:avLst/>
          </a:prstGeom>
          <a:solidFill>
            <a:srgbClr val="D6568C">
              <a:alpha val="0"/>
            </a:srgbClr>
          </a:solidFill>
          <a:ln w="15875">
            <a:solidFill>
              <a:srgbClr val="D6568C"/>
            </a:solidFill>
            <a:prstDash val="solid"/>
          </a:ln>
        </p:spPr>
      </p:sp>
      <p:sp>
        <p:nvSpPr>
          <p:cNvPr id="26" name="Text 21"/>
          <p:cNvSpPr txBox="1"/>
          <p:nvPr/>
        </p:nvSpPr>
        <p:spPr>
          <a:xfrm>
            <a:off x="4846320" y="114300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7" name="Text 22"/>
          <p:cNvSpPr txBox="1"/>
          <p:nvPr/>
        </p:nvSpPr>
        <p:spPr>
          <a:xfrm>
            <a:off x="4846320" y="2148840"/>
            <a:ext cx="1645920" cy="320040"/>
          </a:xfrm>
          <a:prstGeom prst="rect">
            <a:avLst/>
          </a:prstGeom>
          <a:noFill/>
          <a:ln/>
        </p:spPr>
        <p:txBody>
          <a:bodyPr wrap="square" lIns="0" tIns="0" rIns="0" bIns="0" rtlCol="0" anchor="ctr"/>
          <a:lstStyle/>
          <a:p>
            <a:pPr marL="0" indent="0" algn="ctr">
              <a:buNone/>
            </a:pPr>
            <a:r>
              <a:rPr lang="en-US" sz="1320" b="1" dirty="0">
                <a:solidFill>
                  <a:srgbClr val="1E3A6B"/>
                </a:solidFill>
                <a:latin typeface="Calibri" pitchFamily="34" charset="0"/>
                <a:ea typeface="Calibri" pitchFamily="34" charset="-122"/>
                <a:cs typeface="Calibri" pitchFamily="34" charset="-120"/>
              </a:rPr>
              <a:t>Click Calculate</a:t>
            </a:r>
            <a:endParaRPr lang="en-US" sz="1320" dirty="0"/>
          </a:p>
        </p:txBody>
      </p:sp>
      <p:sp>
        <p:nvSpPr>
          <p:cNvPr id="28" name="Text 23"/>
          <p:cNvSpPr txBox="1"/>
          <p:nvPr/>
        </p:nvSpPr>
        <p:spPr>
          <a:xfrm>
            <a:off x="4892040" y="2514600"/>
            <a:ext cx="1554480" cy="914400"/>
          </a:xfrm>
          <a:prstGeom prst="rect">
            <a:avLst/>
          </a:prstGeom>
          <a:noFill/>
          <a:ln/>
        </p:spPr>
        <p:txBody>
          <a:bodyPr wrap="square" lIns="0" tIns="0" rIns="0" bIns="0" rtlCol="0" anchor="t"/>
          <a:lstStyle/>
          <a:p>
            <a:pPr marL="0" indent="0" algn="ctr">
              <a:buNone/>
            </a:pPr>
            <a:r>
              <a:rPr lang="en-US" sz="990" dirty="0">
                <a:solidFill>
                  <a:srgbClr val="3F5278"/>
                </a:solidFill>
                <a:latin typeface="Calibri" pitchFamily="34" charset="0"/>
                <a:ea typeface="Calibri" pitchFamily="34" charset="-122"/>
                <a:cs typeface="Calibri" pitchFamily="34" charset="-120"/>
              </a:rPr>
              <a:t>Button at the bottom triggers prediction</a:t>
            </a:r>
            <a:endParaRPr lang="en-US" sz="990" dirty="0"/>
          </a:p>
        </p:txBody>
      </p:sp>
      <p:sp>
        <p:nvSpPr>
          <p:cNvPr id="29" name="arrow"/>
          <p:cNvSpPr/>
          <p:nvPr/>
        </p:nvSpPr>
        <p:spPr>
          <a:xfrm>
            <a:off x="6611112" y="2194560"/>
            <a:ext cx="310896" cy="237744"/>
          </a:xfrm>
          <a:prstGeom prst="rightArrow">
            <a:avLst/>
          </a:prstGeom>
          <a:solidFill>
            <a:srgbClr val="2762A8">
              <a:alpha val="85000"/>
            </a:srgbClr>
          </a:solidFill>
          <a:ln w="12700">
            <a:solidFill>
              <a:srgbClr val="2762A8"/>
            </a:solidFill>
            <a:prstDash val="solid"/>
          </a:ln>
        </p:spPr>
      </p:sp>
      <p:sp>
        <p:nvSpPr>
          <p:cNvPr id="30" name="card"/>
          <p:cNvSpPr/>
          <p:nvPr/>
        </p:nvSpPr>
        <p:spPr>
          <a:xfrm>
            <a:off x="6949440" y="1051560"/>
            <a:ext cx="1828800" cy="2468880"/>
          </a:xfrm>
          <a:prstGeom prst="roundRect">
            <a:avLst>
              <a:gd name="adj" fmla="val 5000"/>
            </a:avLst>
          </a:prstGeom>
          <a:solidFill>
            <a:srgbClr val="FFFFFF">
              <a:alpha val="72000"/>
            </a:srgbClr>
          </a:solidFill>
          <a:ln w="12700">
            <a:solidFill>
              <a:srgbClr val="FFFFFF">
                <a:alpha val="65000"/>
              </a:srgbClr>
            </a:solidFill>
            <a:prstDash val="solid"/>
          </a:ln>
          <a:effectLst>
            <a:outerShdw blurRad="76200" dist="25400" dir="5400000" algn="bl" rotWithShape="0">
              <a:srgbClr val="1E3A6B">
                <a:alpha val="12000"/>
              </a:srgbClr>
            </a:outerShdw>
          </a:effectLst>
        </p:spPr>
      </p:sp>
      <p:sp>
        <p:nvSpPr>
          <p:cNvPr id="31" name="iconcircle"/>
          <p:cNvSpPr/>
          <p:nvPr/>
        </p:nvSpPr>
        <p:spPr>
          <a:xfrm>
            <a:off x="7498080" y="1280160"/>
            <a:ext cx="731520" cy="731520"/>
          </a:xfrm>
          <a:prstGeom prst="ellipse">
            <a:avLst/>
          </a:prstGeom>
          <a:solidFill>
            <a:srgbClr val="2EA995"/>
          </a:solidFill>
          <a:ln w="12700">
            <a:solidFill>
              <a:srgbClr val="2EA995"/>
            </a:solidFill>
            <a:prstDash val="solid"/>
          </a:ln>
        </p:spPr>
      </p:sp>
      <p:pic>
        <p:nvPicPr>
          <p:cNvPr id="32" name="Image 3" descr="FaPoll"/>
          <p:cNvPicPr>
            <a:picLocks noChangeAspect="1"/>
          </p:cNvPicPr>
          <p:nvPr/>
        </p:nvPicPr>
        <p:blipFill>
          <a:blip r:embed="rId6"/>
          <a:stretch>
            <a:fillRect/>
          </a:stretch>
        </p:blipFill>
        <p:spPr>
          <a:xfrm>
            <a:off x="7680960" y="1463040"/>
            <a:ext cx="365760" cy="365760"/>
          </a:xfrm>
          <a:prstGeom prst="rect">
            <a:avLst/>
          </a:prstGeom>
        </p:spPr>
      </p:pic>
      <p:sp>
        <p:nvSpPr>
          <p:cNvPr id="33" name="dot"/>
          <p:cNvSpPr/>
          <p:nvPr/>
        </p:nvSpPr>
        <p:spPr>
          <a:xfrm>
            <a:off x="7040880" y="1143000"/>
            <a:ext cx="292608" cy="292608"/>
          </a:xfrm>
          <a:prstGeom prst="ellipse">
            <a:avLst/>
          </a:prstGeom>
          <a:solidFill>
            <a:srgbClr val="1E3A6B"/>
          </a:solidFill>
          <a:ln w="12700">
            <a:solidFill>
              <a:srgbClr val="1E3A6B"/>
            </a:solidFill>
            <a:prstDash val="solid"/>
          </a:ln>
        </p:spPr>
      </p:sp>
      <p:sp>
        <p:nvSpPr>
          <p:cNvPr id="34" name="stepring"/>
          <p:cNvSpPr/>
          <p:nvPr/>
        </p:nvSpPr>
        <p:spPr>
          <a:xfrm>
            <a:off x="7040880" y="1143000"/>
            <a:ext cx="292608" cy="292608"/>
          </a:xfrm>
          <a:prstGeom prst="ellipse">
            <a:avLst/>
          </a:prstGeom>
          <a:solidFill>
            <a:srgbClr val="2EA995">
              <a:alpha val="0"/>
            </a:srgbClr>
          </a:solidFill>
          <a:ln w="15875">
            <a:solidFill>
              <a:srgbClr val="2EA995"/>
            </a:solidFill>
            <a:prstDash val="solid"/>
          </a:ln>
        </p:spPr>
      </p:sp>
      <p:sp>
        <p:nvSpPr>
          <p:cNvPr id="35" name="Text 29"/>
          <p:cNvSpPr txBox="1"/>
          <p:nvPr/>
        </p:nvSpPr>
        <p:spPr>
          <a:xfrm>
            <a:off x="7040880" y="114300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36" name="Text 30"/>
          <p:cNvSpPr txBox="1"/>
          <p:nvPr/>
        </p:nvSpPr>
        <p:spPr>
          <a:xfrm>
            <a:off x="7040880" y="2148840"/>
            <a:ext cx="1645920" cy="320040"/>
          </a:xfrm>
          <a:prstGeom prst="rect">
            <a:avLst/>
          </a:prstGeom>
          <a:noFill/>
          <a:ln/>
        </p:spPr>
        <p:txBody>
          <a:bodyPr wrap="square" lIns="0" tIns="0" rIns="0" bIns="0" rtlCol="0" anchor="ctr"/>
          <a:lstStyle/>
          <a:p>
            <a:pPr marL="0" indent="0" algn="ctr">
              <a:buNone/>
            </a:pPr>
            <a:r>
              <a:rPr lang="en-US" sz="1320" b="1" dirty="0">
                <a:solidFill>
                  <a:srgbClr val="1E3A6B"/>
                </a:solidFill>
                <a:latin typeface="Calibri" pitchFamily="34" charset="0"/>
                <a:ea typeface="Calibri" pitchFamily="34" charset="-122"/>
                <a:cs typeface="Calibri" pitchFamily="34" charset="-120"/>
              </a:rPr>
              <a:t>See Results</a:t>
            </a:r>
            <a:endParaRPr lang="en-US" sz="1320" dirty="0"/>
          </a:p>
        </p:txBody>
      </p:sp>
      <p:sp>
        <p:nvSpPr>
          <p:cNvPr id="37" name="Text 31"/>
          <p:cNvSpPr txBox="1"/>
          <p:nvPr/>
        </p:nvSpPr>
        <p:spPr>
          <a:xfrm>
            <a:off x="7086600" y="2514600"/>
            <a:ext cx="1554480" cy="914400"/>
          </a:xfrm>
          <a:prstGeom prst="rect">
            <a:avLst/>
          </a:prstGeom>
          <a:noFill/>
          <a:ln/>
        </p:spPr>
        <p:txBody>
          <a:bodyPr wrap="square" lIns="0" tIns="0" rIns="0" bIns="0" rtlCol="0" anchor="t"/>
          <a:lstStyle/>
          <a:p>
            <a:pPr marL="0" indent="0" algn="ctr">
              <a:buNone/>
            </a:pPr>
            <a:r>
              <a:rPr lang="en-US" sz="990" dirty="0">
                <a:solidFill>
                  <a:srgbClr val="3F5278"/>
                </a:solidFill>
                <a:latin typeface="Calibri" pitchFamily="34" charset="0"/>
                <a:ea typeface="Calibri" pitchFamily="34" charset="-122"/>
                <a:cs typeface="Calibri" pitchFamily="34" charset="-120"/>
              </a:rPr>
              <a:t>Damage %, Risk Level, Contribution bars &amp; tip</a:t>
            </a:r>
            <a:endParaRPr lang="en-US" sz="990" dirty="0"/>
          </a:p>
        </p:txBody>
      </p:sp>
      <p:sp>
        <p:nvSpPr>
          <p:cNvPr id="38" name="banner"/>
          <p:cNvSpPr/>
          <p:nvPr/>
        </p:nvSpPr>
        <p:spPr>
          <a:xfrm>
            <a:off x="365760" y="3794760"/>
            <a:ext cx="8412480" cy="457200"/>
          </a:xfrm>
          <a:prstGeom prst="roundRect">
            <a:avLst>
              <a:gd name="adj" fmla="val 16000"/>
            </a:avLst>
          </a:prstGeom>
          <a:solidFill>
            <a:srgbClr val="FFFFFF">
              <a:alpha val="85000"/>
            </a:srgbClr>
          </a:solidFill>
          <a:ln w="12700">
            <a:solidFill>
              <a:srgbClr val="2762A8">
                <a:alpha val="85000"/>
              </a:srgbClr>
            </a:solidFill>
            <a:prstDash val="solid"/>
          </a:ln>
          <a:effectLst>
            <a:outerShdw blurRad="76200" dist="25400" dir="5400000" algn="bl" rotWithShape="0">
              <a:srgbClr val="1E3A6B">
                <a:alpha val="12000"/>
              </a:srgbClr>
            </a:outerShdw>
          </a:effectLst>
        </p:spPr>
      </p:sp>
      <p:sp>
        <p:nvSpPr>
          <p:cNvPr id="39" name="Text 33"/>
          <p:cNvSpPr txBox="1"/>
          <p:nvPr/>
        </p:nvSpPr>
        <p:spPr>
          <a:xfrm>
            <a:off x="548640" y="3794760"/>
            <a:ext cx="8046720" cy="457200"/>
          </a:xfrm>
          <a:prstGeom prst="rect">
            <a:avLst/>
          </a:prstGeom>
          <a:noFill/>
          <a:ln/>
        </p:spPr>
        <p:txBody>
          <a:bodyPr wrap="square" lIns="0" tIns="0" rIns="0" bIns="0" rtlCol="0" anchor="ctr"/>
          <a:lstStyle/>
          <a:p>
            <a:pPr marL="0" indent="0">
              <a:buNone/>
            </a:pPr>
            <a:r>
              <a:rPr lang="en-US" sz="1160" b="1" dirty="0">
                <a:solidFill>
                  <a:srgbClr val="1E3A6B"/>
                </a:solidFill>
                <a:latin typeface="Calibri" pitchFamily="34" charset="0"/>
                <a:ea typeface="Calibri" pitchFamily="34" charset="-122"/>
                <a:cs typeface="Calibri" pitchFamily="34" charset="-120"/>
              </a:rPr>
              <a:t>Tip: show the live demo here. Move the sliders and click Calculate.</a:t>
            </a:r>
            <a:endParaRPr lang="en-US" sz="1160" dirty="0"/>
          </a:p>
        </p:txBody>
      </p:sp>
      <p:sp>
        <p:nvSpPr>
          <p:cNvPr id="40" name="Slide Number Placeholder 0"/>
          <p:cNvSpPr>
            <a:spLocks noGrp="1"/>
          </p:cNvSpPr>
          <p:nvPr>
            <p:ph type="sldNum" sz="quarter" idx="4294967295"/>
          </p:nvPr>
        </p:nvSpPr>
        <p:spPr>
          <a:xfrm>
            <a:off x="8321040" y="4846320"/>
            <a:ext cx="457200" cy="201168"/>
          </a:xfrm>
          <a:prstGeom prst="rect">
            <a:avLst/>
          </a:prstGeom>
          <a:extLst>
            <a:ext uri="{C572A759-6A51-4108-AA02-DFA0A04FC94B}">
              <ma14:wrappingTextBoxFlag xmlns:ma14="http://schemas.microsoft.com/office/mac/drawingml/2011/main" xmlns="" val="0"/>
            </a:ext>
          </a:extLst>
        </p:spPr>
        <p:txBody>
          <a:bodyPr/>
          <a:lstStyle>
            <a:lvl1pPr>
              <a:defRPr sz="800">
                <a:solidFill>
                  <a:srgbClr val="46587D"/>
                </a:solidFill>
                <a:latin typeface="Calibri"/>
                <a:ea typeface="Calibri"/>
                <a:cs typeface="Calibri"/>
              </a:defRPr>
            </a:lvl1pPr>
          </a:lstStyle>
          <a:p>
            <a:pPr algn="r"/>
            <a:fld id="{F7021451-1387-4CA6-816F-3879F97B5CBC}" type="slidenum">
              <a:rPr lang="en-US" b="0"/>
              <a:pPr algn="r"/>
              <a:t>13</a:t>
            </a:fld>
            <a:endParaRPr lang="en-US"/>
          </a:p>
        </p:txBody>
      </p:sp>
    </p:spTree>
  </p:cSld>
  <p:clrMapOvr>
    <a:masterClrMapping/>
  </p:clrMapOvr>
  <p:transition spd="med">
    <p:split orient="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hart"/>
          <p:cNvPicPr>
            <a:picLocks noChangeAspect="1"/>
          </p:cNvPicPr>
          <p:nvPr/>
        </p:nvPicPr>
        <p:blipFill>
          <a:blip r:embed="rId3"/>
          <a:stretch>
            <a:fillRect/>
          </a:stretch>
        </p:blipFill>
        <p:spPr>
          <a:xfrm>
            <a:off x="731520" y="1234440"/>
            <a:ext cx="365760" cy="365760"/>
          </a:xfrm>
          <a:prstGeom prst="rect">
            <a:avLst/>
          </a:prstGeom>
        </p:spPr>
      </p:pic>
      <p:sp>
        <p:nvSpPr>
          <p:cNvPr id="3" name="Text 0"/>
          <p:cNvSpPr txBox="1"/>
          <p:nvPr/>
        </p:nvSpPr>
        <p:spPr>
          <a:xfrm>
            <a:off x="731520" y="1737360"/>
            <a:ext cx="7315200" cy="822960"/>
          </a:xfrm>
          <a:prstGeom prst="rect">
            <a:avLst/>
          </a:prstGeom>
          <a:noFill/>
          <a:ln/>
        </p:spPr>
        <p:txBody>
          <a:bodyPr wrap="square" lIns="0" tIns="0" rIns="0" bIns="0" rtlCol="0" anchor="ctr"/>
          <a:lstStyle/>
          <a:p>
            <a:pPr marL="0" indent="0">
              <a:buNone/>
            </a:pPr>
            <a:r>
              <a:rPr lang="en-US" sz="4400" b="1" dirty="0">
                <a:solidFill>
                  <a:srgbClr val="2EC4A8"/>
                </a:solidFill>
                <a:latin typeface="Calibri" pitchFamily="34" charset="0"/>
                <a:ea typeface="Calibri" pitchFamily="34" charset="-122"/>
                <a:cs typeface="Calibri" pitchFamily="34" charset="-120"/>
              </a:rPr>
              <a:t>THANK YOU</a:t>
            </a:r>
            <a:endParaRPr lang="en-US" sz="4400" dirty="0"/>
          </a:p>
        </p:txBody>
      </p:sp>
      <p:sp>
        <p:nvSpPr>
          <p:cNvPr id="4" name="Text 1"/>
          <p:cNvSpPr txBox="1"/>
          <p:nvPr/>
        </p:nvSpPr>
        <p:spPr>
          <a:xfrm>
            <a:off x="731520" y="2606040"/>
            <a:ext cx="7315200" cy="457200"/>
          </a:xfrm>
          <a:prstGeom prst="rect">
            <a:avLst/>
          </a:prstGeom>
          <a:noFill/>
          <a:ln/>
        </p:spPr>
        <p:txBody>
          <a:bodyPr wrap="square" lIns="0" tIns="0" rIns="0" bIns="0" rtlCol="0" anchor="ctr"/>
          <a:lstStyle/>
          <a:p>
            <a:pPr marL="0" indent="0">
              <a:buNone/>
            </a:pPr>
            <a:r>
              <a:rPr lang="en-US" sz="1980" dirty="0">
                <a:solidFill>
                  <a:srgbClr val="FFFFFF"/>
                </a:solidFill>
                <a:latin typeface="Calibri" pitchFamily="34" charset="0"/>
                <a:ea typeface="Calibri" pitchFamily="34" charset="-122"/>
                <a:cs typeface="Calibri" pitchFamily="34" charset="-120"/>
              </a:rPr>
              <a:t>Any questions?</a:t>
            </a:r>
            <a:endParaRPr lang="en-US" sz="1980" dirty="0"/>
          </a:p>
        </p:txBody>
      </p:sp>
      <p:sp>
        <p:nvSpPr>
          <p:cNvPr id="5" name="Text 2"/>
          <p:cNvSpPr txBox="1"/>
          <p:nvPr/>
        </p:nvSpPr>
        <p:spPr>
          <a:xfrm>
            <a:off x="731520" y="3154680"/>
            <a:ext cx="7772400" cy="365760"/>
          </a:xfrm>
          <a:prstGeom prst="rect">
            <a:avLst/>
          </a:prstGeom>
          <a:noFill/>
          <a:ln/>
        </p:spPr>
        <p:txBody>
          <a:bodyPr wrap="square" lIns="0" tIns="0" rIns="0" bIns="0" rtlCol="0" anchor="ctr"/>
          <a:lstStyle/>
          <a:p>
            <a:pPr marL="0" indent="0">
              <a:buNone/>
            </a:pPr>
            <a:r>
              <a:rPr lang="en-US" sz="1270" dirty="0">
                <a:solidFill>
                  <a:srgbClr val="8FB8F0"/>
                </a:solidFill>
                <a:latin typeface="Calibri" pitchFamily="34" charset="0"/>
                <a:ea typeface="Calibri" pitchFamily="34" charset="-122"/>
                <a:cs typeface="Calibri" pitchFamily="34" charset="-120"/>
              </a:rPr>
              <a:t>Indian Street Food Body Damage Predictor using Linear Regression</a:t>
            </a:r>
            <a:endParaRPr lang="en-US" sz="1270" dirty="0"/>
          </a:p>
        </p:txBody>
      </p:sp>
      <p:sp>
        <p:nvSpPr>
          <p:cNvPr id="6" name="Text 3"/>
          <p:cNvSpPr txBox="1"/>
          <p:nvPr/>
        </p:nvSpPr>
        <p:spPr>
          <a:xfrm>
            <a:off x="731520" y="4343400"/>
            <a:ext cx="5486400" cy="274320"/>
          </a:xfrm>
          <a:prstGeom prst="rect">
            <a:avLst/>
          </a:prstGeom>
          <a:noFill/>
          <a:ln/>
        </p:spPr>
        <p:txBody>
          <a:bodyPr wrap="square" lIns="0" tIns="0" rIns="0" bIns="0" rtlCol="0" anchor="ctr"/>
          <a:lstStyle/>
          <a:p>
            <a:pPr marL="0" indent="0">
              <a:buNone/>
            </a:pPr>
            <a:r>
              <a:rPr lang="en-US" sz="1100" dirty="0">
                <a:solidFill>
                  <a:srgbClr val="B5C8E6"/>
                </a:solidFill>
                <a:latin typeface="Calibri" pitchFamily="34" charset="0"/>
                <a:ea typeface="Calibri" pitchFamily="34" charset="-122"/>
                <a:cs typeface="Calibri" pitchFamily="34" charset="-120"/>
              </a:rPr>
              <a:t>Abhay Singh   |   Infopark Institute</a:t>
            </a:r>
            <a:endParaRPr lang="en-US" sz="1100" dirty="0"/>
          </a:p>
        </p:txBody>
      </p:sp>
    </p:spTree>
  </p:cSld>
  <p:clrMapOvr>
    <a:masterClrMapping/>
  </p:clrMapOvr>
  <p:transition spd="med">
    <p:split orient="vert"/>
  </p:transition>
  <p:timing>
    <p:tnLst>
      <p:par>
        <p:cTn id="1" dur="indefinite" restart="never" nodeType="tmRoot"/>
      </p:par>
    </p:tnLst>
  </p:timing>
</p:sld>
</file>

<file path=ppt/theme/theme1.xml><?xml version="1.0" encoding="utf-8"?>
<a:theme xmlns:a="http://schemas.openxmlformats.org/drawingml/2006/main" name="CleanPastel">
  <a:themeElements>
    <a:clrScheme name="CleanPastel">
      <a:dk1>
        <a:srgbClr val="1E3A6B"/>
      </a:dk1>
      <a:lt1>
        <a:srgbClr val="FFFFFF"/>
      </a:lt1>
      <a:dk2>
        <a:srgbClr val="3F5278"/>
      </a:dk2>
      <a:lt2>
        <a:srgbClr val="E6F6F2"/>
      </a:lt2>
      <a:accent1>
        <a:srgbClr val="2762A8"/>
      </a:accent1>
      <a:accent2>
        <a:srgbClr val="2EA995"/>
      </a:accent2>
      <a:accent3>
        <a:srgbClr val="7B6BD6"/>
      </a:accent3>
      <a:accent4>
        <a:srgbClr val="E76F51"/>
      </a:accent4>
      <a:accent5>
        <a:srgbClr val="FCEBC0"/>
      </a:accent5>
      <a:accent6>
        <a:srgbClr val="14264B"/>
      </a:accent6>
      <a:hlink>
        <a:srgbClr val="2762A8"/>
      </a:hlink>
      <a:folHlink>
        <a:srgbClr val="7B6BD6"/>
      </a:folHlink>
    </a:clrScheme>
    <a:fontScheme name="CleanPaste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1882</Words>
  <Application>Microsoft Office PowerPoint</Application>
  <PresentationFormat>On-screen Show (16:9)</PresentationFormat>
  <Paragraphs>257</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CleanPastel</vt:lpstr>
      <vt:lpstr>Slide 1</vt:lpstr>
      <vt:lpstr>Problem Statement</vt:lpstr>
      <vt:lpstr>What is the Project?</vt:lpstr>
      <vt:lpstr>What Junk Food Does to Your Body</vt:lpstr>
      <vt:lpstr>What's Inside? Harmful Ingredients</vt:lpstr>
      <vt:lpstr>Food Examples: What Makes Them Risky</vt:lpstr>
      <vt:lpstr>Technology Used</vt:lpstr>
      <vt:lpstr>Project Roadmap — 3 Phases</vt:lpstr>
      <vt:lpstr>Features &amp; Target</vt:lpstr>
      <vt:lpstr>How the Model Works</vt:lpstr>
      <vt:lpstr>Model Evaluation: How Good Is the Model?</vt:lpstr>
      <vt:lpstr>Model Performance</vt:lpstr>
      <vt:lpstr>How the App Works (User Flow)</vt:lpstr>
      <vt:lpstr>Slide 14</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 Street Food Body Damage Predictor</dc:title>
  <dc:subject>PptxGenJS Presentation</dc:subject>
  <dc:creator>Abhay Singh</dc:creator>
  <cp:lastModifiedBy>DELL</cp:lastModifiedBy>
  <cp:revision>4</cp:revision>
  <dcterms:created xsi:type="dcterms:W3CDTF">2026-10-19T07:39:43Z</dcterms:created>
  <dcterms:modified xsi:type="dcterms:W3CDTF">2026-10-19T15:06:29Z</dcterms:modified>
</cp:coreProperties>
</file>